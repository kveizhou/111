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 type="custom"/>
  <p:notesSz cx="12192000" cy="685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e-1"/>
          <p:cNvSpPr/>
          <p:nvPr>
            <p:extLst>
              <p:ext uri="{F5677B7D-0D2A-4D9B-9A5C-6D8D7D0E5A5D}">
                <pptd:line encoding="base64url">eyJ2aWV3Qm94IjpbMzE2LDkwXSwicG9pbnRzIjoiMCw5MCAxMzAsOTAgMTMwLDI1IDMxNiwyNSIsImN1cnZlIjoic2hhcnAifQ</pptd:line>
              </p:ext>
            </p:extLst>
          </p:nvPr>
        </p:nvSpPr>
        <p:spPr>
          <a:xfrm>
            <a:off x="7366000" y="1219200"/>
            <a:ext cx="4013200" cy="1143000"/>
          </a:xfrm>
          <a:custGeom>
            <a:avLst/>
            <a:gdLst/>
            <a:ahLst/>
            <a:cxnLst/>
            <a:rect l="l" t="t" r="r" b="b"/>
            <a:pathLst>
              <a:path w="316" h="90">
                <a:moveTo>
                  <a:pt x="0" y="90"/>
                </a:moveTo>
                <a:lnTo>
                  <a:pt x="130" y="90"/>
                </a:lnTo>
                <a:lnTo>
                  <a:pt x="130" y="25"/>
                </a:lnTo>
                <a:lnTo>
                  <a:pt x="316" y="25"/>
                </a:lnTo>
              </a:path>
            </a:pathLst>
          </a:custGeom>
          <a:noFill/>
          <a:ln w="15240">
            <a:solidFill>
              <a:srgbClr val="FFFFFF">
                <a:alpha val="12157"/>
              </a:srgbClr>
            </a:solidFill>
          </a:ln>
        </p:spPr>
      </p:sp>
      <p:sp>
        <p:nvSpPr>
          <p:cNvPr id="3" name="trace-2"/>
          <p:cNvSpPr/>
          <p:nvPr>
            <p:extLst>
              <p:ext uri="{F5677B7D-0D2A-4D9B-9A5C-6D8D7D0E5A5D}">
                <pptd:line encoding="base64url">eyJ2aWV3Qm94IjpbMjc2LDcwXSwicG9pbnRzIjoiMCwxNSAxMDAsMTUgMTAwLDU1IDI3Niw1NSIsImN1cnZlIjoic2hhcnAifQ</pptd:line>
              </p:ext>
            </p:extLst>
          </p:nvPr>
        </p:nvSpPr>
        <p:spPr>
          <a:xfrm>
            <a:off x="7874000" y="3175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trace-3"/>
          <p:cNvSpPr/>
          <p:nvPr>
            <p:extLst>
              <p:ext uri="{F5677B7D-0D2A-4D9B-9A5C-6D8D7D0E5A5D}">
                <pptd:line encoding="base64url">eyJ2aWV3Qm94IjpbMzU2LDYwXSwicG9pbnRzIjoiMCw1MCAxNzAsNTAgMTcwLDEwIDM1NiwxMCIsImN1cnZlIjoic2hhcnAifQ</pptd:line>
              </p:ext>
            </p:extLst>
          </p:nvPr>
        </p:nvSpPr>
        <p:spPr>
          <a:xfrm>
            <a:off x="6858000" y="4826000"/>
            <a:ext cx="4521200" cy="762000"/>
          </a:xfrm>
          <a:custGeom>
            <a:avLst/>
            <a:gdLst/>
            <a:ahLst/>
            <a:cxnLst/>
            <a:rect l="l" t="t" r="r" b="b"/>
            <a:pathLst>
              <a:path w="356" h="60">
                <a:moveTo>
                  <a:pt x="0" y="50"/>
                </a:moveTo>
                <a:lnTo>
                  <a:pt x="170" y="50"/>
                </a:lnTo>
                <a:lnTo>
                  <a:pt x="170" y="10"/>
                </a:lnTo>
                <a:lnTo>
                  <a:pt x="356" y="10"/>
                </a:lnTo>
              </a:path>
            </a:pathLst>
          </a:custGeom>
          <a:noFill/>
          <a:ln w="15240">
            <a:solidFill>
              <a:srgbClr val="FFFFFF">
                <a:alpha val="7059"/>
              </a:srgbClr>
            </a:solidFill>
          </a:ln>
        </p:spPr>
      </p:sp>
      <p:sp>
        <p:nvSpPr>
          <p:cNvPr id="5" name="pad-1a"/>
          <p:cNvSpPr/>
          <p:nvPr/>
        </p:nvSpPr>
        <p:spPr>
          <a:xfrm>
            <a:off x="7321550" y="2317750"/>
            <a:ext cx="88900" cy="88900"/>
          </a:xfrm>
          <a:prstGeom prst="ellipse">
            <a:avLst/>
          </a:prstGeom>
          <a:solidFill>
            <a:srgbClr val="CC8354">
              <a:alpha val="40000"/>
            </a:srgbClr>
          </a:solidFill>
          <a:ln>
            <a:noFill/>
          </a:ln>
        </p:spPr>
      </p:sp>
      <p:sp>
        <p:nvSpPr>
          <p:cNvPr id="6" name="pad-1b"/>
          <p:cNvSpPr/>
          <p:nvPr/>
        </p:nvSpPr>
        <p:spPr>
          <a:xfrm>
            <a:off x="11334750" y="14922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7" name="pad-2a"/>
          <p:cNvSpPr/>
          <p:nvPr/>
        </p:nvSpPr>
        <p:spPr>
          <a:xfrm>
            <a:off x="7829550" y="3321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8" name="pad-2b"/>
          <p:cNvSpPr/>
          <p:nvPr/>
        </p:nvSpPr>
        <p:spPr>
          <a:xfrm>
            <a:off x="11334750" y="3829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9" name="pad-3a"/>
          <p:cNvSpPr/>
          <p:nvPr/>
        </p:nvSpPr>
        <p:spPr>
          <a:xfrm>
            <a:off x="6813550" y="54165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10" name="pad-3b"/>
          <p:cNvSpPr/>
          <p:nvPr/>
        </p:nvSpPr>
        <p:spPr>
          <a:xfrm>
            <a:off x="11334750" y="49085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11" name="kicker"/>
          <p:cNvSpPr txBox="1"/>
          <p:nvPr/>
        </p:nvSpPr>
        <p:spPr>
          <a:xfrm>
            <a:off x="812800" y="11176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50" noProof="1" b="1" spc="300" kern="0">
                <a:solidFill>
                  <a:srgbClr val="CC8354"/>
                </a:solidFill>
                <a:latin typeface="JetBrains Mono"/>
                <a:ea typeface="MiSans"/>
              </a:rPr>
              <a:t>物理设计工具部 · 新员工试用期</a:t>
            </a:r>
            <a:endParaRPr lang="en-US" sz="1150" noProof="1"/>
          </a:p>
        </p:txBody>
      </p:sp>
      <p:sp>
        <p:nvSpPr>
          <p:cNvPr id="12" name="title"/>
          <p:cNvSpPr txBox="1"/>
          <p:nvPr/>
        </p:nvSpPr>
        <p:spPr>
          <a:xfrm>
            <a:off x="787400" y="1524000"/>
            <a:ext cx="9906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4200" noProof="1" b="1">
                <a:solidFill>
                  <a:srgbClr val="F2EFE6"/>
                </a:solidFill>
                <a:latin typeface="思源宋体"/>
                <a:ea typeface="思源宋体"/>
              </a:rPr>
              <a:t>新员工中期答辩</a:t>
            </a:r>
            <a:endParaRPr lang="en-US" sz="4200" noProof="1"/>
          </a:p>
        </p:txBody>
      </p:sp>
      <p:sp>
        <p:nvSpPr>
          <p:cNvPr id="13" name="theme-line"/>
          <p:cNvSpPr txBox="1"/>
          <p:nvPr/>
        </p:nvSpPr>
        <p:spPr>
          <a:xfrm>
            <a:off x="812800" y="24638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500" noProof="1">
                <a:solidFill>
                  <a:srgbClr val="B9C2D4"/>
                </a:solidFill>
                <a:latin typeface="MiSans"/>
                <a:ea typeface="MiSans"/>
              </a:rPr>
              <a:t>从融入团队，到独立承接 LDO 结构变换需求</a:t>
            </a:r>
            <a:endParaRPr lang="en-US" sz="1500" noProof="1"/>
          </a:p>
        </p:txBody>
      </p:sp>
      <p:sp>
        <p:nvSpPr>
          <p:cNvPr id="14" name="rule"/>
          <p:cNvSpPr/>
          <p:nvPr/>
        </p:nvSpPr>
        <p:spPr>
          <a:xfrm>
            <a:off x="812800" y="30226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15" name="info"/>
          <p:cNvSpPr txBox="1"/>
          <p:nvPr/>
        </p:nvSpPr>
        <p:spPr>
          <a:xfrm>
            <a:off x="812800" y="3784600"/>
            <a:ext cx="5969000" cy="167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210000"/>
              </a:lnSpc>
            </a:pPr>
            <a:r>
              <a:rPr lang="en-US" sz="1250" noProof="1">
                <a:solidFill>
                  <a:srgbClr val="8E97AC"/>
                </a:solidFill>
                <a:latin typeface="MiSans"/>
                <a:ea typeface="MiSans"/>
              </a:rPr>
              <a:t>汇报人　</a:t>
            </a:r>
            <a:r>
              <a:rPr lang="en-US" sz="1250" noProof="1">
                <a:solidFill>
                  <a:srgbClr val="E8E4DA"/>
                </a:solidFill>
                <a:latin typeface="MiSans"/>
                <a:ea typeface="MiSans"/>
              </a:rPr>
              <a:t>周可玮 · 00981589</a:t>
            </a:r>
            <a:endParaRPr lang="en-US" sz="1250" noProof="1"/>
          </a:p>
          <a:p>
            <a:pPr algn="l">
              <a:lnSpc>
                <a:spcPct val="210000"/>
              </a:lnSpc>
            </a:pPr>
            <a:r>
              <a:rPr lang="en-US" sz="1250" noProof="1">
                <a:solidFill>
                  <a:srgbClr val="8E97AC"/>
                </a:solidFill>
                <a:latin typeface="MiSans"/>
                <a:ea typeface="MiSans"/>
              </a:rPr>
              <a:t>导　师　</a:t>
            </a:r>
            <a:r>
              <a:rPr lang="en-US" sz="1250" noProof="1">
                <a:solidFill>
                  <a:srgbClr val="E8E4DA"/>
                </a:solidFill>
                <a:latin typeface="MiSans"/>
                <a:ea typeface="MiSans"/>
              </a:rPr>
              <a:t>路家林</a:t>
            </a:r>
            <a:endParaRPr lang="en-US" sz="1250" noProof="1"/>
          </a:p>
          <a:p>
            <a:pPr algn="l">
              <a:lnSpc>
                <a:spcPct val="210000"/>
              </a:lnSpc>
            </a:pPr>
            <a:r>
              <a:rPr lang="en-US" sz="1250" noProof="1">
                <a:solidFill>
                  <a:srgbClr val="8E97AC"/>
                </a:solidFill>
                <a:latin typeface="MiSans"/>
                <a:ea typeface="MiSans"/>
              </a:rPr>
              <a:t>直接主管　</a:t>
            </a:r>
            <a:r>
              <a:rPr lang="en-US" sz="1250" noProof="1">
                <a:solidFill>
                  <a:srgbClr val="E8E4DA"/>
                </a:solidFill>
                <a:latin typeface="MiSans"/>
                <a:ea typeface="MiSans"/>
              </a:rPr>
              <a:t>张子昌</a:t>
            </a:r>
            <a:endParaRPr lang="en-US" sz="1250" noProof="1"/>
          </a:p>
          <a:p>
            <a:pPr algn="l">
              <a:lnSpc>
                <a:spcPct val="210000"/>
              </a:lnSpc>
            </a:pPr>
            <a:r>
              <a:rPr lang="en-US" sz="1250" noProof="1">
                <a:solidFill>
                  <a:srgbClr val="8E97AC"/>
                </a:solidFill>
                <a:latin typeface="MiSans"/>
                <a:ea typeface="MiSans"/>
              </a:rPr>
              <a:t>汇报周期　</a:t>
            </a:r>
            <a:r>
              <a:rPr lang="en-US" sz="1250" noProof="1">
                <a:solidFill>
                  <a:srgbClr val="E8E4DA"/>
                </a:solidFill>
                <a:latin typeface="MiSans"/>
                <a:ea typeface="MiSans"/>
              </a:rPr>
              <a:t>2026.07.27 – 2026.10.10（第 1–10 周）</a:t>
            </a:r>
            <a:endParaRPr lang="en-US" sz="1250" noProof="1"/>
          </a:p>
        </p:txBody>
      </p:sp>
      <p:sp>
        <p:nvSpPr>
          <p:cNvPr id="16" name="date"/>
          <p:cNvSpPr txBox="1"/>
          <p:nvPr/>
        </p:nvSpPr>
        <p:spPr>
          <a:xfrm>
            <a:off x="10109200" y="60960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E97AC"/>
                </a:solidFill>
                <a:latin typeface="JetBrains Mono"/>
                <a:ea typeface="JetBrains Mono"/>
              </a:rPr>
              <a:t>2026.10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CONTENTS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36600"/>
            <a:ext cx="381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目录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3462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toc-num-1"/>
          <p:cNvSpPr txBox="1"/>
          <p:nvPr/>
        </p:nvSpPr>
        <p:spPr>
          <a:xfrm>
            <a:off x="812800" y="1930400"/>
            <a:ext cx="71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B4632C"/>
                </a:solidFill>
                <a:latin typeface="思源宋体"/>
                <a:ea typeface="思源宋体"/>
              </a:rPr>
              <a:t>01</a:t>
            </a:r>
            <a:endParaRPr lang="en-US" sz="2600" noProof="1"/>
          </a:p>
        </p:txBody>
      </p:sp>
      <p:sp>
        <p:nvSpPr>
          <p:cNvPr id="6" name="toc-title-1"/>
          <p:cNvSpPr txBox="1"/>
          <p:nvPr/>
        </p:nvSpPr>
        <p:spPr>
          <a:xfrm>
            <a:off x="1676400" y="19685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700" noProof="1" b="1">
                <a:solidFill>
                  <a:srgbClr val="1B2A4A"/>
                </a:solidFill>
                <a:latin typeface="MiSans"/>
                <a:ea typeface="MiSans"/>
              </a:rPr>
              <a:t>岗位认识与试用期目标</a:t>
            </a:r>
            <a:endParaRPr lang="en-US" sz="1700" noProof="1"/>
          </a:p>
        </p:txBody>
      </p:sp>
      <p:sp>
        <p:nvSpPr>
          <p:cNvPr id="7" name="toc-desc-1"/>
          <p:cNvSpPr txBox="1"/>
          <p:nvPr/>
        </p:nvSpPr>
        <p:spPr>
          <a:xfrm>
            <a:off x="1676400" y="23622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部门业务与岗位方向 · 转正必备项 · 十周工作总览</a:t>
            </a:r>
            <a:endParaRPr lang="en-US" sz="1150" noProof="1"/>
          </a:p>
        </p:txBody>
      </p:sp>
      <p:sp>
        <p:nvSpPr>
          <p:cNvPr id="8" name="toc-line-1"/>
          <p:cNvSpPr/>
          <p:nvPr/>
        </p:nvSpPr>
        <p:spPr>
          <a:xfrm>
            <a:off x="1676400" y="2870200"/>
            <a:ext cx="59690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9" name="toc-num-2"/>
          <p:cNvSpPr txBox="1"/>
          <p:nvPr/>
        </p:nvSpPr>
        <p:spPr>
          <a:xfrm>
            <a:off x="812800" y="3175000"/>
            <a:ext cx="71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B4632C"/>
                </a:solidFill>
                <a:latin typeface="思源宋体"/>
                <a:ea typeface="思源宋体"/>
              </a:rPr>
              <a:t>02</a:t>
            </a:r>
            <a:endParaRPr lang="en-US" sz="2600" noProof="1"/>
          </a:p>
        </p:txBody>
      </p:sp>
      <p:sp>
        <p:nvSpPr>
          <p:cNvPr id="10" name="toc-title-2"/>
          <p:cNvSpPr txBox="1"/>
          <p:nvPr/>
        </p:nvSpPr>
        <p:spPr>
          <a:xfrm>
            <a:off x="1676400" y="32131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700" noProof="1" b="1">
                <a:solidFill>
                  <a:srgbClr val="1B2A4A"/>
                </a:solidFill>
                <a:latin typeface="MiSans"/>
                <a:ea typeface="MiSans"/>
              </a:rPr>
              <a:t>重点工作成果</a:t>
            </a:r>
            <a:endParaRPr lang="en-US" sz="1700" noProof="1"/>
          </a:p>
        </p:txBody>
      </p:sp>
      <p:sp>
        <p:nvSpPr>
          <p:cNvPr id="11" name="toc-desc-2"/>
          <p:cNvSpPr txBox="1"/>
          <p:nvPr/>
        </p:nvSpPr>
        <p:spPr>
          <a:xfrm>
            <a:off x="1676400" y="36068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培训与认证 · DTS 问题单实战 · LDO 结构变换需求开发</a:t>
            </a:r>
            <a:endParaRPr lang="en-US" sz="1150" noProof="1"/>
          </a:p>
        </p:txBody>
      </p:sp>
      <p:sp>
        <p:nvSpPr>
          <p:cNvPr id="12" name="toc-line-2"/>
          <p:cNvSpPr/>
          <p:nvPr/>
        </p:nvSpPr>
        <p:spPr>
          <a:xfrm>
            <a:off x="1676400" y="4114800"/>
            <a:ext cx="59690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3" name="toc-num-3"/>
          <p:cNvSpPr txBox="1"/>
          <p:nvPr/>
        </p:nvSpPr>
        <p:spPr>
          <a:xfrm>
            <a:off x="812800" y="4419600"/>
            <a:ext cx="71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B4632C"/>
                </a:solidFill>
                <a:latin typeface="思源宋体"/>
                <a:ea typeface="思源宋体"/>
              </a:rPr>
              <a:t>03</a:t>
            </a:r>
            <a:endParaRPr lang="en-US" sz="2600" noProof="1"/>
          </a:p>
        </p:txBody>
      </p:sp>
      <p:sp>
        <p:nvSpPr>
          <p:cNvPr id="14" name="toc-title-3"/>
          <p:cNvSpPr txBox="1"/>
          <p:nvPr/>
        </p:nvSpPr>
        <p:spPr>
          <a:xfrm>
            <a:off x="1676400" y="44577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700" noProof="1" b="1">
                <a:solidFill>
                  <a:srgbClr val="1B2A4A"/>
                </a:solidFill>
                <a:latin typeface="MiSans"/>
                <a:ea typeface="MiSans"/>
              </a:rPr>
              <a:t>成长、不足与规划</a:t>
            </a:r>
            <a:endParaRPr lang="en-US" sz="1700" noProof="1"/>
          </a:p>
        </p:txBody>
      </p:sp>
      <p:sp>
        <p:nvSpPr>
          <p:cNvPr id="15" name="toc-desc-3"/>
          <p:cNvSpPr txBox="1"/>
          <p:nvPr/>
        </p:nvSpPr>
        <p:spPr>
          <a:xfrm>
            <a:off x="1676400" y="48514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方法沉淀 · 能力短板 · 转正前计划</a:t>
            </a:r>
            <a:endParaRPr lang="en-US" sz="1150" noProof="1"/>
          </a:p>
        </p:txBody>
      </p:sp>
      <p:sp>
        <p:nvSpPr>
          <p:cNvPr id="16" name="toc-line-3"/>
          <p:cNvSpPr/>
          <p:nvPr/>
        </p:nvSpPr>
        <p:spPr>
          <a:xfrm>
            <a:off x="1676400" y="5359400"/>
            <a:ext cx="59690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7" name="info-top-rule"/>
          <p:cNvSpPr/>
          <p:nvPr/>
        </p:nvSpPr>
        <p:spPr>
          <a:xfrm>
            <a:off x="8255000" y="1879600"/>
            <a:ext cx="3124200" cy="25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8" name="info-header"/>
          <p:cNvSpPr txBox="1"/>
          <p:nvPr/>
        </p:nvSpPr>
        <p:spPr>
          <a:xfrm>
            <a:off x="8255000" y="2057400"/>
            <a:ext cx="31242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1B2A4A"/>
                </a:solidFill>
                <a:latin typeface="MiSans"/>
                <a:ea typeface="MiSans"/>
              </a:rPr>
              <a:t>汇报信息</a:t>
            </a:r>
            <a:endParaRPr lang="en-US" sz="1200" noProof="1"/>
          </a:p>
        </p:txBody>
      </p:sp>
      <p:sp>
        <p:nvSpPr>
          <p:cNvPr id="19" name="info-body"/>
          <p:cNvSpPr txBox="1"/>
          <p:nvPr/>
        </p:nvSpPr>
        <p:spPr>
          <a:xfrm>
            <a:off x="8255000" y="2463800"/>
            <a:ext cx="31242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汇报人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周可玮</a:t>
            </a:r>
            <a:endParaRPr lang="en-US" sz="1150" noProof="1"/>
          </a:p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导　师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路家林</a:t>
            </a:r>
            <a:endParaRPr lang="en-US" sz="1150" noProof="1"/>
          </a:p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直接主管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张子昌</a:t>
            </a:r>
            <a:endParaRPr lang="en-US" sz="1150" noProof="1"/>
          </a:p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部　门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物理设计工具部</a:t>
            </a:r>
            <a:endParaRPr lang="en-US" sz="1150" noProof="1"/>
          </a:p>
          <a:p>
            <a:pPr algn="l">
              <a:lnSpc>
                <a:spcPct val="215000"/>
              </a:lnSpc>
            </a:pPr>
            <a:r>
              <a:rPr lang="en-US" sz="1150" noProof="1">
                <a:solidFill>
                  <a:srgbClr val="7C8490"/>
                </a:solidFill>
                <a:latin typeface="MiSans"/>
                <a:ea typeface="MiSans"/>
              </a:rPr>
              <a:t>汇报周期　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2026.07.27 – 10.10</a:t>
            </a:r>
            <a:endParaRPr lang="en-US" sz="1150" noProof="1"/>
          </a:p>
        </p:txBody>
      </p:sp>
      <p:sp>
        <p:nvSpPr>
          <p:cNvPr id="20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21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02 / 14</a:t>
            </a:r>
            <a:endParaRPr lang="en-US" sz="95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host-num"/>
          <p:cNvSpPr txBox="1"/>
          <p:nvPr/>
        </p:nvSpPr>
        <p:spPr>
          <a:xfrm>
            <a:off x="7112000" y="381000"/>
            <a:ext cx="43180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5000" noProof="1" b="1">
                <a:solidFill>
                  <a:srgbClr val="FFFFFF">
                    <a:alpha val="4706"/>
                  </a:srgbClr>
                </a:solidFill>
                <a:latin typeface="思源宋体"/>
                <a:ea typeface="思源宋体"/>
              </a:rPr>
              <a:t>01</a:t>
            </a:r>
            <a:endParaRPr lang="en-US" sz="15000" noProof="1"/>
          </a:p>
        </p:txBody>
      </p:sp>
      <p:sp>
        <p:nvSpPr>
          <p:cNvPr id="3" name="trace"/>
          <p:cNvSpPr/>
          <p:nvPr>
            <p:extLst>
              <p:ext uri="{F5677B7D-0D2A-4D9B-9A5C-6D8D7D0E5A5D}">
                <pptd:line encoding="base64url">eyJ2aWV3Qm94IjpbMjc2LDcwXSwicG9pbnRzIjoiMCwxNSAxMDAsMTUgMTAwLDU1IDI3Niw1NSIsImN1cnZlIjoic2hhcnAifQ</pptd:line>
              </p:ext>
            </p:extLst>
          </p:nvPr>
        </p:nvSpPr>
        <p:spPr>
          <a:xfrm>
            <a:off x="7874000" y="4572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pad-a"/>
          <p:cNvSpPr/>
          <p:nvPr/>
        </p:nvSpPr>
        <p:spPr>
          <a:xfrm>
            <a:off x="7829550" y="4718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5" name="pad-b"/>
          <p:cNvSpPr/>
          <p:nvPr/>
        </p:nvSpPr>
        <p:spPr>
          <a:xfrm>
            <a:off x="11334750" y="5226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6" name="kicker"/>
          <p:cNvSpPr txBox="1"/>
          <p:nvPr/>
        </p:nvSpPr>
        <p:spPr>
          <a:xfrm>
            <a:off x="812800" y="2006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300" kern="0">
                <a:solidFill>
                  <a:srgbClr val="CC8354"/>
                </a:solidFill>
                <a:latin typeface="JetBrains Mono"/>
                <a:ea typeface="MiSans"/>
              </a:rPr>
              <a:t>SECTION 01</a:t>
            </a:r>
            <a:endParaRPr lang="en-US" sz="1100" noProof="1"/>
          </a:p>
        </p:txBody>
      </p:sp>
      <p:sp>
        <p:nvSpPr>
          <p:cNvPr id="7" name="title"/>
          <p:cNvSpPr txBox="1"/>
          <p:nvPr/>
        </p:nvSpPr>
        <p:spPr>
          <a:xfrm>
            <a:off x="812800" y="2336800"/>
            <a:ext cx="8128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3300" noProof="1" b="1">
                <a:solidFill>
                  <a:srgbClr val="F2EFE6"/>
                </a:solidFill>
                <a:latin typeface="思源宋体"/>
                <a:ea typeface="思源宋体"/>
              </a:rPr>
              <a:t>岗位认识与试用期目标</a:t>
            </a:r>
            <a:endParaRPr lang="en-US" sz="3300" noProof="1"/>
          </a:p>
        </p:txBody>
      </p:sp>
      <p:sp>
        <p:nvSpPr>
          <p:cNvPr id="8" name="rule"/>
          <p:cNvSpPr/>
          <p:nvPr/>
        </p:nvSpPr>
        <p:spPr>
          <a:xfrm>
            <a:off x="812800" y="31242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9" name="list"/>
          <p:cNvSpPr txBox="1"/>
          <p:nvPr/>
        </p:nvSpPr>
        <p:spPr>
          <a:xfrm>
            <a:off x="812800" y="34798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>
                <a:solidFill>
                  <a:srgbClr val="B9C2D4"/>
                </a:solidFill>
                <a:latin typeface="MiSans"/>
                <a:ea typeface="MiSans"/>
              </a:rPr>
              <a:t>部门业务与岗位方向　·　转正必备项　·　十周工作总览</a:t>
            </a:r>
            <a:endParaRPr lang="en-US" sz="125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01 · 岗位与目标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岗位定位与试用期培养目标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left-bar-1"/>
          <p:cNvSpPr/>
          <p:nvPr/>
        </p:nvSpPr>
        <p:spPr>
          <a:xfrm>
            <a:off x="812800" y="1638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6" name="left-h2-1"/>
          <p:cNvSpPr txBox="1"/>
          <p:nvPr/>
        </p:nvSpPr>
        <p:spPr>
          <a:xfrm>
            <a:off x="990600" y="16002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部门与业务</a:t>
            </a:r>
            <a:endParaRPr lang="en-US" sz="1400" noProof="1"/>
          </a:p>
        </p:txBody>
      </p:sp>
      <p:sp>
        <p:nvSpPr>
          <p:cNvPr id="7" name="left-body-1"/>
          <p:cNvSpPr txBox="1"/>
          <p:nvPr/>
        </p:nvSpPr>
        <p:spPr>
          <a:xfrm>
            <a:off x="812800" y="1981200"/>
            <a:ext cx="5384800" cy="121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5000"/>
              </a:lnSpc>
            </a:pPr>
            <a:r>
              <a:rPr lang="en-US" sz="1200" noProof="1">
                <a:solidFill>
                  <a:srgbClr val="2A3038"/>
                </a:solidFill>
                <a:latin typeface="MiSans"/>
                <a:ea typeface="MiSans"/>
              </a:rPr>
              <a:t>物理设计工具部负责 MAAU 模拟电路自动设计工具的开发与维护。工具前端提供 </a:t>
            </a:r>
            <a:r>
              <a:rPr lang="en-US" sz="1200" noProof="1" b="1">
                <a:solidFill>
                  <a:srgbClr val="2A3038"/>
                </a:solidFill>
                <a:latin typeface="MiSans"/>
                <a:ea typeface="MiSans"/>
              </a:rPr>
              <a:t>Mapping（电路结构映射）</a:t>
            </a:r>
            <a:r>
              <a:rPr lang="en-US" sz="1200" noProof="1">
                <a:solidFill>
                  <a:srgbClr val="2A3038"/>
                </a:solidFill>
                <a:latin typeface="MiSans"/>
                <a:ea typeface="MiSans"/>
              </a:rPr>
              <a:t>与 </a:t>
            </a:r>
            <a:r>
              <a:rPr lang="en-US" sz="1200" noProof="1" b="1">
                <a:solidFill>
                  <a:srgbClr val="2A3038"/>
                </a:solidFill>
                <a:latin typeface="MiSans"/>
                <a:ea typeface="MiSans"/>
              </a:rPr>
              <a:t>Sizing（器件尺寸优化）</a:t>
            </a:r>
            <a:r>
              <a:rPr lang="en-US" sz="1200" noProof="1">
                <a:solidFill>
                  <a:srgbClr val="2A3038"/>
                </a:solidFill>
                <a:latin typeface="MiSans"/>
                <a:ea typeface="MiSans"/>
              </a:rPr>
              <a:t>核心能力，并与 Virtuoso 设计环境、PDK 工艺库及仿真流程深度集成，服务模拟电路设计效率提升。</a:t>
            </a:r>
            <a:endParaRPr lang="en-US" sz="1200" noProof="1"/>
          </a:p>
        </p:txBody>
      </p:sp>
      <p:sp>
        <p:nvSpPr>
          <p:cNvPr id="8" name="left-line"/>
          <p:cNvSpPr/>
          <p:nvPr/>
        </p:nvSpPr>
        <p:spPr>
          <a:xfrm>
            <a:off x="812800" y="3352800"/>
            <a:ext cx="53848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9" name="left-bar-2"/>
          <p:cNvSpPr/>
          <p:nvPr/>
        </p:nvSpPr>
        <p:spPr>
          <a:xfrm>
            <a:off x="812800" y="35941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0" name="left-h2-2"/>
          <p:cNvSpPr txBox="1"/>
          <p:nvPr/>
        </p:nvSpPr>
        <p:spPr>
          <a:xfrm>
            <a:off x="990600" y="35560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我的岗位方向</a:t>
            </a:r>
            <a:endParaRPr lang="en-US" sz="1400" noProof="1"/>
          </a:p>
        </p:txBody>
      </p:sp>
      <p:sp>
        <p:nvSpPr>
          <p:cNvPr id="11" name="left-body-2"/>
          <p:cNvSpPr txBox="1"/>
          <p:nvPr/>
        </p:nvSpPr>
        <p:spPr>
          <a:xfrm>
            <a:off x="812800" y="3937000"/>
            <a:ext cx="5384800" cy="203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95000"/>
              </a:lnSpc>
            </a:pPr>
            <a:r>
              <a:rPr lang="en-US" sz="1200" noProof="1">
                <a:solidFill>
                  <a:srgbClr val="2A3038"/>
                </a:solidFill>
                <a:latin typeface="MiSans"/>
                <a:ea typeface="MiSans"/>
              </a:rPr>
              <a:t>· MAAU 前端功能开发（Mapping / Sizing 链路）</a:t>
            </a:r>
            <a:endParaRPr lang="en-US" sz="1200" noProof="1"/>
          </a:p>
          <a:p>
            <a:pPr algn="l">
              <a:lnSpc>
                <a:spcPct val="195000"/>
              </a:lnSpc>
            </a:pPr>
            <a:r>
              <a:rPr lang="en-US" sz="1200" noProof="1">
                <a:solidFill>
                  <a:srgbClr val="2A3038"/>
                </a:solidFill>
                <a:latin typeface="MiSans"/>
                <a:ea typeface="MiSans"/>
              </a:rPr>
              <a:t>· DTS 问题单定位、修复与验证闭环</a:t>
            </a:r>
            <a:endParaRPr lang="en-US" sz="1200" noProof="1"/>
          </a:p>
          <a:p>
            <a:pPr algn="l">
              <a:lnSpc>
                <a:spcPct val="195000"/>
              </a:lnSpc>
            </a:pPr>
            <a:r>
              <a:rPr lang="en-US" sz="1200" noProof="1">
                <a:solidFill>
                  <a:srgbClr val="2A3038"/>
                </a:solidFill>
                <a:latin typeface="MiSans"/>
                <a:ea typeface="MiSans"/>
              </a:rPr>
              <a:t>· 调优需求开发：LDO 电路结构变换与自动 VBIAS</a:t>
            </a:r>
            <a:endParaRPr lang="en-US" sz="1200" noProof="1"/>
          </a:p>
          <a:p>
            <a:pPr algn="l">
              <a:lnSpc>
                <a:spcPct val="195000"/>
              </a:lnSpc>
            </a:pPr>
            <a:r>
              <a:rPr lang="en-US" sz="1200" noProof="1">
                <a:solidFill>
                  <a:srgbClr val="2A3038"/>
                </a:solidFill>
                <a:latin typeface="MiSans"/>
                <a:ea typeface="MiSans"/>
              </a:rPr>
              <a:t>· jeme 中 maau 调优功能维护</a:t>
            </a:r>
            <a:endParaRPr lang="en-US" sz="1200" noProof="1"/>
          </a:p>
        </p:txBody>
      </p:sp>
      <p:sp>
        <p:nvSpPr>
          <p:cNvPr id="12" name="right-bar"/>
          <p:cNvSpPr/>
          <p:nvPr/>
        </p:nvSpPr>
        <p:spPr>
          <a:xfrm>
            <a:off x="6858000" y="1638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3" name="right-h2"/>
          <p:cNvSpPr txBox="1"/>
          <p:nvPr/>
        </p:nvSpPr>
        <p:spPr>
          <a:xfrm>
            <a:off x="7035800" y="16002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转正必备项概览</a:t>
            </a:r>
            <a:endParaRPr lang="en-US" sz="1400" noProof="1"/>
          </a:p>
        </p:txBody>
      </p:sp>
      <p:sp>
        <p:nvSpPr>
          <p:cNvPr id="14" name="chk-title-1"/>
          <p:cNvSpPr txBox="1"/>
          <p:nvPr/>
        </p:nvSpPr>
        <p:spPr>
          <a:xfrm>
            <a:off x="6858000" y="2032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1B2A4A"/>
                </a:solidFill>
                <a:latin typeface="MiSans"/>
                <a:ea typeface="MiSans"/>
              </a:rPr>
              <a:t>可信考试</a:t>
            </a:r>
            <a:endParaRPr lang="en-US" sz="1250" noProof="1"/>
          </a:p>
        </p:txBody>
      </p:sp>
      <p:sp>
        <p:nvSpPr>
          <p:cNvPr id="15" name="chk-status-1"/>
          <p:cNvSpPr txBox="1"/>
          <p:nvPr/>
        </p:nvSpPr>
        <p:spPr>
          <a:xfrm>
            <a:off x="9093200" y="2057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050" noProof="1">
                <a:solidFill>
                  <a:srgbClr val="B4632C"/>
                </a:solidFill>
                <a:latin typeface="MiSans"/>
                <a:ea typeface="MiSans"/>
              </a:rPr>
              <a:t>科目二已通过 · 科目一备考中</a:t>
            </a:r>
            <a:endParaRPr lang="en-US" sz="1050" noProof="1"/>
          </a:p>
        </p:txBody>
      </p:sp>
      <p:sp>
        <p:nvSpPr>
          <p:cNvPr id="16" name="chk-desc-1"/>
          <p:cNvSpPr txBox="1"/>
          <p:nvPr/>
        </p:nvSpPr>
        <p:spPr>
          <a:xfrm>
            <a:off x="6858000" y="2311400"/>
            <a:ext cx="45212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C++ 认证：科目二软件编程知识与应用 · 科目一上机实战</a:t>
            </a:r>
            <a:endParaRPr lang="en-US" sz="1050" noProof="1"/>
          </a:p>
        </p:txBody>
      </p:sp>
      <p:sp>
        <p:nvSpPr>
          <p:cNvPr id="17" name="chk-line-1"/>
          <p:cNvSpPr/>
          <p:nvPr/>
        </p:nvSpPr>
        <p:spPr>
          <a:xfrm>
            <a:off x="6858000" y="27178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8" name="chk-title-2"/>
          <p:cNvSpPr txBox="1"/>
          <p:nvPr/>
        </p:nvSpPr>
        <p:spPr>
          <a:xfrm>
            <a:off x="6858000" y="2921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1B2A4A"/>
                </a:solidFill>
                <a:latin typeface="MiSans"/>
                <a:ea typeface="MiSans"/>
              </a:rPr>
              <a:t>必培集训</a:t>
            </a:r>
            <a:endParaRPr lang="en-US" sz="1250" noProof="1"/>
          </a:p>
        </p:txBody>
      </p:sp>
      <p:sp>
        <p:nvSpPr>
          <p:cNvPr id="19" name="chk-status-2"/>
          <p:cNvSpPr txBox="1"/>
          <p:nvPr/>
        </p:nvSpPr>
        <p:spPr>
          <a:xfrm>
            <a:off x="9093200" y="2946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050" noProof="1">
                <a:solidFill>
                  <a:srgbClr val="B4632C"/>
                </a:solidFill>
                <a:latin typeface="MiSans"/>
                <a:ea typeface="MiSans"/>
              </a:rPr>
              <a:t>三营已完成 · C 培待开展</a:t>
            </a:r>
            <a:endParaRPr lang="en-US" sz="1050" noProof="1"/>
          </a:p>
        </p:txBody>
      </p:sp>
      <p:sp>
        <p:nvSpPr>
          <p:cNvPr id="20" name="chk-desc-2"/>
          <p:cNvSpPr txBox="1"/>
          <p:nvPr/>
        </p:nvSpPr>
        <p:spPr>
          <a:xfrm>
            <a:off x="6858000" y="3200400"/>
            <a:ext cx="45212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研发新员工上岗引导培训三营 · 半导体质量 C 培</a:t>
            </a:r>
            <a:endParaRPr lang="en-US" sz="1050" noProof="1"/>
          </a:p>
        </p:txBody>
      </p:sp>
      <p:sp>
        <p:nvSpPr>
          <p:cNvPr id="21" name="chk-line-2"/>
          <p:cNvSpPr/>
          <p:nvPr/>
        </p:nvSpPr>
        <p:spPr>
          <a:xfrm>
            <a:off x="6858000" y="36068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22" name="chk-title-3"/>
          <p:cNvSpPr txBox="1"/>
          <p:nvPr/>
        </p:nvSpPr>
        <p:spPr>
          <a:xfrm>
            <a:off x="6858000" y="3810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1B2A4A"/>
                </a:solidFill>
                <a:latin typeface="MiSans"/>
                <a:ea typeface="MiSans"/>
              </a:rPr>
              <a:t>虚拟 LAB</a:t>
            </a:r>
            <a:endParaRPr lang="en-US" sz="1250" noProof="1"/>
          </a:p>
        </p:txBody>
      </p:sp>
      <p:sp>
        <p:nvSpPr>
          <p:cNvPr id="23" name="chk-status-3"/>
          <p:cNvSpPr txBox="1"/>
          <p:nvPr/>
        </p:nvSpPr>
        <p:spPr>
          <a:xfrm>
            <a:off x="9093200" y="3835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050" noProof="1">
                <a:solidFill>
                  <a:srgbClr val="1B2A4A"/>
                </a:solidFill>
                <a:latin typeface="MiSans"/>
                <a:ea typeface="MiSans"/>
              </a:rPr>
              <a:t>已完成</a:t>
            </a:r>
            <a:endParaRPr lang="en-US" sz="1050" noProof="1"/>
          </a:p>
        </p:txBody>
      </p:sp>
      <p:sp>
        <p:nvSpPr>
          <p:cNvPr id="24" name="chk-desc-3"/>
          <p:cNvSpPr txBox="1"/>
          <p:nvPr/>
        </p:nvSpPr>
        <p:spPr>
          <a:xfrm>
            <a:off x="6858000" y="4089400"/>
            <a:ext cx="45212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Maau LAB：Mapping / Sizing 实验与电路搭建仿真</a:t>
            </a:r>
            <a:endParaRPr lang="en-US" sz="1050" noProof="1"/>
          </a:p>
        </p:txBody>
      </p:sp>
      <p:sp>
        <p:nvSpPr>
          <p:cNvPr id="25" name="chk-line-3"/>
          <p:cNvSpPr/>
          <p:nvPr/>
        </p:nvSpPr>
        <p:spPr>
          <a:xfrm>
            <a:off x="6858000" y="44958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26" name="chk-title-4"/>
          <p:cNvSpPr txBox="1"/>
          <p:nvPr/>
        </p:nvSpPr>
        <p:spPr>
          <a:xfrm>
            <a:off x="6858000" y="4699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1B2A4A"/>
                </a:solidFill>
                <a:latin typeface="MiSans"/>
                <a:ea typeface="MiSans"/>
              </a:rPr>
              <a:t>公司必考课程</a:t>
            </a:r>
            <a:endParaRPr lang="en-US" sz="1250" noProof="1"/>
          </a:p>
        </p:txBody>
      </p:sp>
      <p:sp>
        <p:nvSpPr>
          <p:cNvPr id="27" name="chk-status-4"/>
          <p:cNvSpPr txBox="1"/>
          <p:nvPr/>
        </p:nvSpPr>
        <p:spPr>
          <a:xfrm>
            <a:off x="9093200" y="4724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050" noProof="1">
                <a:solidFill>
                  <a:srgbClr val="B4632C"/>
                </a:solidFill>
                <a:latin typeface="MiSans"/>
                <a:ea typeface="MiSans"/>
              </a:rPr>
              <a:t>推进中</a:t>
            </a:r>
            <a:endParaRPr lang="en-US" sz="1050" noProof="1"/>
          </a:p>
        </p:txBody>
      </p:sp>
      <p:sp>
        <p:nvSpPr>
          <p:cNvPr id="28" name="chk-desc-4"/>
          <p:cNvSpPr txBox="1"/>
          <p:nvPr/>
        </p:nvSpPr>
        <p:spPr>
          <a:xfrm>
            <a:off x="6858000" y="4978400"/>
            <a:ext cx="45212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信息安全、网络安全、消防、合规等 10 项课程考试</a:t>
            </a:r>
            <a:endParaRPr lang="en-US" sz="1050" noProof="1"/>
          </a:p>
        </p:txBody>
      </p:sp>
      <p:sp>
        <p:nvSpPr>
          <p:cNvPr id="29" name="chk-note"/>
          <p:cNvSpPr txBox="1"/>
          <p:nvPr/>
        </p:nvSpPr>
        <p:spPr>
          <a:xfrm>
            <a:off x="6858000" y="5740400"/>
            <a:ext cx="45212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MiSans"/>
                <a:ea typeface="MiSans"/>
              </a:rPr>
              <a:t>注：转正必备项及要求以部门最新通知为准</a:t>
            </a:r>
            <a:endParaRPr lang="en-US" sz="950" noProof="1"/>
          </a:p>
        </p:txBody>
      </p:sp>
      <p:sp>
        <p:nvSpPr>
          <p:cNvPr id="30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31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04 / 14</a:t>
            </a:r>
            <a:endParaRPr lang="en-US" sz="95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01 · 岗位与目标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十周总览：从环境融入到独立承接需求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tl-axis"/>
          <p:cNvSpPr/>
          <p:nvPr/>
        </p:nvSpPr>
        <p:spPr>
          <a:xfrm>
            <a:off x="1016000" y="2476500"/>
            <a:ext cx="10160000" cy="20320"/>
          </a:xfrm>
          <a:prstGeom prst="rect">
            <a:avLst/>
          </a:prstGeom>
          <a:solidFill>
            <a:srgbClr val="D5CFC0"/>
          </a:solidFill>
          <a:ln>
            <a:noFill/>
          </a:ln>
        </p:spPr>
      </p:sp>
      <p:sp>
        <p:nvSpPr>
          <p:cNvPr id="6" name="tl-seg-1"/>
          <p:cNvSpPr/>
          <p:nvPr/>
        </p:nvSpPr>
        <p:spPr>
          <a:xfrm>
            <a:off x="1016000" y="2456180"/>
            <a:ext cx="1930400" cy="60960"/>
          </a:xfrm>
          <a:prstGeom prst="rect">
            <a:avLst/>
          </a:prstGeom>
          <a:solidFill>
            <a:srgbClr val="B9B2A2"/>
          </a:solidFill>
          <a:ln>
            <a:noFill/>
          </a:ln>
        </p:spPr>
      </p:sp>
      <p:sp>
        <p:nvSpPr>
          <p:cNvPr id="7" name="tl-seg-2"/>
          <p:cNvSpPr/>
          <p:nvPr/>
        </p:nvSpPr>
        <p:spPr>
          <a:xfrm>
            <a:off x="3149600" y="2456180"/>
            <a:ext cx="3759200" cy="6096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8" name="tl-seg-3"/>
          <p:cNvSpPr/>
          <p:nvPr/>
        </p:nvSpPr>
        <p:spPr>
          <a:xfrm>
            <a:off x="7112000" y="2456180"/>
            <a:ext cx="4064000" cy="6096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9" name="tl-dot-1"/>
          <p:cNvSpPr/>
          <p:nvPr/>
        </p:nvSpPr>
        <p:spPr>
          <a:xfrm>
            <a:off x="965200" y="2435860"/>
            <a:ext cx="101600" cy="101600"/>
          </a:xfrm>
          <a:prstGeom prst="ellipse">
            <a:avLst/>
          </a:prstGeom>
          <a:solidFill>
            <a:srgbClr val="F6F4EE"/>
          </a:solidFill>
          <a:ln w="19050">
            <a:solidFill>
              <a:srgbClr val="B9B2A2"/>
            </a:solidFill>
          </a:ln>
        </p:spPr>
      </p:sp>
      <p:sp>
        <p:nvSpPr>
          <p:cNvPr id="10" name="tl-dot-2"/>
          <p:cNvSpPr/>
          <p:nvPr/>
        </p:nvSpPr>
        <p:spPr>
          <a:xfrm>
            <a:off x="3098800" y="2435860"/>
            <a:ext cx="101600" cy="101600"/>
          </a:xfrm>
          <a:prstGeom prst="ellipse">
            <a:avLst/>
          </a:prstGeom>
          <a:solidFill>
            <a:srgbClr val="F6F4EE"/>
          </a:solidFill>
          <a:ln w="19050">
            <a:solidFill>
              <a:srgbClr val="1B2A4A"/>
            </a:solidFill>
          </a:ln>
        </p:spPr>
      </p:sp>
      <p:sp>
        <p:nvSpPr>
          <p:cNvPr id="11" name="tl-dot-3"/>
          <p:cNvSpPr/>
          <p:nvPr/>
        </p:nvSpPr>
        <p:spPr>
          <a:xfrm>
            <a:off x="7061200" y="2435860"/>
            <a:ext cx="101600" cy="101600"/>
          </a:xfrm>
          <a:prstGeom prst="ellipse">
            <a:avLst/>
          </a:prstGeom>
          <a:solidFill>
            <a:srgbClr val="F6F4EE"/>
          </a:solidFill>
          <a:ln w="19050">
            <a:solidFill>
              <a:srgbClr val="B4632C"/>
            </a:solidFill>
          </a:ln>
        </p:spPr>
      </p:sp>
      <p:sp>
        <p:nvSpPr>
          <p:cNvPr id="12" name="tl-dot-4"/>
          <p:cNvSpPr/>
          <p:nvPr/>
        </p:nvSpPr>
        <p:spPr>
          <a:xfrm>
            <a:off x="11125200" y="2435860"/>
            <a:ext cx="101600" cy="10160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3" name="ph1-week"/>
          <p:cNvSpPr txBox="1"/>
          <p:nvPr/>
        </p:nvSpPr>
        <p:spPr>
          <a:xfrm>
            <a:off x="1016000" y="1778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 b="1" spc="100" kern="0">
                <a:solidFill>
                  <a:srgbClr val="B9B2A2"/>
                </a:solidFill>
                <a:latin typeface="JetBrains Mono"/>
                <a:ea typeface="MiSans"/>
              </a:rPr>
              <a:t>W1 – W2</a:t>
            </a:r>
            <a:endParaRPr lang="en-US" sz="1050" noProof="1"/>
          </a:p>
        </p:txBody>
      </p:sp>
      <p:sp>
        <p:nvSpPr>
          <p:cNvPr id="14" name="ph1-name"/>
          <p:cNvSpPr txBox="1"/>
          <p:nvPr/>
        </p:nvSpPr>
        <p:spPr>
          <a:xfrm>
            <a:off x="1016000" y="20066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500" noProof="1" b="1">
                <a:solidFill>
                  <a:srgbClr val="1B2A4A"/>
                </a:solidFill>
                <a:latin typeface="MiSans"/>
                <a:ea typeface="MiSans"/>
              </a:rPr>
              <a:t>环境融入与基础搭建</a:t>
            </a:r>
            <a:endParaRPr lang="en-US" sz="1500" noProof="1"/>
          </a:p>
        </p:txBody>
      </p:sp>
      <p:sp>
        <p:nvSpPr>
          <p:cNvPr id="15" name="ph1-desc"/>
          <p:cNvSpPr txBox="1"/>
          <p:nvPr/>
        </p:nvSpPr>
        <p:spPr>
          <a:xfrm>
            <a:off x="1016000" y="2743200"/>
            <a:ext cx="19050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完成 24 门课程讲座与 11 门入职考试；搭建黄红区开发环境；Virtuoso 入门，完成 MAAU Mapping / Sizing 虚拟 Lab 实验</a:t>
            </a:r>
            <a:endParaRPr lang="en-US" sz="1050" noProof="1"/>
          </a:p>
        </p:txBody>
      </p:sp>
      <p:sp>
        <p:nvSpPr>
          <p:cNvPr id="16" name="ph2-week"/>
          <p:cNvSpPr txBox="1"/>
          <p:nvPr/>
        </p:nvSpPr>
        <p:spPr>
          <a:xfrm>
            <a:off x="3149600" y="17780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 b="1" spc="100" kern="0">
                <a:solidFill>
                  <a:srgbClr val="1B2A4A"/>
                </a:solidFill>
                <a:latin typeface="JetBrains Mono"/>
                <a:ea typeface="MiSans"/>
              </a:rPr>
              <a:t>W3 – W6</a:t>
            </a:r>
            <a:endParaRPr lang="en-US" sz="1050" noProof="1"/>
          </a:p>
        </p:txBody>
      </p:sp>
      <p:sp>
        <p:nvSpPr>
          <p:cNvPr id="17" name="ph2-name"/>
          <p:cNvSpPr txBox="1"/>
          <p:nvPr/>
        </p:nvSpPr>
        <p:spPr>
          <a:xfrm>
            <a:off x="3149600" y="20066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500" noProof="1" b="1">
                <a:solidFill>
                  <a:srgbClr val="1B2A4A"/>
                </a:solidFill>
                <a:latin typeface="MiSans"/>
                <a:ea typeface="MiSans"/>
              </a:rPr>
              <a:t>DTS 问题单实战</a:t>
            </a:r>
            <a:endParaRPr lang="en-US" sz="1500" noProof="1"/>
          </a:p>
        </p:txBody>
      </p:sp>
      <p:sp>
        <p:nvSpPr>
          <p:cNvPr id="18" name="ph2-desc"/>
          <p:cNvSpPr txBox="1"/>
          <p:nvPr/>
        </p:nvSpPr>
        <p:spPr>
          <a:xfrm>
            <a:off x="3149600" y="2743200"/>
            <a:ext cx="35560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闭环 5 个 DTS 问题单（定位 → 修复 → 验证 → 走单）；第 6 周通过软件科目二；跑通代码提交、编译构建与验证全流程</a:t>
            </a:r>
            <a:endParaRPr lang="en-US" sz="1050" noProof="1"/>
          </a:p>
        </p:txBody>
      </p:sp>
      <p:sp>
        <p:nvSpPr>
          <p:cNvPr id="19" name="ph3-week"/>
          <p:cNvSpPr txBox="1"/>
          <p:nvPr/>
        </p:nvSpPr>
        <p:spPr>
          <a:xfrm>
            <a:off x="7112000" y="17780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 b="1" spc="100" kern="0">
                <a:solidFill>
                  <a:srgbClr val="B4632C"/>
                </a:solidFill>
                <a:latin typeface="JetBrains Mono"/>
                <a:ea typeface="MiSans"/>
              </a:rPr>
              <a:t>W7 – W10</a:t>
            </a:r>
            <a:endParaRPr lang="en-US" sz="1050" noProof="1"/>
          </a:p>
        </p:txBody>
      </p:sp>
      <p:sp>
        <p:nvSpPr>
          <p:cNvPr id="20" name="ph3-name"/>
          <p:cNvSpPr txBox="1"/>
          <p:nvPr/>
        </p:nvSpPr>
        <p:spPr>
          <a:xfrm>
            <a:off x="7112000" y="20066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500" noProof="1" b="1">
                <a:solidFill>
                  <a:srgbClr val="1B2A4A"/>
                </a:solidFill>
                <a:latin typeface="MiSans"/>
                <a:ea typeface="MiSans"/>
              </a:rPr>
              <a:t>独立承接需求开发</a:t>
            </a:r>
            <a:endParaRPr lang="en-US" sz="1500" noProof="1"/>
          </a:p>
        </p:txBody>
      </p:sp>
      <p:sp>
        <p:nvSpPr>
          <p:cNvPr id="21" name="ph3-desc"/>
          <p:cNvSpPr txBox="1"/>
          <p:nvPr/>
        </p:nvSpPr>
        <p:spPr>
          <a:xfrm>
            <a:off x="7112000" y="2743200"/>
            <a:ext cx="40132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独立承接 LDO 结构变换需求：完成方案设计与串讲、核心代码开发，并在真实 Capless LDO 电路上跑通同型 Cascode 链路</a:t>
            </a:r>
            <a:endParaRPr lang="en-US" sz="1050" noProof="1"/>
          </a:p>
        </p:txBody>
      </p:sp>
      <p:sp>
        <p:nvSpPr>
          <p:cNvPr id="22" name="stat-line"/>
          <p:cNvSpPr/>
          <p:nvPr/>
        </p:nvSpPr>
        <p:spPr>
          <a:xfrm>
            <a:off x="812800" y="4470400"/>
            <a:ext cx="105664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23" name="stat1-num"/>
          <p:cNvSpPr txBox="1"/>
          <p:nvPr/>
        </p:nvSpPr>
        <p:spPr>
          <a:xfrm>
            <a:off x="8128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b"/>
          <a:lstStyle/>
          <a:p>
            <a:pPr algn="l">
              <a:lnSpc>
                <a:spcPct val="120000"/>
              </a:lnSpc>
            </a:pPr>
            <a:r>
              <a:rPr lang="en-US" sz="2800" noProof="1" b="1">
                <a:solidFill>
                  <a:srgbClr val="B4632C"/>
                </a:solidFill>
                <a:latin typeface="思源宋体"/>
                <a:ea typeface="思源宋体"/>
              </a:rPr>
              <a:t>24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门</a:t>
            </a:r>
            <a:endParaRPr lang="en-US" sz="1600" noProof="1"/>
          </a:p>
        </p:txBody>
      </p:sp>
      <p:sp>
        <p:nvSpPr>
          <p:cNvPr id="24" name="stat1-label"/>
          <p:cNvSpPr txBox="1"/>
          <p:nvPr/>
        </p:nvSpPr>
        <p:spPr>
          <a:xfrm>
            <a:off x="8128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入职课程及讲座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（第 1 周完成）</a:t>
            </a:r>
            <a:endParaRPr lang="en-US" sz="1050" noProof="1"/>
          </a:p>
        </p:txBody>
      </p:sp>
      <p:sp>
        <p:nvSpPr>
          <p:cNvPr id="25" name="stat2-num"/>
          <p:cNvSpPr txBox="1"/>
          <p:nvPr/>
        </p:nvSpPr>
        <p:spPr>
          <a:xfrm>
            <a:off x="29464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b"/>
          <a:lstStyle/>
          <a:p>
            <a:pPr algn="l">
              <a:lnSpc>
                <a:spcPct val="120000"/>
              </a:lnSpc>
            </a:pPr>
            <a:r>
              <a:rPr lang="en-US" sz="2800" noProof="1" b="1">
                <a:solidFill>
                  <a:srgbClr val="B4632C"/>
                </a:solidFill>
                <a:latin typeface="思源宋体"/>
                <a:ea typeface="思源宋体"/>
              </a:rPr>
              <a:t>11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门</a:t>
            </a:r>
            <a:endParaRPr lang="en-US" sz="1600" noProof="1"/>
          </a:p>
        </p:txBody>
      </p:sp>
      <p:sp>
        <p:nvSpPr>
          <p:cNvPr id="26" name="stat2-label"/>
          <p:cNvSpPr txBox="1"/>
          <p:nvPr/>
        </p:nvSpPr>
        <p:spPr>
          <a:xfrm>
            <a:off x="29464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入职课程考试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（第 1 周完成）</a:t>
            </a:r>
            <a:endParaRPr lang="en-US" sz="1050" noProof="1"/>
          </a:p>
        </p:txBody>
      </p:sp>
      <p:sp>
        <p:nvSpPr>
          <p:cNvPr id="27" name="stat3-num"/>
          <p:cNvSpPr txBox="1"/>
          <p:nvPr/>
        </p:nvSpPr>
        <p:spPr>
          <a:xfrm>
            <a:off x="50800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b"/>
          <a:lstStyle/>
          <a:p>
            <a:pPr algn="l">
              <a:lnSpc>
                <a:spcPct val="120000"/>
              </a:lnSpc>
            </a:pPr>
            <a:r>
              <a:rPr lang="en-US" sz="2800" noProof="1" b="1">
                <a:solidFill>
                  <a:srgbClr val="B4632C"/>
                </a:solidFill>
                <a:latin typeface="思源宋体"/>
                <a:ea typeface="思源宋体"/>
              </a:rPr>
              <a:t>5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个</a:t>
            </a:r>
            <a:endParaRPr lang="en-US" sz="1600" noProof="1"/>
          </a:p>
        </p:txBody>
      </p:sp>
      <p:sp>
        <p:nvSpPr>
          <p:cNvPr id="28" name="stat3-label"/>
          <p:cNvSpPr txBox="1"/>
          <p:nvPr/>
        </p:nvSpPr>
        <p:spPr>
          <a:xfrm>
            <a:off x="50800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DTS 问题单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修复并闭环</a:t>
            </a:r>
            <a:endParaRPr lang="en-US" sz="1050" noProof="1"/>
          </a:p>
        </p:txBody>
      </p:sp>
      <p:sp>
        <p:nvSpPr>
          <p:cNvPr id="29" name="stat4-num"/>
          <p:cNvSpPr txBox="1"/>
          <p:nvPr/>
        </p:nvSpPr>
        <p:spPr>
          <a:xfrm>
            <a:off x="72136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b"/>
          <a:lstStyle/>
          <a:p>
            <a:pPr algn="l">
              <a:lnSpc>
                <a:spcPct val="120000"/>
              </a:lnSpc>
            </a:pPr>
            <a:r>
              <a:rPr lang="en-US" sz="2800" noProof="1" b="1">
                <a:solidFill>
                  <a:srgbClr val="B4632C"/>
                </a:solidFill>
                <a:latin typeface="思源宋体"/>
                <a:ea typeface="思源宋体"/>
              </a:rPr>
              <a:t>4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类</a:t>
            </a:r>
            <a:endParaRPr lang="en-US" sz="1600" noProof="1"/>
          </a:p>
        </p:txBody>
      </p:sp>
      <p:sp>
        <p:nvSpPr>
          <p:cNvPr id="30" name="stat4-label"/>
          <p:cNvSpPr txBox="1"/>
          <p:nvPr/>
        </p:nvSpPr>
        <p:spPr>
          <a:xfrm>
            <a:off x="72136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LDO 结构变换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方案设计</a:t>
            </a:r>
            <a:endParaRPr lang="en-US" sz="1050" noProof="1"/>
          </a:p>
        </p:txBody>
      </p:sp>
      <p:sp>
        <p:nvSpPr>
          <p:cNvPr id="31" name="stat5-num"/>
          <p:cNvSpPr txBox="1"/>
          <p:nvPr/>
        </p:nvSpPr>
        <p:spPr>
          <a:xfrm>
            <a:off x="9347200" y="46990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b"/>
          <a:lstStyle/>
          <a:p>
            <a:pPr algn="l">
              <a:lnSpc>
                <a:spcPct val="120000"/>
              </a:lnSpc>
            </a:pPr>
            <a:r>
              <a:rPr lang="en-US" sz="2800" noProof="1" b="1">
                <a:solidFill>
                  <a:srgbClr val="B4632C"/>
                </a:solidFill>
                <a:latin typeface="思源宋体"/>
                <a:ea typeface="思源宋体"/>
              </a:rPr>
              <a:t>59</a:t>
            </a:r>
            <a:r>
              <a:rPr lang="en-US" sz="1200" noProof="1">
                <a:solidFill>
                  <a:srgbClr val="7C8490"/>
                </a:solidFill>
                <a:latin typeface="MiSans"/>
                <a:ea typeface="MiSans"/>
              </a:rPr>
              <a:t> 个</a:t>
            </a:r>
            <a:endParaRPr lang="en-US" sz="1600" noProof="1"/>
          </a:p>
        </p:txBody>
      </p:sp>
      <p:sp>
        <p:nvSpPr>
          <p:cNvPr id="32" name="stat5-label"/>
          <p:cNvSpPr txBox="1"/>
          <p:nvPr/>
        </p:nvSpPr>
        <p:spPr>
          <a:xfrm>
            <a:off x="9347200" y="5232400"/>
            <a:ext cx="20955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真实电路可处理</a:t>
            </a:r>
            <a:endParaRPr lang="en-US" sz="1050" noProof="1"/>
          </a:p>
          <a:p>
            <a:pPr algn="l">
              <a:lnSpc>
                <a:spcPct val="14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MOS 识别</a:t>
            </a:r>
            <a:endParaRPr lang="en-US" sz="1050" noProof="1"/>
          </a:p>
        </p:txBody>
      </p:sp>
      <p:sp>
        <p:nvSpPr>
          <p:cNvPr id="33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34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05 / 14</a:t>
            </a:r>
            <a:endParaRPr lang="en-US" sz="95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host-num"/>
          <p:cNvSpPr txBox="1"/>
          <p:nvPr/>
        </p:nvSpPr>
        <p:spPr>
          <a:xfrm>
            <a:off x="7112000" y="381000"/>
            <a:ext cx="43180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5000" noProof="1" b="1">
                <a:solidFill>
                  <a:srgbClr val="FFFFFF">
                    <a:alpha val="4706"/>
                  </a:srgbClr>
                </a:solidFill>
                <a:latin typeface="思源宋体"/>
                <a:ea typeface="思源宋体"/>
              </a:rPr>
              <a:t>02</a:t>
            </a:r>
            <a:endParaRPr lang="en-US" sz="15000" noProof="1"/>
          </a:p>
        </p:txBody>
      </p:sp>
      <p:sp>
        <p:nvSpPr>
          <p:cNvPr id="3" name="trace"/>
          <p:cNvSpPr/>
          <p:nvPr>
            <p:extLst>
              <p:ext uri="{F5677B7D-0D2A-4D9B-9A5C-6D8D7D0E5A5D}">
                <pptd:line encoding="base64url">eyJ2aWV3Qm94IjpbMjc2LDcwXSwicG9pbnRzIjoiMCwxNSAxMDAsMTUgMTAwLDU1IDI3Niw1NSIsImN1cnZlIjoic2hhcnAifQ</pptd:line>
              </p:ext>
            </p:extLst>
          </p:nvPr>
        </p:nvSpPr>
        <p:spPr>
          <a:xfrm>
            <a:off x="7874000" y="4572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pad-a"/>
          <p:cNvSpPr/>
          <p:nvPr/>
        </p:nvSpPr>
        <p:spPr>
          <a:xfrm>
            <a:off x="7829550" y="4718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5" name="pad-b"/>
          <p:cNvSpPr/>
          <p:nvPr/>
        </p:nvSpPr>
        <p:spPr>
          <a:xfrm>
            <a:off x="11334750" y="5226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6" name="kicker"/>
          <p:cNvSpPr txBox="1"/>
          <p:nvPr/>
        </p:nvSpPr>
        <p:spPr>
          <a:xfrm>
            <a:off x="812800" y="2006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300" kern="0">
                <a:solidFill>
                  <a:srgbClr val="CC8354"/>
                </a:solidFill>
                <a:latin typeface="JetBrains Mono"/>
                <a:ea typeface="MiSans"/>
              </a:rPr>
              <a:t>SECTION 02</a:t>
            </a:r>
            <a:endParaRPr lang="en-US" sz="1100" noProof="1"/>
          </a:p>
        </p:txBody>
      </p:sp>
      <p:sp>
        <p:nvSpPr>
          <p:cNvPr id="7" name="title"/>
          <p:cNvSpPr txBox="1"/>
          <p:nvPr/>
        </p:nvSpPr>
        <p:spPr>
          <a:xfrm>
            <a:off x="812800" y="2336800"/>
            <a:ext cx="8128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3300" noProof="1" b="1">
                <a:solidFill>
                  <a:srgbClr val="F2EFE6"/>
                </a:solidFill>
                <a:latin typeface="思源宋体"/>
                <a:ea typeface="思源宋体"/>
              </a:rPr>
              <a:t>重点工作成果</a:t>
            </a:r>
            <a:endParaRPr lang="en-US" sz="3300" noProof="1"/>
          </a:p>
        </p:txBody>
      </p:sp>
      <p:sp>
        <p:nvSpPr>
          <p:cNvPr id="8" name="rule"/>
          <p:cNvSpPr/>
          <p:nvPr/>
        </p:nvSpPr>
        <p:spPr>
          <a:xfrm>
            <a:off x="812800" y="31242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9" name="list"/>
          <p:cNvSpPr txBox="1"/>
          <p:nvPr/>
        </p:nvSpPr>
        <p:spPr>
          <a:xfrm>
            <a:off x="812800" y="34798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>
                <a:solidFill>
                  <a:srgbClr val="B9C2D4"/>
                </a:solidFill>
                <a:latin typeface="MiSans"/>
                <a:ea typeface="MiSans"/>
              </a:rPr>
              <a:t>培训与认证　·　DTS 问题单实战　·　LDO 结构变换需求开发</a:t>
            </a:r>
            <a:endParaRPr lang="en-US" sz="125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02 · 重点工作成果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培训认证：科目二已通过，其余按计划推进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graphicFrame>
        <p:nvGraphicFramePr>
          <p:cNvPr id="5" name="cert-table"/>
          <p:cNvGraphicFramePr>
            <a:graphicFrameLocks noGrp="1"/>
          </p:cNvGraphicFramePr>
          <p:nvPr/>
        </p:nvGraphicFramePr>
        <p:xfrm>
          <a:off x="812800" y="1625600"/>
          <a:ext cx="5689600" cy="3657600"/>
        </p:xfrm>
        <a:graphic>
          <a:graphicData uri="http://schemas.openxmlformats.org/drawingml/2006/table">
            <a:tbl>
              <a:tblPr/>
              <a:tblGrid>
                <a:gridCol w="1081024"/>
                <a:gridCol w="2105152"/>
                <a:gridCol w="1536192"/>
                <a:gridCol w="967232"/>
              </a:tblGrid>
              <a:tr h="4572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5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类别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5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5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进展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5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</a:tr>
              <a:tr h="4572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入职培训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24 门课程及讲座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第 1 周完成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4572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入职培训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11 门课程考试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第 1 周完成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4572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可信认证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软件科目二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第 6 周通过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已通过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4572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可信认证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软件科目一（上机）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刷题 28 道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 b="1">
                          <a:solidFill>
                            <a:srgbClr val="B4632C"/>
                          </a:solidFill>
                          <a:latin typeface="MiSans"/>
                          <a:ea typeface="MiSans"/>
                        </a:rPr>
                        <a:t>备考中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4572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必培集训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研发三营培训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第 6 周完成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4572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必培集训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半导体质量 C 培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待统一安排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7C8490"/>
                          </a:solidFill>
                          <a:latin typeface="MiSans"/>
                          <a:ea typeface="MiSans"/>
                        </a:rPr>
                        <a:t>待开展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4572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虚拟 LAB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Maau LAB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第 2 周完成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  <p:sp>
        <p:nvSpPr>
          <p:cNvPr id="6" name="right-bar"/>
          <p:cNvSpPr/>
          <p:nvPr/>
        </p:nvSpPr>
        <p:spPr>
          <a:xfrm>
            <a:off x="7061200" y="16637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" name="right-h2"/>
          <p:cNvSpPr txBox="1"/>
          <p:nvPr/>
        </p:nvSpPr>
        <p:spPr>
          <a:xfrm>
            <a:off x="7239000" y="16256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业务与技术学习</a:t>
            </a:r>
            <a:endParaRPr lang="en-US" sz="1400" noProof="1"/>
          </a:p>
        </p:txBody>
      </p:sp>
      <p:sp>
        <p:nvSpPr>
          <p:cNvPr id="8" name="right-body"/>
          <p:cNvSpPr txBox="1"/>
          <p:nvPr/>
        </p:nvSpPr>
        <p:spPr>
          <a:xfrm>
            <a:off x="6858000" y="2032000"/>
            <a:ext cx="4521200" cy="317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85000"/>
              </a:lnSpc>
            </a:pPr>
            <a:r>
              <a:rPr lang="en-US" sz="1150" noProof="1" b="1">
                <a:solidFill>
                  <a:srgbClr val="2A3038"/>
                </a:solidFill>
                <a:latin typeface="MiSans"/>
                <a:ea typeface="MiSans"/>
              </a:rPr>
              <a:t>模拟电路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运算放大器、带隙基准、Cascode 结构、VBIAS 偏置、Stack 分压</a:t>
            </a:r>
            <a:endParaRPr lang="en-US" sz="1150" noProof="1"/>
          </a:p>
          <a:p>
            <a:pPr algn="l">
              <a:lnSpc>
                <a:spcPct val="185000"/>
              </a:lnSpc>
              <a:spcBef>
                <a:spcPts val="800"/>
              </a:spcBef>
            </a:pPr>
            <a:r>
              <a:rPr lang="en-US" sz="1150" noProof="1" b="1">
                <a:solidFill>
                  <a:srgbClr val="2A3038"/>
                </a:solidFill>
                <a:latin typeface="MiSans"/>
                <a:ea typeface="MiSans"/>
              </a:rPr>
              <a:t>工具链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Virtuoso 使用与 SKILL 加载流程、cdsinit 配置与仿真执行</a:t>
            </a:r>
            <a:endParaRPr lang="en-US" sz="1150" noProof="1"/>
          </a:p>
          <a:p>
            <a:pPr algn="l">
              <a:lnSpc>
                <a:spcPct val="185000"/>
              </a:lnSpc>
              <a:spcBef>
                <a:spcPts val="800"/>
              </a:spcBef>
            </a:pPr>
            <a:r>
              <a:rPr lang="en-US" sz="1150" noProof="1" b="1">
                <a:solidFill>
                  <a:srgbClr val="2A3038"/>
                </a:solidFill>
                <a:latin typeface="MiSans"/>
                <a:ea typeface="MiSans"/>
              </a:rPr>
              <a:t>代码仓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MAAU 前端 Mapping / Sizing 调用链路与执行流程</a:t>
            </a:r>
            <a:endParaRPr lang="en-US" sz="1150" noProof="1"/>
          </a:p>
          <a:p>
            <a:pPr algn="l">
              <a:lnSpc>
                <a:spcPct val="185000"/>
              </a:lnSpc>
              <a:spcBef>
                <a:spcPts val="800"/>
              </a:spcBef>
            </a:pPr>
            <a:r>
              <a:rPr lang="en-US" sz="1150" noProof="1" b="1">
                <a:solidFill>
                  <a:srgbClr val="2A3038"/>
                </a:solidFill>
                <a:latin typeface="MiSans"/>
                <a:ea typeface="MiSans"/>
              </a:rPr>
              <a:t>C++ 实战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编程规范学习，OJ 刷题 7 道并总结</a:t>
            </a:r>
            <a:endParaRPr lang="en-US" sz="1150" noProof="1"/>
          </a:p>
          <a:p>
            <a:pPr algn="l">
              <a:lnSpc>
                <a:spcPct val="185000"/>
              </a:lnSpc>
              <a:spcBef>
                <a:spcPts val="800"/>
              </a:spcBef>
            </a:pPr>
            <a:r>
              <a:rPr lang="en-US" sz="1150" noProof="1" b="1">
                <a:solidFill>
                  <a:srgbClr val="2A3038"/>
                </a:solidFill>
                <a:latin typeface="MiSans"/>
                <a:ea typeface="MiSans"/>
              </a:rPr>
              <a:t>开发环境</a:t>
            </a: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　黄红区 CLion / VSCode、Claude Code 辅助开发配置</a:t>
            </a:r>
            <a:endParaRPr lang="en-US" sz="1150" noProof="1"/>
          </a:p>
        </p:txBody>
      </p:sp>
      <p:sp>
        <p:nvSpPr>
          <p:cNvPr id="9" name="right-note-line"/>
          <p:cNvSpPr/>
          <p:nvPr/>
        </p:nvSpPr>
        <p:spPr>
          <a:xfrm>
            <a:off x="6858000" y="54356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10" name="right-note"/>
          <p:cNvSpPr txBox="1"/>
          <p:nvPr/>
        </p:nvSpPr>
        <p:spPr>
          <a:xfrm>
            <a:off x="6858000" y="5613400"/>
            <a:ext cx="45212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学习路径以工作场景为导向：围绕问题单与 LDO 结构变换需求，反向补齐电路与工具知识</a:t>
            </a:r>
            <a:endParaRPr lang="en-US" sz="1050" noProof="1"/>
          </a:p>
        </p:txBody>
      </p:sp>
      <p:sp>
        <p:nvSpPr>
          <p:cNvPr id="11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12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07 / 14</a:t>
            </a:r>
            <a:endParaRPr lang="en-US" sz="95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02 · 重点工作成果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问题单实战：五个 DTS 问题单全部闭环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graphicFrame>
        <p:nvGraphicFramePr>
          <p:cNvPr id="5" name="dts-table"/>
          <p:cNvGraphicFramePr>
            <a:graphicFrameLocks noGrp="1"/>
          </p:cNvGraphicFramePr>
          <p:nvPr/>
        </p:nvGraphicFramePr>
        <p:xfrm>
          <a:off x="812800" y="1574800"/>
          <a:ext cx="10566400" cy="3276600"/>
        </p:xfrm>
        <a:graphic>
          <a:graphicData uri="http://schemas.openxmlformats.org/drawingml/2006/table">
            <a:tbl>
              <a:tblPr/>
              <a:tblGrid>
                <a:gridCol w="2007616"/>
                <a:gridCol w="4649216"/>
                <a:gridCol w="3909568"/>
              </a:tblGrid>
              <a:tr h="425958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5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问题单号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5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问题现象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50" noProof="1" b="1">
                          <a:solidFill>
                            <a:srgbClr val="1B2A4A"/>
                          </a:solidFill>
                          <a:latin typeface="MiSans"/>
                          <a:ea typeface="MiSans"/>
                        </a:rPr>
                        <a:t>处理与结果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1B2A4A"/>
                      </a:solidFill>
                    </a:lnB>
                    <a:solidFill>
                      <a:srgbClr val="ECE8DD"/>
                    </a:solidFill>
                  </a:tcPr>
                </a:tc>
              </a:tr>
              <a:tr h="570128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2A3038"/>
                          </a:solidFill>
                          <a:latin typeface="JetBrains Mono"/>
                          <a:ea typeface="JetBrains Mono"/>
                        </a:rPr>
                        <a:t>DTS2026060270314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不解析电路改名后 Mapping 失败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定位为缺少对应 JSON 文件；黄区修改代码，编译验证后闭环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570128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2A3038"/>
                          </a:solidFill>
                          <a:latin typeface="JetBrains Mono"/>
                          <a:ea typeface="JetBrains Mono"/>
                        </a:rPr>
                        <a:t>DTS2026080536041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Mapping By Libs 打开 / 改名 / 不解析场景下 Mapping 失败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根因定位与复现；跟进新修改方案，完成验证闭环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570128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2A3038"/>
                          </a:solidFill>
                          <a:latin typeface="JetBrains Mono"/>
                          <a:ea typeface="JetBrains Mono"/>
                        </a:rPr>
                        <a:t>DTS2026082011975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Target StdCell 首次输入字符串无法联想预期结果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完成修复、验证与代码合入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  <a:tr h="570128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2A3038"/>
                          </a:solidFill>
                          <a:latin typeface="JetBrains Mono"/>
                          <a:ea typeface="JetBrains Mono"/>
                        </a:rPr>
                        <a:t>DTS2026071514090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FloorPlan 未 Loading 完成时切换或更新 cds Path 弹窗失败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完成修复、验证与代码合入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BFAF6"/>
                    </a:solidFill>
                  </a:tcPr>
                </a:tc>
              </a:tr>
              <a:tr h="570128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000" noProof="1">
                          <a:solidFill>
                            <a:srgbClr val="2A3038"/>
                          </a:solidFill>
                          <a:latin typeface="JetBrains Mono"/>
                          <a:ea typeface="JetBrains Mono"/>
                        </a:rPr>
                        <a:t>DTS2026082422635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三个及以上 reference dut lib 映射不成功；Generate Pin 恢复默认端口不匹配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A3038"/>
                          </a:solidFill>
                          <a:latin typeface="MiSans"/>
                          <a:ea typeface="MiSans"/>
                        </a:rPr>
                        <a:t>完成修复，并在新版本上验证走单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C"/>
                      </a:solidFill>
                    </a:lnB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  <p:sp>
        <p:nvSpPr>
          <p:cNvPr id="6" name="bottom-bar-1"/>
          <p:cNvSpPr/>
          <p:nvPr/>
        </p:nvSpPr>
        <p:spPr>
          <a:xfrm>
            <a:off x="812800" y="51435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" name="bottom-h2-1"/>
          <p:cNvSpPr txBox="1"/>
          <p:nvPr/>
        </p:nvSpPr>
        <p:spPr>
          <a:xfrm>
            <a:off x="990600" y="51054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实战收获</a:t>
            </a:r>
            <a:endParaRPr lang="en-US" sz="1400" noProof="1"/>
          </a:p>
        </p:txBody>
      </p:sp>
      <p:sp>
        <p:nvSpPr>
          <p:cNvPr id="8" name="bottom-body-1"/>
          <p:cNvSpPr txBox="1"/>
          <p:nvPr/>
        </p:nvSpPr>
        <p:spPr>
          <a:xfrm>
            <a:off x="812800" y="5486400"/>
            <a:ext cx="53848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跑通代码提交、编译构建、程序运行与验证走单全流程；掌握 Mapping / Sizing 核心调用链与数据流转</a:t>
            </a:r>
            <a:endParaRPr lang="en-US" sz="1100" noProof="1"/>
          </a:p>
        </p:txBody>
      </p:sp>
      <p:sp>
        <p:nvSpPr>
          <p:cNvPr id="9" name="bottom-bar-2"/>
          <p:cNvSpPr/>
          <p:nvPr/>
        </p:nvSpPr>
        <p:spPr>
          <a:xfrm>
            <a:off x="6858000" y="51435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0" name="bottom-h2-2"/>
          <p:cNvSpPr txBox="1"/>
          <p:nvPr/>
        </p:nvSpPr>
        <p:spPr>
          <a:xfrm>
            <a:off x="7035800" y="51054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经验沉淀</a:t>
            </a:r>
            <a:endParaRPr lang="en-US" sz="1400" noProof="1"/>
          </a:p>
        </p:txBody>
      </p:sp>
      <p:sp>
        <p:nvSpPr>
          <p:cNvPr id="11" name="bottom-body-2"/>
          <p:cNvSpPr txBox="1"/>
          <p:nvPr/>
        </p:nvSpPr>
        <p:spPr>
          <a:xfrm>
            <a:off x="6858000" y="5486400"/>
            <a:ext cx="45212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整理 MAAU 功能操作与生成文件作用笔记；编译方式、配置未生效等踩坑点留档，同类问题快速复用</a:t>
            </a:r>
            <a:endParaRPr lang="en-US" sz="1100" noProof="1"/>
          </a:p>
        </p:txBody>
      </p:sp>
      <p:sp>
        <p:nvSpPr>
          <p:cNvPr id="12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13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08 / 14</a:t>
            </a:r>
            <a:endParaRPr lang="en-US" sz="95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02 · 重点工作成果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LDO 结构变换：四类变换规则与自动 VBIAS 方案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g1-name"/>
          <p:cNvSpPr txBox="1"/>
          <p:nvPr/>
        </p:nvSpPr>
        <p:spPr>
          <a:xfrm>
            <a:off x="812800" y="1549400"/>
            <a:ext cx="24892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300" noProof="1" b="1">
                <a:solidFill>
                  <a:srgbClr val="1B2A4A"/>
                </a:solidFill>
                <a:latin typeface="MiSans"/>
                <a:ea typeface="MiSans"/>
              </a:rPr>
              <a:t>同型 Cascode</a:t>
            </a:r>
            <a:endParaRPr lang="en-US" sz="1300" noProof="1"/>
          </a:p>
        </p:txBody>
      </p:sp>
      <p:sp>
        <p:nvSpPr>
          <p:cNvPr id="6" name="g1-b-d"/>
          <p:cNvSpPr/>
          <p:nvPr/>
        </p:nvSpPr>
        <p:spPr>
          <a:xfrm>
            <a:off x="1120140" y="22987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7" name="g1-b-mos"/>
          <p:cNvSpPr/>
          <p:nvPr/>
        </p:nvSpPr>
        <p:spPr>
          <a:xfrm>
            <a:off x="990600" y="24765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8" name="g1-b-mos-label"/>
          <p:cNvSpPr txBox="1"/>
          <p:nvPr/>
        </p:nvSpPr>
        <p:spPr>
          <a:xfrm>
            <a:off x="990600" y="2476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JetBrains Mono"/>
                <a:ea typeface="JetBrains Mono"/>
              </a:rPr>
              <a:t>M</a:t>
            </a:r>
            <a:endParaRPr lang="en-US" sz="900" noProof="1"/>
          </a:p>
        </p:txBody>
      </p:sp>
      <p:sp>
        <p:nvSpPr>
          <p:cNvPr id="9" name="g1-b-s"/>
          <p:cNvSpPr/>
          <p:nvPr/>
        </p:nvSpPr>
        <p:spPr>
          <a:xfrm>
            <a:off x="1120140" y="27559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0" name="g1-b-g"/>
          <p:cNvSpPr/>
          <p:nvPr/>
        </p:nvSpPr>
        <p:spPr>
          <a:xfrm>
            <a:off x="838200" y="26060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1" name="g1-arrow"/>
          <p:cNvSpPr/>
          <p:nvPr>
            <p:extLst>
              <p:ext uri="{F5677B7D-0D2A-4D9B-9A5C-6D8D7D0E5A5D}">
                <pptd:line encoding="base64url">eyJ2aWV3Qm94IjpbMjAsMl0sInBvaW50cyI6IjAsMSAyMCwxIn0</pptd:line>
              </p:ext>
            </p:extLst>
          </p:nvPr>
        </p:nvSpPr>
        <p:spPr>
          <a:xfrm>
            <a:off x="1422400" y="2603500"/>
            <a:ext cx="254000" cy="25400"/>
          </a:xfrm>
          <a:custGeom>
            <a:avLst/>
            <a:gdLst/>
            <a:ahLst/>
            <a:cxnLst/>
            <a:rect l="l" t="t" r="r" b="b"/>
            <a:pathLst>
              <a:path w="20" h="2">
                <a:moveTo>
                  <a:pt x="0" y="1"/>
                </a:moveTo>
                <a:lnTo>
                  <a:pt x="20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12" name="g1-a-d"/>
          <p:cNvSpPr/>
          <p:nvPr/>
        </p:nvSpPr>
        <p:spPr>
          <a:xfrm>
            <a:off x="2479040" y="19050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3" name="g1-a-m1"/>
          <p:cNvSpPr/>
          <p:nvPr/>
        </p:nvSpPr>
        <p:spPr>
          <a:xfrm>
            <a:off x="2349500" y="20574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14" name="g1-a-m1-label"/>
          <p:cNvSpPr txBox="1"/>
          <p:nvPr/>
        </p:nvSpPr>
        <p:spPr>
          <a:xfrm>
            <a:off x="2349500" y="205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JetBrains Mono"/>
                <a:ea typeface="JetBrains Mono"/>
              </a:rPr>
              <a:t>M1</a:t>
            </a:r>
            <a:endParaRPr lang="en-US" sz="800" noProof="1"/>
          </a:p>
        </p:txBody>
      </p:sp>
      <p:sp>
        <p:nvSpPr>
          <p:cNvPr id="15" name="g1-a-node"/>
          <p:cNvSpPr/>
          <p:nvPr/>
        </p:nvSpPr>
        <p:spPr>
          <a:xfrm>
            <a:off x="2479040" y="23368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16" name="g1-a-dot"/>
          <p:cNvSpPr/>
          <p:nvPr/>
        </p:nvSpPr>
        <p:spPr>
          <a:xfrm>
            <a:off x="2453640" y="24079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7" name="g1-a-m2"/>
          <p:cNvSpPr/>
          <p:nvPr/>
        </p:nvSpPr>
        <p:spPr>
          <a:xfrm>
            <a:off x="2349500" y="25146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18" name="g1-a-m2-label"/>
          <p:cNvSpPr txBox="1"/>
          <p:nvPr/>
        </p:nvSpPr>
        <p:spPr>
          <a:xfrm>
            <a:off x="2349500" y="25146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JetBrains Mono"/>
                <a:ea typeface="JetBrains Mono"/>
              </a:rPr>
              <a:t>M1</a:t>
            </a:r>
            <a:endParaRPr lang="en-US" sz="800" noProof="1"/>
          </a:p>
        </p:txBody>
      </p:sp>
      <p:sp>
        <p:nvSpPr>
          <p:cNvPr id="19" name="g1-a-s"/>
          <p:cNvSpPr/>
          <p:nvPr/>
        </p:nvSpPr>
        <p:spPr>
          <a:xfrm>
            <a:off x="2479040" y="27940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0" name="g1-a-g1"/>
          <p:cNvSpPr/>
          <p:nvPr/>
        </p:nvSpPr>
        <p:spPr>
          <a:xfrm>
            <a:off x="2197100" y="21869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1" name="g1-a-g2"/>
          <p:cNvSpPr/>
          <p:nvPr/>
        </p:nvSpPr>
        <p:spPr>
          <a:xfrm>
            <a:off x="2197100" y="26441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2" name="g1-rule"/>
          <p:cNvSpPr txBox="1"/>
          <p:nvPr/>
        </p:nvSpPr>
        <p:spPr>
          <a:xfrm>
            <a:off x="812800" y="3479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4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串联相同型号 MOS；NMOS 加在 Drain 侧，PMOS 加在 Source 侧</a:t>
            </a:r>
            <a:endParaRPr lang="en-US" sz="1050" noProof="1"/>
          </a:p>
        </p:txBody>
      </p:sp>
      <p:sp>
        <p:nvSpPr>
          <p:cNvPr id="23" name="g2-name"/>
          <p:cNvSpPr txBox="1"/>
          <p:nvPr/>
        </p:nvSpPr>
        <p:spPr>
          <a:xfrm>
            <a:off x="3505200" y="1549400"/>
            <a:ext cx="24892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300" noProof="1" b="1">
                <a:solidFill>
                  <a:srgbClr val="1B2A4A"/>
                </a:solidFill>
                <a:latin typeface="MiSans"/>
                <a:ea typeface="MiSans"/>
              </a:rPr>
              <a:t>异型 Cascode</a:t>
            </a:r>
            <a:endParaRPr lang="en-US" sz="1300" noProof="1"/>
          </a:p>
        </p:txBody>
      </p:sp>
      <p:sp>
        <p:nvSpPr>
          <p:cNvPr id="24" name="g2-b-d"/>
          <p:cNvSpPr/>
          <p:nvPr/>
        </p:nvSpPr>
        <p:spPr>
          <a:xfrm>
            <a:off x="3812540" y="22987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5" name="g2-b-mos"/>
          <p:cNvSpPr/>
          <p:nvPr/>
        </p:nvSpPr>
        <p:spPr>
          <a:xfrm>
            <a:off x="3683000" y="24765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26" name="g2-b-mos-label"/>
          <p:cNvSpPr txBox="1"/>
          <p:nvPr/>
        </p:nvSpPr>
        <p:spPr>
          <a:xfrm>
            <a:off x="3683000" y="2476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JetBrains Mono"/>
                <a:ea typeface="JetBrains Mono"/>
              </a:rPr>
              <a:t>M</a:t>
            </a:r>
            <a:endParaRPr lang="en-US" sz="900" noProof="1"/>
          </a:p>
        </p:txBody>
      </p:sp>
      <p:sp>
        <p:nvSpPr>
          <p:cNvPr id="27" name="g2-b-s"/>
          <p:cNvSpPr/>
          <p:nvPr/>
        </p:nvSpPr>
        <p:spPr>
          <a:xfrm>
            <a:off x="3812540" y="27559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8" name="g2-b-g"/>
          <p:cNvSpPr/>
          <p:nvPr/>
        </p:nvSpPr>
        <p:spPr>
          <a:xfrm>
            <a:off x="3530600" y="26060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29" name="g2-arrow"/>
          <p:cNvSpPr/>
          <p:nvPr>
            <p:extLst>
              <p:ext uri="{F5677B7D-0D2A-4D9B-9A5C-6D8D7D0E5A5D}">
                <pptd:line encoding="base64url">eyJ2aWV3Qm94IjpbMjAsMl0sInBvaW50cyI6IjAsMSAyMCwxIn0</pptd:line>
              </p:ext>
            </p:extLst>
          </p:nvPr>
        </p:nvSpPr>
        <p:spPr>
          <a:xfrm>
            <a:off x="4114800" y="2603500"/>
            <a:ext cx="254000" cy="25400"/>
          </a:xfrm>
          <a:custGeom>
            <a:avLst/>
            <a:gdLst/>
            <a:ahLst/>
            <a:cxnLst/>
            <a:rect l="l" t="t" r="r" b="b"/>
            <a:pathLst>
              <a:path w="20" h="2">
                <a:moveTo>
                  <a:pt x="0" y="1"/>
                </a:moveTo>
                <a:lnTo>
                  <a:pt x="20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30" name="g2-a-d"/>
          <p:cNvSpPr/>
          <p:nvPr/>
        </p:nvSpPr>
        <p:spPr>
          <a:xfrm>
            <a:off x="5171440" y="19050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31" name="g2-a-m1"/>
          <p:cNvSpPr/>
          <p:nvPr/>
        </p:nvSpPr>
        <p:spPr>
          <a:xfrm>
            <a:off x="5041900" y="20574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32" name="g2-a-m1-label"/>
          <p:cNvSpPr txBox="1"/>
          <p:nvPr/>
        </p:nvSpPr>
        <p:spPr>
          <a:xfrm>
            <a:off x="5041900" y="205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JetBrains Mono"/>
                <a:ea typeface="JetBrains Mono"/>
              </a:rPr>
              <a:t>M1</a:t>
            </a:r>
            <a:endParaRPr lang="en-US" sz="800" noProof="1"/>
          </a:p>
        </p:txBody>
      </p:sp>
      <p:sp>
        <p:nvSpPr>
          <p:cNvPr id="33" name="g2-a-node"/>
          <p:cNvSpPr/>
          <p:nvPr/>
        </p:nvSpPr>
        <p:spPr>
          <a:xfrm>
            <a:off x="5171440" y="23368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34" name="g2-a-dot"/>
          <p:cNvSpPr/>
          <p:nvPr/>
        </p:nvSpPr>
        <p:spPr>
          <a:xfrm>
            <a:off x="5146040" y="24079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35" name="g2-a-m2"/>
          <p:cNvSpPr/>
          <p:nvPr/>
        </p:nvSpPr>
        <p:spPr>
          <a:xfrm>
            <a:off x="5041900" y="2514600"/>
            <a:ext cx="279400" cy="279400"/>
          </a:xfrm>
          <a:prstGeom prst="rect">
            <a:avLst/>
          </a:prstGeom>
          <a:solidFill>
            <a:srgbClr val="ECE8DD"/>
          </a:solidFill>
          <a:ln w="15240">
            <a:solidFill>
              <a:srgbClr val="1B2A4A"/>
            </a:solidFill>
          </a:ln>
        </p:spPr>
      </p:sp>
      <p:sp>
        <p:nvSpPr>
          <p:cNvPr id="36" name="g2-a-m2-label"/>
          <p:cNvSpPr txBox="1"/>
          <p:nvPr/>
        </p:nvSpPr>
        <p:spPr>
          <a:xfrm>
            <a:off x="5041900" y="25146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B4632C"/>
                </a:solidFill>
                <a:latin typeface="JetBrains Mono"/>
                <a:ea typeface="JetBrains Mono"/>
              </a:rPr>
              <a:t>M2</a:t>
            </a:r>
            <a:endParaRPr lang="en-US" sz="800" noProof="1"/>
          </a:p>
        </p:txBody>
      </p:sp>
      <p:sp>
        <p:nvSpPr>
          <p:cNvPr id="37" name="g2-a-s"/>
          <p:cNvSpPr/>
          <p:nvPr/>
        </p:nvSpPr>
        <p:spPr>
          <a:xfrm>
            <a:off x="5171440" y="27940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38" name="g2-a-g1"/>
          <p:cNvSpPr/>
          <p:nvPr/>
        </p:nvSpPr>
        <p:spPr>
          <a:xfrm>
            <a:off x="4889500" y="21869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39" name="g2-a-g2"/>
          <p:cNvSpPr/>
          <p:nvPr/>
        </p:nvSpPr>
        <p:spPr>
          <a:xfrm>
            <a:off x="4889500" y="26441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0" name="g2-rule"/>
          <p:cNvSpPr txBox="1"/>
          <p:nvPr/>
        </p:nvSpPr>
        <p:spPr>
          <a:xfrm>
            <a:off x="3505200" y="3479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4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串联同极性、不同型号 MOS；原 MOS 的 Gate 功能连接保持不变</a:t>
            </a:r>
            <a:endParaRPr lang="en-US" sz="1050" noProof="1"/>
          </a:p>
        </p:txBody>
      </p:sp>
      <p:sp>
        <p:nvSpPr>
          <p:cNvPr id="41" name="g3-name"/>
          <p:cNvSpPr txBox="1"/>
          <p:nvPr/>
        </p:nvSpPr>
        <p:spPr>
          <a:xfrm>
            <a:off x="6197600" y="1549400"/>
            <a:ext cx="24892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300" noProof="1" b="1">
                <a:solidFill>
                  <a:srgbClr val="1B2A4A"/>
                </a:solidFill>
                <a:latin typeface="MiSans"/>
                <a:ea typeface="MiSans"/>
              </a:rPr>
              <a:t>MOS 串联电阻</a:t>
            </a:r>
            <a:endParaRPr lang="en-US" sz="1300" noProof="1"/>
          </a:p>
        </p:txBody>
      </p:sp>
      <p:sp>
        <p:nvSpPr>
          <p:cNvPr id="42" name="g3-b-d"/>
          <p:cNvSpPr/>
          <p:nvPr/>
        </p:nvSpPr>
        <p:spPr>
          <a:xfrm>
            <a:off x="6504940" y="22987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3" name="g3-b-mos"/>
          <p:cNvSpPr/>
          <p:nvPr/>
        </p:nvSpPr>
        <p:spPr>
          <a:xfrm>
            <a:off x="6375400" y="24765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44" name="g3-b-mos-label"/>
          <p:cNvSpPr txBox="1"/>
          <p:nvPr/>
        </p:nvSpPr>
        <p:spPr>
          <a:xfrm>
            <a:off x="6375400" y="2476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JetBrains Mono"/>
                <a:ea typeface="JetBrains Mono"/>
              </a:rPr>
              <a:t>M</a:t>
            </a:r>
            <a:endParaRPr lang="en-US" sz="900" noProof="1"/>
          </a:p>
        </p:txBody>
      </p:sp>
      <p:sp>
        <p:nvSpPr>
          <p:cNvPr id="45" name="g3-b-s"/>
          <p:cNvSpPr/>
          <p:nvPr/>
        </p:nvSpPr>
        <p:spPr>
          <a:xfrm>
            <a:off x="6504940" y="27559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6" name="g3-b-g"/>
          <p:cNvSpPr/>
          <p:nvPr/>
        </p:nvSpPr>
        <p:spPr>
          <a:xfrm>
            <a:off x="6223000" y="26060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7" name="g3-arrow"/>
          <p:cNvSpPr/>
          <p:nvPr>
            <p:extLst>
              <p:ext uri="{F5677B7D-0D2A-4D9B-9A5C-6D8D7D0E5A5D}">
                <pptd:line encoding="base64url">eyJ2aWV3Qm94IjpbMjAsMl0sInBvaW50cyI6IjAsMSAyMCwxIn0</pptd:line>
              </p:ext>
            </p:extLst>
          </p:nvPr>
        </p:nvSpPr>
        <p:spPr>
          <a:xfrm>
            <a:off x="6807200" y="2603500"/>
            <a:ext cx="254000" cy="25400"/>
          </a:xfrm>
          <a:custGeom>
            <a:avLst/>
            <a:gdLst/>
            <a:ahLst/>
            <a:cxnLst/>
            <a:rect l="l" t="t" r="r" b="b"/>
            <a:pathLst>
              <a:path w="20" h="2">
                <a:moveTo>
                  <a:pt x="0" y="1"/>
                </a:moveTo>
                <a:lnTo>
                  <a:pt x="20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48" name="g3-a-d"/>
          <p:cNvSpPr/>
          <p:nvPr/>
        </p:nvSpPr>
        <p:spPr>
          <a:xfrm>
            <a:off x="7863840" y="19304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49" name="g3-a-m"/>
          <p:cNvSpPr/>
          <p:nvPr/>
        </p:nvSpPr>
        <p:spPr>
          <a:xfrm>
            <a:off x="7734300" y="20828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50" name="g3-a-m-label"/>
          <p:cNvSpPr txBox="1"/>
          <p:nvPr/>
        </p:nvSpPr>
        <p:spPr>
          <a:xfrm>
            <a:off x="7734300" y="2082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JetBrains Mono"/>
                <a:ea typeface="JetBrains Mono"/>
              </a:rPr>
              <a:t>M</a:t>
            </a:r>
            <a:endParaRPr lang="en-US" sz="900" noProof="1"/>
          </a:p>
        </p:txBody>
      </p:sp>
      <p:sp>
        <p:nvSpPr>
          <p:cNvPr id="51" name="g3-a-wire"/>
          <p:cNvSpPr/>
          <p:nvPr/>
        </p:nvSpPr>
        <p:spPr>
          <a:xfrm>
            <a:off x="7863840" y="23622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52" name="g3-a-dot"/>
          <p:cNvSpPr/>
          <p:nvPr/>
        </p:nvSpPr>
        <p:spPr>
          <a:xfrm>
            <a:off x="7838440" y="24333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3" name="g3-a-r"/>
          <p:cNvSpPr/>
          <p:nvPr/>
        </p:nvSpPr>
        <p:spPr>
          <a:xfrm>
            <a:off x="7772400" y="2514600"/>
            <a:ext cx="203200" cy="33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B4632C"/>
            </a:solidFill>
          </a:ln>
        </p:spPr>
      </p:sp>
      <p:sp>
        <p:nvSpPr>
          <p:cNvPr id="54" name="g3-a-r-label"/>
          <p:cNvSpPr txBox="1"/>
          <p:nvPr/>
        </p:nvSpPr>
        <p:spPr>
          <a:xfrm>
            <a:off x="7772400" y="2514600"/>
            <a:ext cx="203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B4632C"/>
                </a:solidFill>
                <a:latin typeface="JetBrains Mono"/>
                <a:ea typeface="JetBrains Mono"/>
              </a:rPr>
              <a:t>R</a:t>
            </a:r>
            <a:endParaRPr lang="en-US" sz="900" noProof="1"/>
          </a:p>
        </p:txBody>
      </p:sp>
      <p:sp>
        <p:nvSpPr>
          <p:cNvPr id="55" name="g3-a-s"/>
          <p:cNvSpPr/>
          <p:nvPr/>
        </p:nvSpPr>
        <p:spPr>
          <a:xfrm>
            <a:off x="7863840" y="2844800"/>
            <a:ext cx="20320" cy="1524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56" name="g3-a-g"/>
          <p:cNvSpPr/>
          <p:nvPr/>
        </p:nvSpPr>
        <p:spPr>
          <a:xfrm>
            <a:off x="7581900" y="22123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57" name="g3-rule"/>
          <p:cNvSpPr txBox="1"/>
          <p:nvPr/>
        </p:nvSpPr>
        <p:spPr>
          <a:xfrm>
            <a:off x="6197600" y="3479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4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保留原 MOS，Source 路径串联真实 PDK 电阻，阻值用户可设</a:t>
            </a:r>
            <a:endParaRPr lang="en-US" sz="1050" noProof="1"/>
          </a:p>
        </p:txBody>
      </p:sp>
      <p:sp>
        <p:nvSpPr>
          <p:cNvPr id="58" name="g4-name"/>
          <p:cNvSpPr txBox="1"/>
          <p:nvPr/>
        </p:nvSpPr>
        <p:spPr>
          <a:xfrm>
            <a:off x="8890000" y="1549400"/>
            <a:ext cx="24892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300" noProof="1" b="1">
                <a:solidFill>
                  <a:srgbClr val="1B2A4A"/>
                </a:solidFill>
                <a:latin typeface="MiSans"/>
                <a:ea typeface="MiSans"/>
              </a:rPr>
              <a:t>多级 MOS Stack</a:t>
            </a:r>
            <a:endParaRPr lang="en-US" sz="1300" noProof="1"/>
          </a:p>
        </p:txBody>
      </p:sp>
      <p:sp>
        <p:nvSpPr>
          <p:cNvPr id="59" name="g4-b-d"/>
          <p:cNvSpPr/>
          <p:nvPr/>
        </p:nvSpPr>
        <p:spPr>
          <a:xfrm>
            <a:off x="9197340" y="22987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0" name="g4-b-mos"/>
          <p:cNvSpPr/>
          <p:nvPr/>
        </p:nvSpPr>
        <p:spPr>
          <a:xfrm>
            <a:off x="9067800" y="24765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61" name="g4-b-mos-label"/>
          <p:cNvSpPr txBox="1"/>
          <p:nvPr/>
        </p:nvSpPr>
        <p:spPr>
          <a:xfrm>
            <a:off x="9067800" y="2476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00" noProof="1">
                <a:solidFill>
                  <a:srgbClr val="1B2A4A"/>
                </a:solidFill>
                <a:latin typeface="JetBrains Mono"/>
                <a:ea typeface="JetBrains Mono"/>
              </a:rPr>
              <a:t>M</a:t>
            </a:r>
            <a:endParaRPr lang="en-US" sz="900" noProof="1"/>
          </a:p>
        </p:txBody>
      </p:sp>
      <p:sp>
        <p:nvSpPr>
          <p:cNvPr id="62" name="g4-b-s"/>
          <p:cNvSpPr/>
          <p:nvPr/>
        </p:nvSpPr>
        <p:spPr>
          <a:xfrm>
            <a:off x="9197340" y="2755900"/>
            <a:ext cx="20320" cy="1778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3" name="g4-b-g"/>
          <p:cNvSpPr/>
          <p:nvPr/>
        </p:nvSpPr>
        <p:spPr>
          <a:xfrm>
            <a:off x="8915400" y="2606040"/>
            <a:ext cx="152400" cy="2032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4" name="g4-arrow"/>
          <p:cNvSpPr/>
          <p:nvPr>
            <p:extLst>
              <p:ext uri="{F5677B7D-0D2A-4D9B-9A5C-6D8D7D0E5A5D}">
                <pptd:line encoding="base64url">eyJ2aWV3Qm94IjpbMjAsMl0sInBvaW50cyI6IjAsMSAyMCwxIn0</pptd:line>
              </p:ext>
            </p:extLst>
          </p:nvPr>
        </p:nvSpPr>
        <p:spPr>
          <a:xfrm>
            <a:off x="9499600" y="2603500"/>
            <a:ext cx="254000" cy="25400"/>
          </a:xfrm>
          <a:custGeom>
            <a:avLst/>
            <a:gdLst/>
            <a:ahLst/>
            <a:cxnLst/>
            <a:rect l="l" t="t" r="r" b="b"/>
            <a:pathLst>
              <a:path w="20" h="2">
                <a:moveTo>
                  <a:pt x="0" y="1"/>
                </a:moveTo>
                <a:lnTo>
                  <a:pt x="20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65" name="g4-a-d"/>
          <p:cNvSpPr/>
          <p:nvPr/>
        </p:nvSpPr>
        <p:spPr>
          <a:xfrm>
            <a:off x="10556240" y="1854200"/>
            <a:ext cx="20320" cy="1270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6" name="g4-a-m1"/>
          <p:cNvSpPr/>
          <p:nvPr/>
        </p:nvSpPr>
        <p:spPr>
          <a:xfrm>
            <a:off x="10426700" y="19812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67" name="g4-a-m1-label"/>
          <p:cNvSpPr txBox="1"/>
          <p:nvPr/>
        </p:nvSpPr>
        <p:spPr>
          <a:xfrm>
            <a:off x="10426700" y="19812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JetBrains Mono"/>
                <a:ea typeface="JetBrains Mono"/>
              </a:rPr>
              <a:t>M1</a:t>
            </a:r>
            <a:endParaRPr lang="en-US" sz="800" noProof="1"/>
          </a:p>
        </p:txBody>
      </p:sp>
      <p:sp>
        <p:nvSpPr>
          <p:cNvPr id="68" name="g4-a-w1"/>
          <p:cNvSpPr/>
          <p:nvPr/>
        </p:nvSpPr>
        <p:spPr>
          <a:xfrm>
            <a:off x="10556240" y="2260600"/>
            <a:ext cx="20320" cy="10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69" name="g4-a-dot1"/>
          <p:cNvSpPr/>
          <p:nvPr/>
        </p:nvSpPr>
        <p:spPr>
          <a:xfrm>
            <a:off x="10530840" y="22809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0" name="g4-a-m2"/>
          <p:cNvSpPr/>
          <p:nvPr/>
        </p:nvSpPr>
        <p:spPr>
          <a:xfrm>
            <a:off x="10426700" y="23622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71" name="g4-a-m2-label"/>
          <p:cNvSpPr txBox="1"/>
          <p:nvPr/>
        </p:nvSpPr>
        <p:spPr>
          <a:xfrm>
            <a:off x="10426700" y="23622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JetBrains Mono"/>
                <a:ea typeface="JetBrains Mono"/>
              </a:rPr>
              <a:t>M2</a:t>
            </a:r>
            <a:endParaRPr lang="en-US" sz="800" noProof="1"/>
          </a:p>
        </p:txBody>
      </p:sp>
      <p:sp>
        <p:nvSpPr>
          <p:cNvPr id="72" name="g4-a-w2"/>
          <p:cNvSpPr/>
          <p:nvPr/>
        </p:nvSpPr>
        <p:spPr>
          <a:xfrm>
            <a:off x="10556240" y="2641600"/>
            <a:ext cx="20320" cy="10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73" name="g4-a-dot2"/>
          <p:cNvSpPr/>
          <p:nvPr/>
        </p:nvSpPr>
        <p:spPr>
          <a:xfrm>
            <a:off x="10530840" y="2661920"/>
            <a:ext cx="71120" cy="711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4" name="g4-a-m3"/>
          <p:cNvSpPr/>
          <p:nvPr/>
        </p:nvSpPr>
        <p:spPr>
          <a:xfrm>
            <a:off x="10426700" y="2743200"/>
            <a:ext cx="2794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B2A4A"/>
            </a:solidFill>
          </a:ln>
        </p:spPr>
      </p:sp>
      <p:sp>
        <p:nvSpPr>
          <p:cNvPr id="75" name="g4-a-m3-label"/>
          <p:cNvSpPr txBox="1"/>
          <p:nvPr/>
        </p:nvSpPr>
        <p:spPr>
          <a:xfrm>
            <a:off x="10426700" y="27432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>
                <a:solidFill>
                  <a:srgbClr val="1B2A4A"/>
                </a:solidFill>
                <a:latin typeface="JetBrains Mono"/>
                <a:ea typeface="JetBrains Mono"/>
              </a:rPr>
              <a:t>M3</a:t>
            </a:r>
            <a:endParaRPr lang="en-US" sz="800" noProof="1"/>
          </a:p>
        </p:txBody>
      </p:sp>
      <p:sp>
        <p:nvSpPr>
          <p:cNvPr id="76" name="g4-a-s"/>
          <p:cNvSpPr/>
          <p:nvPr/>
        </p:nvSpPr>
        <p:spPr>
          <a:xfrm>
            <a:off x="10556240" y="3022600"/>
            <a:ext cx="20320" cy="127000"/>
          </a:xfrm>
          <a:prstGeom prst="rect">
            <a:avLst/>
          </a:prstGeom>
          <a:solidFill>
            <a:srgbClr val="1B2A4A"/>
          </a:solidFill>
          <a:ln>
            <a:noFill/>
          </a:ln>
        </p:spPr>
      </p:sp>
      <p:sp>
        <p:nvSpPr>
          <p:cNvPr id="77" name="g4-a-bus"/>
          <p:cNvSpPr/>
          <p:nvPr/>
        </p:nvSpPr>
        <p:spPr>
          <a:xfrm>
            <a:off x="10226040" y="2120900"/>
            <a:ext cx="20320" cy="7620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8" name="g4-a-g1"/>
          <p:cNvSpPr/>
          <p:nvPr/>
        </p:nvSpPr>
        <p:spPr>
          <a:xfrm>
            <a:off x="10236200" y="2110740"/>
            <a:ext cx="190500" cy="2032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9" name="g4-a-g2"/>
          <p:cNvSpPr/>
          <p:nvPr/>
        </p:nvSpPr>
        <p:spPr>
          <a:xfrm>
            <a:off x="10236200" y="2491740"/>
            <a:ext cx="190500" cy="2032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80" name="g4-a-g3"/>
          <p:cNvSpPr/>
          <p:nvPr/>
        </p:nvSpPr>
        <p:spPr>
          <a:xfrm>
            <a:off x="10236200" y="2872740"/>
            <a:ext cx="190500" cy="2032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81" name="g4-a-xn"/>
          <p:cNvSpPr txBox="1"/>
          <p:nvPr/>
        </p:nvSpPr>
        <p:spPr>
          <a:xfrm>
            <a:off x="10820400" y="2413000"/>
            <a:ext cx="4318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7C8490"/>
                </a:solidFill>
                <a:latin typeface="JetBrains Mono"/>
                <a:ea typeface="JetBrains Mono"/>
              </a:rPr>
              <a:t>×N</a:t>
            </a:r>
            <a:endParaRPr lang="en-US" sz="1000" noProof="1"/>
          </a:p>
        </p:txBody>
      </p:sp>
      <p:sp>
        <p:nvSpPr>
          <p:cNvPr id="82" name="g4-rule"/>
          <p:cNvSpPr txBox="1"/>
          <p:nvPr/>
        </p:nvSpPr>
        <p:spPr>
          <a:xfrm>
            <a:off x="8890000" y="3479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45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各级共用原 Gate，继承原器件参数与 Bulk 连接</a:t>
            </a:r>
            <a:endParaRPr lang="en-US" sz="1050" noProof="1"/>
          </a:p>
        </p:txBody>
      </p:sp>
      <p:sp>
        <p:nvSpPr>
          <p:cNvPr id="83" name="band-line"/>
          <p:cNvSpPr/>
          <p:nvPr/>
        </p:nvSpPr>
        <p:spPr>
          <a:xfrm>
            <a:off x="812800" y="4267200"/>
            <a:ext cx="105664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84" name="vbias-bar"/>
          <p:cNvSpPr/>
          <p:nvPr/>
        </p:nvSpPr>
        <p:spPr>
          <a:xfrm>
            <a:off x="812800" y="45466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85" name="vbias-h2"/>
          <p:cNvSpPr txBox="1"/>
          <p:nvPr/>
        </p:nvSpPr>
        <p:spPr>
          <a:xfrm>
            <a:off x="990600" y="4508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自动 VBIAS 方案</a:t>
            </a:r>
            <a:endParaRPr lang="en-US" sz="1400" noProof="1"/>
          </a:p>
        </p:txBody>
      </p:sp>
      <p:sp>
        <p:nvSpPr>
          <p:cNvPr id="86" name="vbias-body"/>
          <p:cNvSpPr txBox="1"/>
          <p:nvPr/>
        </p:nvSpPr>
        <p:spPr>
          <a:xfrm>
            <a:off x="812800" y="4876800"/>
            <a:ext cx="5384800" cy="132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每个 Cascode 独立生成 VBIAS CellView，不复用原电路 Bias 支路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模板器件由工具按当前 PDK 自动选择，不依赖固定器件名称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参数经直流工作点闭环求解，需提供外部参考电流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NMOS / PMOS 两套偏置生成模板</a:t>
            </a:r>
            <a:endParaRPr lang="en-US" sz="1100" noProof="1"/>
          </a:p>
        </p:txBody>
      </p:sp>
      <p:sp>
        <p:nvSpPr>
          <p:cNvPr id="87" name="rule-bar"/>
          <p:cNvSpPr/>
          <p:nvPr/>
        </p:nvSpPr>
        <p:spPr>
          <a:xfrm>
            <a:off x="6858000" y="45466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88" name="rule-h2"/>
          <p:cNvSpPr txBox="1"/>
          <p:nvPr/>
        </p:nvSpPr>
        <p:spPr>
          <a:xfrm>
            <a:off x="7035800" y="4508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设计约束</a:t>
            </a:r>
            <a:endParaRPr lang="en-US" sz="1400" noProof="1"/>
          </a:p>
        </p:txBody>
      </p:sp>
      <p:sp>
        <p:nvSpPr>
          <p:cNvPr id="89" name="rule-body"/>
          <p:cNvSpPr txBox="1"/>
          <p:nvPr/>
        </p:nvSpPr>
        <p:spPr>
          <a:xfrm>
            <a:off x="6858000" y="4876800"/>
            <a:ext cx="4521200" cy="132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源电路保持不变；器件极性、电压域、Bulk、尺寸与 CDF 参数均按 PDK 校验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每次变换封装为独立子 Cell，同一区域连续修改自动合并</a:t>
            </a:r>
            <a:endParaRPr lang="en-US" sz="1100" noProof="1"/>
          </a:p>
          <a:p>
            <a:pPr algn="l">
              <a:lnSpc>
                <a:spcPct val="17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多级网表回读全部一致，才输出 ready_for_sizing</a:t>
            </a:r>
            <a:endParaRPr lang="en-US" sz="1100" noProof="1"/>
          </a:p>
        </p:txBody>
      </p:sp>
      <p:sp>
        <p:nvSpPr>
          <p:cNvPr id="90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91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09 / 14</a:t>
            </a:r>
            <a:endParaRPr lang="en-US" sz="95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02 · 重点工作成果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实现与验证：同型 Cascode 真实电路链路已跑通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n1-box"/>
          <p:cNvSpPr/>
          <p:nvPr/>
        </p:nvSpPr>
        <p:spPr>
          <a:xfrm>
            <a:off x="812800" y="1676400"/>
            <a:ext cx="1930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6" name="n1-num"/>
          <p:cNvSpPr txBox="1"/>
          <p:nvPr/>
        </p:nvSpPr>
        <p:spPr>
          <a:xfrm>
            <a:off x="965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 b="1">
                <a:solidFill>
                  <a:srgbClr val="B4632C"/>
                </a:solidFill>
                <a:latin typeface="JetBrains Mono"/>
                <a:ea typeface="JetBrains Mono"/>
              </a:rPr>
              <a:t>01</a:t>
            </a:r>
            <a:endParaRPr lang="en-US" sz="1050" noProof="1"/>
          </a:p>
        </p:txBody>
      </p:sp>
      <p:sp>
        <p:nvSpPr>
          <p:cNvPr id="7" name="n1-name"/>
          <p:cNvSpPr txBox="1"/>
          <p:nvPr/>
        </p:nvSpPr>
        <p:spPr>
          <a:xfrm>
            <a:off x="965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1B2A4A"/>
                </a:solidFill>
                <a:latin typeface="MiSans"/>
                <a:ea typeface="MiSans"/>
              </a:rPr>
              <a:t>真实电路读取</a:t>
            </a:r>
            <a:endParaRPr lang="en-US" sz="1200" noProof="1"/>
          </a:p>
        </p:txBody>
      </p:sp>
      <p:sp>
        <p:nvSpPr>
          <p:cNvPr id="8" name="n1-sub"/>
          <p:cNvSpPr txBox="1"/>
          <p:nvPr/>
        </p:nvSpPr>
        <p:spPr>
          <a:xfrm>
            <a:off x="965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Virtuoso 网表 · 器件 · 坐标 · MOS 清单</a:t>
            </a:r>
            <a:endParaRPr lang="en-US" sz="900" noProof="1"/>
          </a:p>
        </p:txBody>
      </p:sp>
      <p:sp>
        <p:nvSpPr>
          <p:cNvPr id="9" name="arr1"/>
          <p:cNvSpPr/>
          <p:nvPr>
            <p:extLst>
              <p:ext uri="{F5677B7D-0D2A-4D9B-9A5C-6D8D7D0E5A5D}">
                <pptd:line encoding="base64url">eyJ2aWV3Qm94IjpbMTMsMl0sInBvaW50cyI6IjAsMSAxMywxIn0</pptd:line>
              </p:ext>
            </p:extLst>
          </p:nvPr>
        </p:nvSpPr>
        <p:spPr>
          <a:xfrm>
            <a:off x="2781300" y="2184400"/>
            <a:ext cx="165100" cy="25400"/>
          </a:xfrm>
          <a:custGeom>
            <a:avLst/>
            <a:gdLst/>
            <a:ahLst/>
            <a:cxnLst/>
            <a:rect l="l" t="t" r="r" b="b"/>
            <a:pathLst>
              <a:path w="13" h="2">
                <a:moveTo>
                  <a:pt x="0" y="1"/>
                </a:moveTo>
                <a:lnTo>
                  <a:pt x="13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10" name="n2-box"/>
          <p:cNvSpPr/>
          <p:nvPr/>
        </p:nvSpPr>
        <p:spPr>
          <a:xfrm>
            <a:off x="2971800" y="1676400"/>
            <a:ext cx="1930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11" name="n2-num"/>
          <p:cNvSpPr txBox="1"/>
          <p:nvPr/>
        </p:nvSpPr>
        <p:spPr>
          <a:xfrm>
            <a:off x="3124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 b="1">
                <a:solidFill>
                  <a:srgbClr val="B4632C"/>
                </a:solidFill>
                <a:latin typeface="JetBrains Mono"/>
                <a:ea typeface="JetBrains Mono"/>
              </a:rPr>
              <a:t>02</a:t>
            </a:r>
            <a:endParaRPr lang="en-US" sz="1050" noProof="1"/>
          </a:p>
        </p:txBody>
      </p:sp>
      <p:sp>
        <p:nvSpPr>
          <p:cNvPr id="12" name="n2-name"/>
          <p:cNvSpPr txBox="1"/>
          <p:nvPr/>
        </p:nvSpPr>
        <p:spPr>
          <a:xfrm>
            <a:off x="3124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1B2A4A"/>
                </a:solidFill>
                <a:latin typeface="MiSans"/>
                <a:ea typeface="MiSans"/>
              </a:rPr>
              <a:t>PDK 器件扫描</a:t>
            </a:r>
            <a:endParaRPr lang="en-US" sz="1200" noProof="1"/>
          </a:p>
        </p:txBody>
      </p:sp>
      <p:sp>
        <p:nvSpPr>
          <p:cNvPr id="13" name="n2-sub"/>
          <p:cNvSpPr txBox="1"/>
          <p:nvPr/>
        </p:nvSpPr>
        <p:spPr>
          <a:xfrm>
            <a:off x="3124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极性 / 电压域 / 参数范围</a:t>
            </a:r>
            <a:endParaRPr lang="en-US" sz="900" noProof="1"/>
          </a:p>
        </p:txBody>
      </p:sp>
      <p:sp>
        <p:nvSpPr>
          <p:cNvPr id="14" name="arr2"/>
          <p:cNvSpPr/>
          <p:nvPr>
            <p:extLst>
              <p:ext uri="{F5677B7D-0D2A-4D9B-9A5C-6D8D7D0E5A5D}">
                <pptd:line encoding="base64url">eyJ2aWV3Qm94IjpbMTMsMl0sInBvaW50cyI6IjAsMSAxMywxIn0</pptd:line>
              </p:ext>
            </p:extLst>
          </p:nvPr>
        </p:nvSpPr>
        <p:spPr>
          <a:xfrm>
            <a:off x="4940300" y="2184400"/>
            <a:ext cx="165100" cy="25400"/>
          </a:xfrm>
          <a:custGeom>
            <a:avLst/>
            <a:gdLst/>
            <a:ahLst/>
            <a:cxnLst/>
            <a:rect l="l" t="t" r="r" b="b"/>
            <a:pathLst>
              <a:path w="13" h="2">
                <a:moveTo>
                  <a:pt x="0" y="1"/>
                </a:moveTo>
                <a:lnTo>
                  <a:pt x="13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15" name="n3-box"/>
          <p:cNvSpPr/>
          <p:nvPr/>
        </p:nvSpPr>
        <p:spPr>
          <a:xfrm>
            <a:off x="5130800" y="1676400"/>
            <a:ext cx="1930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16" name="n3-num"/>
          <p:cNvSpPr txBox="1"/>
          <p:nvPr/>
        </p:nvSpPr>
        <p:spPr>
          <a:xfrm>
            <a:off x="5283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 b="1">
                <a:solidFill>
                  <a:srgbClr val="B4632C"/>
                </a:solidFill>
                <a:latin typeface="JetBrains Mono"/>
                <a:ea typeface="JetBrains Mono"/>
              </a:rPr>
              <a:t>03</a:t>
            </a:r>
            <a:endParaRPr lang="en-US" sz="1050" noProof="1"/>
          </a:p>
        </p:txBody>
      </p:sp>
      <p:sp>
        <p:nvSpPr>
          <p:cNvPr id="17" name="n3-name"/>
          <p:cNvSpPr txBox="1"/>
          <p:nvPr/>
        </p:nvSpPr>
        <p:spPr>
          <a:xfrm>
            <a:off x="5283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1B2A4A"/>
                </a:solidFill>
                <a:latin typeface="MiSans"/>
                <a:ea typeface="MiSans"/>
              </a:rPr>
              <a:t>结构变换与封装</a:t>
            </a:r>
            <a:endParaRPr lang="en-US" sz="1200" noProof="1"/>
          </a:p>
        </p:txBody>
      </p:sp>
      <p:sp>
        <p:nvSpPr>
          <p:cNvPr id="18" name="n3-sub"/>
          <p:cNvSpPr txBox="1"/>
          <p:nvPr/>
        </p:nvSpPr>
        <p:spPr>
          <a:xfrm>
            <a:off x="5283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四类变换 · 独立子 Cell</a:t>
            </a:r>
            <a:endParaRPr lang="en-US" sz="900" noProof="1"/>
          </a:p>
        </p:txBody>
      </p:sp>
      <p:sp>
        <p:nvSpPr>
          <p:cNvPr id="19" name="arr3"/>
          <p:cNvSpPr/>
          <p:nvPr>
            <p:extLst>
              <p:ext uri="{F5677B7D-0D2A-4D9B-9A5C-6D8D7D0E5A5D}">
                <pptd:line encoding="base64url">eyJ2aWV3Qm94IjpbMTMsMl0sInBvaW50cyI6IjAsMSAxMywxIn0</pptd:line>
              </p:ext>
            </p:extLst>
          </p:nvPr>
        </p:nvSpPr>
        <p:spPr>
          <a:xfrm>
            <a:off x="7099300" y="2184400"/>
            <a:ext cx="165100" cy="25400"/>
          </a:xfrm>
          <a:custGeom>
            <a:avLst/>
            <a:gdLst/>
            <a:ahLst/>
            <a:cxnLst/>
            <a:rect l="l" t="t" r="r" b="b"/>
            <a:pathLst>
              <a:path w="13" h="2">
                <a:moveTo>
                  <a:pt x="0" y="1"/>
                </a:moveTo>
                <a:lnTo>
                  <a:pt x="13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20" name="n4-box"/>
          <p:cNvSpPr/>
          <p:nvPr/>
        </p:nvSpPr>
        <p:spPr>
          <a:xfrm>
            <a:off x="7289800" y="1676400"/>
            <a:ext cx="1930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</p:sp>
      <p:sp>
        <p:nvSpPr>
          <p:cNvPr id="21" name="n4-num"/>
          <p:cNvSpPr txBox="1"/>
          <p:nvPr/>
        </p:nvSpPr>
        <p:spPr>
          <a:xfrm>
            <a:off x="7442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 b="1">
                <a:solidFill>
                  <a:srgbClr val="B4632C"/>
                </a:solidFill>
                <a:latin typeface="JetBrains Mono"/>
                <a:ea typeface="JetBrains Mono"/>
              </a:rPr>
              <a:t>04</a:t>
            </a:r>
            <a:endParaRPr lang="en-US" sz="1050" noProof="1"/>
          </a:p>
        </p:txBody>
      </p:sp>
      <p:sp>
        <p:nvSpPr>
          <p:cNvPr id="22" name="n4-name"/>
          <p:cNvSpPr txBox="1"/>
          <p:nvPr/>
        </p:nvSpPr>
        <p:spPr>
          <a:xfrm>
            <a:off x="7442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1B2A4A"/>
                </a:solidFill>
                <a:latin typeface="MiSans"/>
                <a:ea typeface="MiSans"/>
              </a:rPr>
              <a:t>多级回读校验</a:t>
            </a:r>
            <a:endParaRPr lang="en-US" sz="1200" noProof="1"/>
          </a:p>
        </p:txBody>
      </p:sp>
      <p:sp>
        <p:nvSpPr>
          <p:cNvPr id="23" name="n4-sub"/>
          <p:cNvSpPr txBox="1"/>
          <p:nvPr/>
        </p:nvSpPr>
        <p:spPr>
          <a:xfrm>
            <a:off x="7442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源电路不变 · 器件连接一致</a:t>
            </a:r>
            <a:endParaRPr lang="en-US" sz="900" noProof="1"/>
          </a:p>
        </p:txBody>
      </p:sp>
      <p:sp>
        <p:nvSpPr>
          <p:cNvPr id="24" name="arr4"/>
          <p:cNvSpPr/>
          <p:nvPr>
            <p:extLst>
              <p:ext uri="{F5677B7D-0D2A-4D9B-9A5C-6D8D7D0E5A5D}">
                <pptd:line encoding="base64url">eyJ2aWV3Qm94IjpbMTMsMl0sInBvaW50cyI6IjAsMSAxMywxIn0</pptd:line>
              </p:ext>
            </p:extLst>
          </p:nvPr>
        </p:nvSpPr>
        <p:spPr>
          <a:xfrm>
            <a:off x="9258300" y="2184400"/>
            <a:ext cx="165100" cy="25400"/>
          </a:xfrm>
          <a:custGeom>
            <a:avLst/>
            <a:gdLst/>
            <a:ahLst/>
            <a:cxnLst/>
            <a:rect l="l" t="t" r="r" b="b"/>
            <a:pathLst>
              <a:path w="13" h="2">
                <a:moveTo>
                  <a:pt x="0" y="1"/>
                </a:moveTo>
                <a:lnTo>
                  <a:pt x="13" y="1"/>
                </a:lnTo>
              </a:path>
            </a:pathLst>
          </a:custGeom>
          <a:noFill/>
          <a:ln w="19050" cap="rnd">
            <a:solidFill>
              <a:srgbClr val="B4632C"/>
            </a:solidFill>
            <a:round/>
            <a:tailEnd type="arrow"/>
          </a:ln>
        </p:spPr>
      </p:sp>
      <p:sp>
        <p:nvSpPr>
          <p:cNvPr id="25" name="n5-box"/>
          <p:cNvSpPr/>
          <p:nvPr/>
        </p:nvSpPr>
        <p:spPr>
          <a:xfrm>
            <a:off x="9448800" y="1676400"/>
            <a:ext cx="1930400" cy="1066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4632C"/>
            </a:solidFill>
          </a:ln>
        </p:spPr>
      </p:sp>
      <p:sp>
        <p:nvSpPr>
          <p:cNvPr id="26" name="n5-num"/>
          <p:cNvSpPr txBox="1"/>
          <p:nvPr/>
        </p:nvSpPr>
        <p:spPr>
          <a:xfrm>
            <a:off x="9601200" y="18034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50" noProof="1" b="1">
                <a:solidFill>
                  <a:srgbClr val="B4632C"/>
                </a:solidFill>
                <a:latin typeface="JetBrains Mono"/>
                <a:ea typeface="JetBrains Mono"/>
              </a:rPr>
              <a:t>05</a:t>
            </a:r>
            <a:endParaRPr lang="en-US" sz="1050" noProof="1"/>
          </a:p>
        </p:txBody>
      </p:sp>
      <p:sp>
        <p:nvSpPr>
          <p:cNvPr id="27" name="n5-name"/>
          <p:cNvSpPr txBox="1"/>
          <p:nvPr/>
        </p:nvSpPr>
        <p:spPr>
          <a:xfrm>
            <a:off x="9601200" y="2019300"/>
            <a:ext cx="1676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1B2A4A"/>
                </a:solidFill>
                <a:latin typeface="MiSans"/>
                <a:ea typeface="MiSans"/>
              </a:rPr>
              <a:t>派生电路输出</a:t>
            </a:r>
            <a:endParaRPr lang="en-US" sz="1200" noProof="1"/>
          </a:p>
        </p:txBody>
      </p:sp>
      <p:sp>
        <p:nvSpPr>
          <p:cNvPr id="28" name="n5-sub"/>
          <p:cNvSpPr txBox="1"/>
          <p:nvPr/>
        </p:nvSpPr>
        <p:spPr>
          <a:xfrm>
            <a:off x="9601200" y="22987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900" noProof="1">
                <a:solidFill>
                  <a:srgbClr val="7C8490"/>
                </a:solidFill>
                <a:latin typeface="MiSans"/>
                <a:ea typeface="MiSans"/>
              </a:rPr>
              <a:t>ready_for_sizing · 接入调优</a:t>
            </a:r>
            <a:endParaRPr lang="en-US" sz="900" noProof="1"/>
          </a:p>
        </p:txBody>
      </p:sp>
      <p:sp>
        <p:nvSpPr>
          <p:cNvPr id="29" name="ver-bar"/>
          <p:cNvSpPr/>
          <p:nvPr/>
        </p:nvSpPr>
        <p:spPr>
          <a:xfrm>
            <a:off x="812800" y="31242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30" name="ver-h2"/>
          <p:cNvSpPr txBox="1"/>
          <p:nvPr/>
        </p:nvSpPr>
        <p:spPr>
          <a:xfrm>
            <a:off x="990600" y="30861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真实电路验证进展</a:t>
            </a:r>
            <a:endParaRPr lang="en-US" sz="1400" noProof="1"/>
          </a:p>
        </p:txBody>
      </p:sp>
      <p:sp>
        <p:nvSpPr>
          <p:cNvPr id="31" name="ver-body"/>
          <p:cNvSpPr txBox="1"/>
          <p:nvPr/>
        </p:nvSpPr>
        <p:spPr>
          <a:xfrm>
            <a:off x="812800" y="3479800"/>
            <a:ext cx="55372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100" noProof="1" b="1">
                <a:solidFill>
                  <a:srgbClr val="B4632C"/>
                </a:solidFill>
                <a:latin typeface="MiSans"/>
                <a:ea typeface="MiSans"/>
              </a:rPr>
              <a:t>● 已跑通</a:t>
            </a: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　同型 Cascode 全链路：在真实 Capless LDO 电路 </a:t>
            </a:r>
            <a:r>
              <a:rPr lang="en-US" sz="1000" noProof="1">
                <a:solidFill>
                  <a:srgbClr val="2A3038"/>
                </a:solidFill>
                <a:latin typeface="JetBrains Mono"/>
                <a:ea typeface="JetBrains Mono"/>
              </a:rPr>
              <a:t>ocldo18to12_200ma_core</a:t>
            </a: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 上识别 59 个可处理 MOS；派生电路回读网表的串联关系、Gate / Bulk 连接均符合预期，源电路未被修改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100" noProof="1" b="1">
                <a:solidFill>
                  <a:srgbClr val="1B2A4A"/>
                </a:solidFill>
                <a:latin typeface="MiSans"/>
                <a:ea typeface="MiSans"/>
              </a:rPr>
              <a:t>◐ 进行中</a:t>
            </a: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　自动 VBIAS 电路生成与真实电路验证；封装 CellView 方案服务器真实环境复验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100" noProof="1" b="1">
                <a:solidFill>
                  <a:srgbClr val="7C8490"/>
                </a:solidFill>
                <a:latin typeface="MiSans"/>
                <a:ea typeface="MiSans"/>
              </a:rPr>
              <a:t>○ 待输入</a:t>
            </a: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　异型 Cascode 待 PDK / Case 提供允许组合的器件 master 后补正向验证</a:t>
            </a:r>
            <a:endParaRPr lang="en-US" sz="1100" noProof="1"/>
          </a:p>
        </p:txBody>
      </p:sp>
      <p:sp>
        <p:nvSpPr>
          <p:cNvPr id="32" name="qual-bar"/>
          <p:cNvSpPr/>
          <p:nvPr/>
        </p:nvSpPr>
        <p:spPr>
          <a:xfrm>
            <a:off x="6858000" y="31242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33" name="qual-h2"/>
          <p:cNvSpPr txBox="1"/>
          <p:nvPr/>
        </p:nvSpPr>
        <p:spPr>
          <a:xfrm>
            <a:off x="7035800" y="30861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工程质量机制</a:t>
            </a:r>
            <a:endParaRPr lang="en-US" sz="1400" noProof="1"/>
          </a:p>
        </p:txBody>
      </p:sp>
      <p:sp>
        <p:nvSpPr>
          <p:cNvPr id="34" name="qual-body"/>
          <p:cNvSpPr txBox="1"/>
          <p:nvPr/>
        </p:nvSpPr>
        <p:spPr>
          <a:xfrm>
            <a:off x="6858000" y="3479800"/>
            <a:ext cx="45212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暂存生成、整组发布、失败回退，运行失败不破坏已有结果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任务拆分开发 + 独立代码复核，修复电阻识别、Corner 校验、浮点溢出等边界问题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动态 PDK 器件目录：按工艺自动提取器件与参数范围，摆脱固定器件名与配对表依赖</a:t>
            </a:r>
            <a:endParaRPr lang="en-US" sz="1100" noProof="1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00" noProof="1">
                <a:solidFill>
                  <a:srgbClr val="2A3038"/>
                </a:solidFill>
                <a:latin typeface="MiSans"/>
                <a:ea typeface="MiSans"/>
              </a:rPr>
              <a:t>· 错误分类处理：Bench 缺失 / 仿真启动失败 / 结果文件不匹配</a:t>
            </a:r>
            <a:endParaRPr lang="en-US" sz="1100" noProof="1"/>
          </a:p>
        </p:txBody>
      </p:sp>
      <p:sp>
        <p:nvSpPr>
          <p:cNvPr id="35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36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10 / 14</a:t>
            </a:r>
            <a:endParaRPr lang="en-US" sz="95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host-num"/>
          <p:cNvSpPr txBox="1"/>
          <p:nvPr/>
        </p:nvSpPr>
        <p:spPr>
          <a:xfrm>
            <a:off x="7112000" y="381000"/>
            <a:ext cx="43180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15000" noProof="1" b="1">
                <a:solidFill>
                  <a:srgbClr val="FFFFFF">
                    <a:alpha val="4706"/>
                  </a:srgbClr>
                </a:solidFill>
                <a:latin typeface="思源宋体"/>
                <a:ea typeface="思源宋体"/>
              </a:rPr>
              <a:t>03</a:t>
            </a:r>
            <a:endParaRPr lang="en-US" sz="15000" noProof="1"/>
          </a:p>
        </p:txBody>
      </p:sp>
      <p:sp>
        <p:nvSpPr>
          <p:cNvPr id="3" name="trace"/>
          <p:cNvSpPr/>
          <p:nvPr>
            <p:extLst>
              <p:ext uri="{F5677B7D-0D2A-4D9B-9A5C-6D8D7D0E5A5D}">
                <pptd:line encoding="base64url">eyJ2aWV3Qm94IjpbMjc2LDcwXSwicG9pbnRzIjoiMCwxNSAxMDAsMTUgMTAwLDU1IDI3Niw1NSIsImN1cnZlIjoic2hhcnAifQ</pptd:line>
              </p:ext>
            </p:extLst>
          </p:nvPr>
        </p:nvSpPr>
        <p:spPr>
          <a:xfrm>
            <a:off x="7874000" y="4572000"/>
            <a:ext cx="3505200" cy="889000"/>
          </a:xfrm>
          <a:custGeom>
            <a:avLst/>
            <a:gdLst/>
            <a:ahLst/>
            <a:cxnLst/>
            <a:rect l="l" t="t" r="r" b="b"/>
            <a:pathLst>
              <a:path w="276" h="70">
                <a:moveTo>
                  <a:pt x="0" y="15"/>
                </a:moveTo>
                <a:lnTo>
                  <a:pt x="100" y="15"/>
                </a:lnTo>
                <a:lnTo>
                  <a:pt x="100" y="55"/>
                </a:lnTo>
                <a:lnTo>
                  <a:pt x="276" y="55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4" name="pad-a"/>
          <p:cNvSpPr/>
          <p:nvPr/>
        </p:nvSpPr>
        <p:spPr>
          <a:xfrm>
            <a:off x="7829550" y="47180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5" name="pad-b"/>
          <p:cNvSpPr/>
          <p:nvPr/>
        </p:nvSpPr>
        <p:spPr>
          <a:xfrm>
            <a:off x="11334750" y="52260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6" name="kicker"/>
          <p:cNvSpPr txBox="1"/>
          <p:nvPr/>
        </p:nvSpPr>
        <p:spPr>
          <a:xfrm>
            <a:off x="812800" y="2006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300" kern="0">
                <a:solidFill>
                  <a:srgbClr val="CC8354"/>
                </a:solidFill>
                <a:latin typeface="JetBrains Mono"/>
                <a:ea typeface="MiSans"/>
              </a:rPr>
              <a:t>SECTION 03</a:t>
            </a:r>
            <a:endParaRPr lang="en-US" sz="1100" noProof="1"/>
          </a:p>
        </p:txBody>
      </p:sp>
      <p:sp>
        <p:nvSpPr>
          <p:cNvPr id="7" name="title"/>
          <p:cNvSpPr txBox="1"/>
          <p:nvPr/>
        </p:nvSpPr>
        <p:spPr>
          <a:xfrm>
            <a:off x="812800" y="2336800"/>
            <a:ext cx="8128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3300" noProof="1" b="1">
                <a:solidFill>
                  <a:srgbClr val="F2EFE6"/>
                </a:solidFill>
                <a:latin typeface="思源宋体"/>
                <a:ea typeface="思源宋体"/>
              </a:rPr>
              <a:t>成长、不足与规划</a:t>
            </a:r>
            <a:endParaRPr lang="en-US" sz="3300" noProof="1"/>
          </a:p>
        </p:txBody>
      </p:sp>
      <p:sp>
        <p:nvSpPr>
          <p:cNvPr id="8" name="rule"/>
          <p:cNvSpPr/>
          <p:nvPr/>
        </p:nvSpPr>
        <p:spPr>
          <a:xfrm>
            <a:off x="812800" y="31242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9" name="list"/>
          <p:cNvSpPr txBox="1"/>
          <p:nvPr/>
        </p:nvSpPr>
        <p:spPr>
          <a:xfrm>
            <a:off x="812800" y="34798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>
                <a:solidFill>
                  <a:srgbClr val="B9C2D4"/>
                </a:solidFill>
                <a:latin typeface="MiSans"/>
                <a:ea typeface="MiSans"/>
              </a:rPr>
              <a:t>方法沉淀　·　能力短板　·　转正前计划</a:t>
            </a:r>
            <a:endParaRPr lang="en-US" sz="125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03 · 成长与规划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成长与不足：把解决问题的过程沉淀为方法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left-bar"/>
          <p:cNvSpPr/>
          <p:nvPr/>
        </p:nvSpPr>
        <p:spPr>
          <a:xfrm>
            <a:off x="812800" y="1638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6" name="left-h2"/>
          <p:cNvSpPr txBox="1"/>
          <p:nvPr/>
        </p:nvSpPr>
        <p:spPr>
          <a:xfrm>
            <a:off x="990600" y="16002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方法沉淀</a:t>
            </a:r>
            <a:endParaRPr lang="en-US" sz="1400" noProof="1"/>
          </a:p>
        </p:txBody>
      </p:sp>
      <p:sp>
        <p:nvSpPr>
          <p:cNvPr id="7" name="m1-num"/>
          <p:cNvSpPr txBox="1"/>
          <p:nvPr/>
        </p:nvSpPr>
        <p:spPr>
          <a:xfrm>
            <a:off x="812800" y="2057400"/>
            <a:ext cx="3302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B4632C"/>
                </a:solidFill>
                <a:latin typeface="JetBrains Mono"/>
                <a:ea typeface="JetBrains Mono"/>
              </a:rPr>
              <a:t>01</a:t>
            </a:r>
            <a:endParaRPr lang="en-US" sz="1300" noProof="1"/>
          </a:p>
        </p:txBody>
      </p:sp>
      <p:sp>
        <p:nvSpPr>
          <p:cNvPr id="8" name="m1-title"/>
          <p:cNvSpPr txBox="1"/>
          <p:nvPr/>
        </p:nvSpPr>
        <p:spPr>
          <a:xfrm>
            <a:off x="1193800" y="2070100"/>
            <a:ext cx="50038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2A3038"/>
                </a:solidFill>
                <a:latin typeface="MiSans"/>
                <a:ea typeface="MiSans"/>
              </a:rPr>
              <a:t>先摸清影响面，再动手改代码</a:t>
            </a:r>
            <a:endParaRPr lang="en-US" sz="1250" noProof="1"/>
          </a:p>
        </p:txBody>
      </p:sp>
      <p:sp>
        <p:nvSpPr>
          <p:cNvPr id="9" name="m1-desc"/>
          <p:cNvSpPr txBox="1"/>
          <p:nvPr/>
        </p:nvSpPr>
        <p:spPr>
          <a:xfrm>
            <a:off x="1193800" y="2336800"/>
            <a:ext cx="5003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曾因只改表面引入新问题；现在改动前先把模块调用链与上下游影响完整过一遍</a:t>
            </a:r>
            <a:endParaRPr lang="en-US" sz="1050" noProof="1"/>
          </a:p>
        </p:txBody>
      </p:sp>
      <p:sp>
        <p:nvSpPr>
          <p:cNvPr id="10" name="m2-num"/>
          <p:cNvSpPr txBox="1"/>
          <p:nvPr/>
        </p:nvSpPr>
        <p:spPr>
          <a:xfrm>
            <a:off x="812800" y="3048000"/>
            <a:ext cx="3302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B4632C"/>
                </a:solidFill>
                <a:latin typeface="JetBrains Mono"/>
                <a:ea typeface="JetBrains Mono"/>
              </a:rPr>
              <a:t>02</a:t>
            </a:r>
            <a:endParaRPr lang="en-US" sz="1300" noProof="1"/>
          </a:p>
        </p:txBody>
      </p:sp>
      <p:sp>
        <p:nvSpPr>
          <p:cNvPr id="11" name="m2-title"/>
          <p:cNvSpPr txBox="1"/>
          <p:nvPr/>
        </p:nvSpPr>
        <p:spPr>
          <a:xfrm>
            <a:off x="1193800" y="3060700"/>
            <a:ext cx="50038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2A3038"/>
                </a:solidFill>
                <a:latin typeface="MiSans"/>
                <a:ea typeface="MiSans"/>
              </a:rPr>
              <a:t>改他人代码，先与原作者确认</a:t>
            </a:r>
            <a:endParaRPr lang="en-US" sz="1250" noProof="1"/>
          </a:p>
        </p:txBody>
      </p:sp>
      <p:sp>
        <p:nvSpPr>
          <p:cNvPr id="12" name="m2-desc"/>
          <p:cNvSpPr txBox="1"/>
          <p:nvPr/>
        </p:nvSpPr>
        <p:spPr>
          <a:xfrm>
            <a:off x="1193800" y="3327400"/>
            <a:ext cx="5003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实现思路与当时的考虑文档里看不到，直接确认更可靠，也能避免返工</a:t>
            </a:r>
            <a:endParaRPr lang="en-US" sz="1050" noProof="1"/>
          </a:p>
        </p:txBody>
      </p:sp>
      <p:sp>
        <p:nvSpPr>
          <p:cNvPr id="13" name="m3-num"/>
          <p:cNvSpPr txBox="1"/>
          <p:nvPr/>
        </p:nvSpPr>
        <p:spPr>
          <a:xfrm>
            <a:off x="812800" y="4038600"/>
            <a:ext cx="3302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B4632C"/>
                </a:solidFill>
                <a:latin typeface="JetBrains Mono"/>
                <a:ea typeface="JetBrains Mono"/>
              </a:rPr>
              <a:t>03</a:t>
            </a:r>
            <a:endParaRPr lang="en-US" sz="1300" noProof="1"/>
          </a:p>
        </p:txBody>
      </p:sp>
      <p:sp>
        <p:nvSpPr>
          <p:cNvPr id="14" name="m3-title"/>
          <p:cNvSpPr txBox="1"/>
          <p:nvPr/>
        </p:nvSpPr>
        <p:spPr>
          <a:xfrm>
            <a:off x="1193800" y="4051300"/>
            <a:ext cx="50038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2A3038"/>
                </a:solidFill>
                <a:latin typeface="MiSans"/>
                <a:ea typeface="MiSans"/>
              </a:rPr>
              <a:t>踩坑与排查过程留记录</a:t>
            </a:r>
            <a:endParaRPr lang="en-US" sz="1250" noProof="1"/>
          </a:p>
        </p:txBody>
      </p:sp>
      <p:sp>
        <p:nvSpPr>
          <p:cNvPr id="15" name="m3-desc"/>
          <p:cNvSpPr txBox="1"/>
          <p:nvPr/>
        </p:nvSpPr>
        <p:spPr>
          <a:xfrm>
            <a:off x="1193800" y="4318000"/>
            <a:ext cx="5003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排查关键点与易错点成文沉淀，同类问题不再从头查起</a:t>
            </a:r>
            <a:endParaRPr lang="en-US" sz="1050" noProof="1"/>
          </a:p>
        </p:txBody>
      </p:sp>
      <p:sp>
        <p:nvSpPr>
          <p:cNvPr id="16" name="m4-num"/>
          <p:cNvSpPr txBox="1"/>
          <p:nvPr/>
        </p:nvSpPr>
        <p:spPr>
          <a:xfrm>
            <a:off x="812800" y="5029200"/>
            <a:ext cx="3302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B4632C"/>
                </a:solidFill>
                <a:latin typeface="JetBrains Mono"/>
                <a:ea typeface="JetBrains Mono"/>
              </a:rPr>
              <a:t>04</a:t>
            </a:r>
            <a:endParaRPr lang="en-US" sz="1300" noProof="1"/>
          </a:p>
        </p:txBody>
      </p:sp>
      <p:sp>
        <p:nvSpPr>
          <p:cNvPr id="17" name="m4-title"/>
          <p:cNvSpPr txBox="1"/>
          <p:nvPr/>
        </p:nvSpPr>
        <p:spPr>
          <a:xfrm>
            <a:off x="1193800" y="5041900"/>
            <a:ext cx="50038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2A3038"/>
                </a:solidFill>
                <a:latin typeface="MiSans"/>
                <a:ea typeface="MiSans"/>
              </a:rPr>
              <a:t>与 AI 协作：会问，更要会验</a:t>
            </a:r>
            <a:endParaRPr lang="en-US" sz="1250" noProof="1"/>
          </a:p>
        </p:txBody>
      </p:sp>
      <p:sp>
        <p:nvSpPr>
          <p:cNvPr id="18" name="m4-desc"/>
          <p:cNvSpPr txBox="1"/>
          <p:nvPr/>
        </p:nvSpPr>
        <p:spPr>
          <a:xfrm>
            <a:off x="1193800" y="5308600"/>
            <a:ext cx="50038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问题描述越清楚、上下文越足，AI 产出质量越好；生成结果必须自己验证后再合入，不盲目信任</a:t>
            </a:r>
            <a:endParaRPr lang="en-US" sz="1050" noProof="1"/>
          </a:p>
        </p:txBody>
      </p:sp>
      <p:sp>
        <p:nvSpPr>
          <p:cNvPr id="19" name="right-bar"/>
          <p:cNvSpPr/>
          <p:nvPr/>
        </p:nvSpPr>
        <p:spPr>
          <a:xfrm>
            <a:off x="6858000" y="1638300"/>
            <a:ext cx="50800" cy="1778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20" name="right-h2"/>
          <p:cNvSpPr txBox="1"/>
          <p:nvPr/>
        </p:nvSpPr>
        <p:spPr>
          <a:xfrm>
            <a:off x="7035800" y="16002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不足与改进</a:t>
            </a:r>
            <a:endParaRPr lang="en-US" sz="1400" noProof="1"/>
          </a:p>
        </p:txBody>
      </p:sp>
      <p:sp>
        <p:nvSpPr>
          <p:cNvPr id="21" name="w1-title"/>
          <p:cNvSpPr txBox="1"/>
          <p:nvPr/>
        </p:nvSpPr>
        <p:spPr>
          <a:xfrm>
            <a:off x="6858000" y="2070100"/>
            <a:ext cx="45212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2A3038"/>
                </a:solidFill>
                <a:latin typeface="MiSans"/>
                <a:ea typeface="MiSans"/>
              </a:rPr>
              <a:t>模拟电路功底仍浅</a:t>
            </a:r>
            <a:endParaRPr lang="en-US" sz="1250" noProof="1"/>
          </a:p>
        </p:txBody>
      </p:sp>
      <p:sp>
        <p:nvSpPr>
          <p:cNvPr id="22" name="w1-desc"/>
          <p:cNvSpPr txBox="1"/>
          <p:nvPr/>
        </p:nvSpPr>
        <p:spPr>
          <a:xfrm>
            <a:off x="6858000" y="2336800"/>
            <a:ext cx="45212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偏置、器件可靠性约束等理解不深 → 结合结构变换需求持续补专题，在场景中学</a:t>
            </a:r>
            <a:endParaRPr lang="en-US" sz="1050" noProof="1"/>
          </a:p>
        </p:txBody>
      </p:sp>
      <p:sp>
        <p:nvSpPr>
          <p:cNvPr id="23" name="w1-line"/>
          <p:cNvSpPr/>
          <p:nvPr/>
        </p:nvSpPr>
        <p:spPr>
          <a:xfrm>
            <a:off x="6858000" y="30480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24" name="w2-title"/>
          <p:cNvSpPr txBox="1"/>
          <p:nvPr/>
        </p:nvSpPr>
        <p:spPr>
          <a:xfrm>
            <a:off x="6858000" y="3238500"/>
            <a:ext cx="45212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2A3038"/>
                </a:solidFill>
                <a:latin typeface="MiSans"/>
                <a:ea typeface="MiSans"/>
              </a:rPr>
              <a:t>全流程视角不足</a:t>
            </a:r>
            <a:endParaRPr lang="en-US" sz="1250" noProof="1"/>
          </a:p>
        </p:txBody>
      </p:sp>
      <p:sp>
        <p:nvSpPr>
          <p:cNvPr id="25" name="w2-desc"/>
          <p:cNvSpPr txBox="1"/>
          <p:nvPr/>
        </p:nvSpPr>
        <p:spPr>
          <a:xfrm>
            <a:off x="6858000" y="3505200"/>
            <a:ext cx="45212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对 MAAU 上下游链路理解不够完整 → 借调优主流程接入补齐整体视图</a:t>
            </a:r>
            <a:endParaRPr lang="en-US" sz="1050" noProof="1"/>
          </a:p>
        </p:txBody>
      </p:sp>
      <p:sp>
        <p:nvSpPr>
          <p:cNvPr id="26" name="w2-line"/>
          <p:cNvSpPr/>
          <p:nvPr/>
        </p:nvSpPr>
        <p:spPr>
          <a:xfrm>
            <a:off x="6858000" y="42164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27" name="w3-title"/>
          <p:cNvSpPr txBox="1"/>
          <p:nvPr/>
        </p:nvSpPr>
        <p:spPr>
          <a:xfrm>
            <a:off x="6858000" y="4406900"/>
            <a:ext cx="45212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50" noProof="1" b="1">
                <a:solidFill>
                  <a:srgbClr val="2A3038"/>
                </a:solidFill>
                <a:latin typeface="MiSans"/>
                <a:ea typeface="MiSans"/>
              </a:rPr>
              <a:t>测试覆盖意识不够</a:t>
            </a:r>
            <a:endParaRPr lang="en-US" sz="1250" noProof="1"/>
          </a:p>
        </p:txBody>
      </p:sp>
      <p:sp>
        <p:nvSpPr>
          <p:cNvPr id="28" name="w3-desc"/>
          <p:cNvSpPr txBox="1"/>
          <p:nvPr/>
        </p:nvSpPr>
        <p:spPr>
          <a:xfrm>
            <a:off x="6858000" y="4673600"/>
            <a:ext cx="45212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050" noProof="1">
                <a:solidFill>
                  <a:srgbClr val="7C8490"/>
                </a:solidFill>
                <a:latin typeface="MiSans"/>
                <a:ea typeface="MiSans"/>
              </a:rPr>
              <a:t>曾因边界考虑不周返工 → 建立开发自检清单：边界、异常、回退场景必测</a:t>
            </a:r>
            <a:endParaRPr lang="en-US" sz="1050" noProof="1"/>
          </a:p>
        </p:txBody>
      </p:sp>
      <p:sp>
        <p:nvSpPr>
          <p:cNvPr id="29" name="w3-line"/>
          <p:cNvSpPr/>
          <p:nvPr/>
        </p:nvSpPr>
        <p:spPr>
          <a:xfrm>
            <a:off x="6858000" y="5384800"/>
            <a:ext cx="4521200" cy="127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30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31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12 / 14</a:t>
            </a:r>
            <a:endParaRPr lang="en-US" sz="95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318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50" kern="0">
                <a:solidFill>
                  <a:srgbClr val="B4632C"/>
                </a:solidFill>
                <a:latin typeface="JetBrains Mono"/>
                <a:ea typeface="MiSans"/>
              </a:rPr>
              <a:t>03 · 成长与规划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6858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500" noProof="1" b="1">
                <a:solidFill>
                  <a:srgbClr val="1B2A4A"/>
                </a:solidFill>
                <a:latin typeface="思源宋体"/>
                <a:ea typeface="思源宋体"/>
              </a:rPr>
              <a:t>后续计划：需求收口、主流程接入与转正准备</a:t>
            </a:r>
            <a:endParaRPr lang="en-US" sz="2500" noProof="1"/>
          </a:p>
        </p:txBody>
      </p:sp>
      <p:sp>
        <p:nvSpPr>
          <p:cNvPr id="4" name="title-rule"/>
          <p:cNvSpPr/>
          <p:nvPr/>
        </p:nvSpPr>
        <p:spPr>
          <a:xfrm>
            <a:off x="812800" y="1295400"/>
            <a:ext cx="558800" cy="38100"/>
          </a:xfrm>
          <a:prstGeom prst="rect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5" name="plan-line"/>
          <p:cNvSpPr/>
          <p:nvPr/>
        </p:nvSpPr>
        <p:spPr>
          <a:xfrm>
            <a:off x="1219200" y="1981200"/>
            <a:ext cx="20320" cy="3657600"/>
          </a:xfrm>
          <a:prstGeom prst="rect">
            <a:avLst/>
          </a:prstGeom>
          <a:solidFill>
            <a:srgbClr val="DDD8CC"/>
          </a:solidFill>
          <a:ln>
            <a:noFill/>
          </a:ln>
        </p:spPr>
      </p:sp>
      <p:sp>
        <p:nvSpPr>
          <p:cNvPr id="6" name="plan-dot-1"/>
          <p:cNvSpPr/>
          <p:nvPr/>
        </p:nvSpPr>
        <p:spPr>
          <a:xfrm>
            <a:off x="1158240" y="1981200"/>
            <a:ext cx="121920" cy="1219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7" name="plan-date-1"/>
          <p:cNvSpPr txBox="1"/>
          <p:nvPr/>
        </p:nvSpPr>
        <p:spPr>
          <a:xfrm>
            <a:off x="1524000" y="1930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>
                <a:solidFill>
                  <a:srgbClr val="B4632C"/>
                </a:solidFill>
                <a:latin typeface="JetBrains Mono"/>
                <a:ea typeface="MiSans"/>
              </a:rPr>
              <a:t>2026.10</a:t>
            </a:r>
            <a:endParaRPr lang="en-US" sz="1100" noProof="1"/>
          </a:p>
        </p:txBody>
      </p:sp>
      <p:sp>
        <p:nvSpPr>
          <p:cNvPr id="8" name="plan-title-1"/>
          <p:cNvSpPr txBox="1"/>
          <p:nvPr/>
        </p:nvSpPr>
        <p:spPr>
          <a:xfrm>
            <a:off x="1524000" y="2209800"/>
            <a:ext cx="584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需求收口</a:t>
            </a:r>
            <a:endParaRPr lang="en-US" sz="1400" noProof="1"/>
          </a:p>
        </p:txBody>
      </p:sp>
      <p:sp>
        <p:nvSpPr>
          <p:cNvPr id="9" name="plan-desc-1"/>
          <p:cNvSpPr txBox="1"/>
          <p:nvPr/>
        </p:nvSpPr>
        <p:spPr>
          <a:xfrm>
            <a:off x="1524000" y="25146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7C8490"/>
                </a:solidFill>
                <a:latin typeface="MiSans"/>
                <a:ea typeface="MiSans"/>
              </a:rPr>
              <a:t>完成自动 VBIAS 真实电路验证；补齐端子形式、参数边界与失败回退场景测试；输出操作文档与遗留问题清单</a:t>
            </a:r>
            <a:endParaRPr lang="en-US" sz="1100" noProof="1"/>
          </a:p>
        </p:txBody>
      </p:sp>
      <p:sp>
        <p:nvSpPr>
          <p:cNvPr id="10" name="plan-dot-2"/>
          <p:cNvSpPr/>
          <p:nvPr/>
        </p:nvSpPr>
        <p:spPr>
          <a:xfrm>
            <a:off x="1158240" y="3327400"/>
            <a:ext cx="121920" cy="1219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1" name="plan-date-2"/>
          <p:cNvSpPr txBox="1"/>
          <p:nvPr/>
        </p:nvSpPr>
        <p:spPr>
          <a:xfrm>
            <a:off x="1524000" y="3276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>
                <a:solidFill>
                  <a:srgbClr val="B4632C"/>
                </a:solidFill>
                <a:latin typeface="JetBrains Mono"/>
                <a:ea typeface="MiSans"/>
              </a:rPr>
              <a:t>2026.11 – 12</a:t>
            </a:r>
            <a:endParaRPr lang="en-US" sz="1100" noProof="1"/>
          </a:p>
        </p:txBody>
      </p:sp>
      <p:sp>
        <p:nvSpPr>
          <p:cNvPr id="12" name="plan-title-2"/>
          <p:cNvSpPr txBox="1"/>
          <p:nvPr/>
        </p:nvSpPr>
        <p:spPr>
          <a:xfrm>
            <a:off x="1524000" y="3556000"/>
            <a:ext cx="584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主流程接入</a:t>
            </a:r>
            <a:endParaRPr lang="en-US" sz="1400" noProof="1"/>
          </a:p>
        </p:txBody>
      </p:sp>
      <p:sp>
        <p:nvSpPr>
          <p:cNvPr id="13" name="plan-desc-2"/>
          <p:cNvSpPr txBox="1"/>
          <p:nvPr/>
        </p:nvSpPr>
        <p:spPr>
          <a:xfrm>
            <a:off x="1524000" y="38608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7C8490"/>
                </a:solidFill>
                <a:latin typeface="MiSans"/>
                <a:ea typeface="MiSans"/>
              </a:rPr>
              <a:t>接入 LDO 调优主流程并确认接口；异型 Cascode 待输入补齐后完成验证；持续处理 DTS 问题单</a:t>
            </a:r>
            <a:endParaRPr lang="en-US" sz="1100" noProof="1"/>
          </a:p>
        </p:txBody>
      </p:sp>
      <p:sp>
        <p:nvSpPr>
          <p:cNvPr id="14" name="plan-dot-3"/>
          <p:cNvSpPr/>
          <p:nvPr/>
        </p:nvSpPr>
        <p:spPr>
          <a:xfrm>
            <a:off x="1158240" y="4673600"/>
            <a:ext cx="121920" cy="121920"/>
          </a:xfrm>
          <a:prstGeom prst="ellipse">
            <a:avLst/>
          </a:prstGeom>
          <a:solidFill>
            <a:srgbClr val="B4632C"/>
          </a:solidFill>
          <a:ln>
            <a:noFill/>
          </a:ln>
        </p:spPr>
      </p:sp>
      <p:sp>
        <p:nvSpPr>
          <p:cNvPr id="15" name="plan-date-3"/>
          <p:cNvSpPr txBox="1"/>
          <p:nvPr/>
        </p:nvSpPr>
        <p:spPr>
          <a:xfrm>
            <a:off x="1524000" y="46228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>
                <a:solidFill>
                  <a:srgbClr val="B4632C"/>
                </a:solidFill>
                <a:latin typeface="JetBrains Mono"/>
                <a:ea typeface="MiSans"/>
              </a:rPr>
              <a:t>转正前</a:t>
            </a:r>
            <a:endParaRPr lang="en-US" sz="1100" noProof="1"/>
          </a:p>
        </p:txBody>
      </p:sp>
      <p:sp>
        <p:nvSpPr>
          <p:cNvPr id="16" name="plan-title-3"/>
          <p:cNvSpPr txBox="1"/>
          <p:nvPr/>
        </p:nvSpPr>
        <p:spPr>
          <a:xfrm>
            <a:off x="1524000" y="4902200"/>
            <a:ext cx="584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400" noProof="1" b="1">
                <a:solidFill>
                  <a:srgbClr val="1B2A4A"/>
                </a:solidFill>
                <a:latin typeface="MiSans"/>
                <a:ea typeface="MiSans"/>
              </a:rPr>
              <a:t>转正准备</a:t>
            </a:r>
            <a:endParaRPr lang="en-US" sz="1400" noProof="1"/>
          </a:p>
        </p:txBody>
      </p:sp>
      <p:sp>
        <p:nvSpPr>
          <p:cNvPr id="17" name="plan-desc-3"/>
          <p:cNvSpPr txBox="1"/>
          <p:nvPr/>
        </p:nvSpPr>
        <p:spPr>
          <a:xfrm>
            <a:off x="1524000" y="52070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100" noProof="1">
                <a:solidFill>
                  <a:srgbClr val="7C8490"/>
                </a:solidFill>
                <a:latin typeface="MiSans"/>
                <a:ea typeface="MiSans"/>
              </a:rPr>
              <a:t>通过软件科目一上机考试；完成半导体质量 C 培；具备独立承接调优需求开发与维护的能力</a:t>
            </a:r>
            <a:endParaRPr lang="en-US" sz="1100" noProof="1"/>
          </a:p>
        </p:txBody>
      </p:sp>
      <p:sp>
        <p:nvSpPr>
          <p:cNvPr id="18" name="goal-panel"/>
          <p:cNvSpPr/>
          <p:nvPr/>
        </p:nvSpPr>
        <p:spPr>
          <a:xfrm>
            <a:off x="8128000" y="1981200"/>
            <a:ext cx="3251200" cy="2108200"/>
          </a:xfrm>
          <a:prstGeom prst="rect">
            <a:avLst/>
          </a:prstGeom>
          <a:solidFill>
            <a:srgbClr val="ECE8DD"/>
          </a:solidFill>
          <a:ln>
            <a:noFill/>
          </a:ln>
        </p:spPr>
      </p:sp>
      <p:sp>
        <p:nvSpPr>
          <p:cNvPr id="19" name="goal-kicker"/>
          <p:cNvSpPr txBox="1"/>
          <p:nvPr/>
        </p:nvSpPr>
        <p:spPr>
          <a:xfrm>
            <a:off x="8382000" y="22098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100" noProof="1" b="1" spc="200" kern="0">
                <a:solidFill>
                  <a:srgbClr val="1B2A4A"/>
                </a:solidFill>
                <a:latin typeface="MiSans"/>
                <a:ea typeface="MiSans"/>
              </a:rPr>
              <a:t>转正目标</a:t>
            </a:r>
            <a:endParaRPr lang="en-US" sz="1100" noProof="1"/>
          </a:p>
        </p:txBody>
      </p:sp>
      <p:sp>
        <p:nvSpPr>
          <p:cNvPr id="20" name="goal-text"/>
          <p:cNvSpPr txBox="1"/>
          <p:nvPr/>
        </p:nvSpPr>
        <p:spPr>
          <a:xfrm>
            <a:off x="8382000" y="251460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70000"/>
              </a:lnSpc>
            </a:pPr>
            <a:r>
              <a:rPr lang="en-US" sz="1150" noProof="1">
                <a:solidFill>
                  <a:srgbClr val="2A3038"/>
                </a:solidFill>
                <a:latin typeface="MiSans"/>
                <a:ea typeface="MiSans"/>
              </a:rPr>
              <a:t>独立完成从需求分析、方案设计到开发验证的全流程，成为团队可依赖的调优功能开发责任人</a:t>
            </a:r>
            <a:endParaRPr lang="en-US" sz="1150" noProof="1"/>
          </a:p>
        </p:txBody>
      </p:sp>
      <p:sp>
        <p:nvSpPr>
          <p:cNvPr id="21" name="footer-left"/>
          <p:cNvSpPr txBox="1"/>
          <p:nvPr/>
        </p:nvSpPr>
        <p:spPr>
          <a:xfrm>
            <a:off x="812800" y="65024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物理设计工具部 · 新员工中期答辩</a:t>
            </a:r>
            <a:endParaRPr lang="en-US" sz="950" noProof="1"/>
          </a:p>
        </p:txBody>
      </p:sp>
      <p:sp>
        <p:nvSpPr>
          <p:cNvPr id="22" name="footer-right"/>
          <p:cNvSpPr txBox="1"/>
          <p:nvPr/>
        </p:nvSpPr>
        <p:spPr>
          <a:xfrm>
            <a:off x="10109200" y="6502400"/>
            <a:ext cx="1270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20000"/>
              </a:lnSpc>
            </a:pPr>
            <a:r>
              <a:rPr lang="en-US" sz="950" noProof="1">
                <a:solidFill>
                  <a:srgbClr val="A8AEB8"/>
                </a:solidFill>
                <a:latin typeface="JetBrains Mono"/>
                <a:ea typeface="MiSans"/>
              </a:rPr>
              <a:t>13 / 14</a:t>
            </a:r>
            <a:endParaRPr lang="en-US" sz="95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e-1"/>
          <p:cNvSpPr/>
          <p:nvPr>
            <p:extLst>
              <p:ext uri="{F5677B7D-0D2A-4D9B-9A5C-6D8D7D0E5A5D}">
                <pptd:line encoding="base64url">eyJ2aWV3Qm94IjpbMzE2LDgwXSwicG9pbnRzIjoiMCw4MCAxMzAsODAgMTMwLDIwIDMxNiwyMCIsImN1cnZlIjoic2hhcnAifQ</pptd:line>
              </p:ext>
            </p:extLst>
          </p:nvPr>
        </p:nvSpPr>
        <p:spPr>
          <a:xfrm>
            <a:off x="7366000" y="1524000"/>
            <a:ext cx="4013200" cy="1016000"/>
          </a:xfrm>
          <a:custGeom>
            <a:avLst/>
            <a:gdLst/>
            <a:ahLst/>
            <a:cxnLst/>
            <a:rect l="l" t="t" r="r" b="b"/>
            <a:pathLst>
              <a:path w="316" h="80">
                <a:moveTo>
                  <a:pt x="0" y="80"/>
                </a:moveTo>
                <a:lnTo>
                  <a:pt x="130" y="80"/>
                </a:lnTo>
                <a:lnTo>
                  <a:pt x="130" y="20"/>
                </a:lnTo>
                <a:lnTo>
                  <a:pt x="316" y="20"/>
                </a:lnTo>
              </a:path>
            </a:pathLst>
          </a:custGeom>
          <a:noFill/>
          <a:ln w="15240">
            <a:solidFill>
              <a:srgbClr val="FFFFFF">
                <a:alpha val="9020"/>
              </a:srgbClr>
            </a:solidFill>
          </a:ln>
        </p:spPr>
      </p:sp>
      <p:sp>
        <p:nvSpPr>
          <p:cNvPr id="3" name="pad-1a"/>
          <p:cNvSpPr/>
          <p:nvPr/>
        </p:nvSpPr>
        <p:spPr>
          <a:xfrm>
            <a:off x="7321550" y="24955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4" name="pad-1b"/>
          <p:cNvSpPr/>
          <p:nvPr/>
        </p:nvSpPr>
        <p:spPr>
          <a:xfrm>
            <a:off x="11334750" y="17335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5" name="trace-2"/>
          <p:cNvSpPr/>
          <p:nvPr>
            <p:extLst>
              <p:ext uri="{F5677B7D-0D2A-4D9B-9A5C-6D8D7D0E5A5D}">
                <pptd:line encoding="base64url">eyJ2aWV3Qm94IjpbMzAwLDYwXSwicG9pbnRzIjoiMCwxMCAxNDAsMTAgMTQwLDUwIDMwMCw1MCIsImN1cnZlIjoic2hhcnAifQ</pptd:line>
              </p:ext>
            </p:extLst>
          </p:nvPr>
        </p:nvSpPr>
        <p:spPr>
          <a:xfrm>
            <a:off x="1016000" y="4572000"/>
            <a:ext cx="3810000" cy="762000"/>
          </a:xfrm>
          <a:custGeom>
            <a:avLst/>
            <a:gdLst/>
            <a:ahLst/>
            <a:cxnLst/>
            <a:rect l="l" t="t" r="r" b="b"/>
            <a:pathLst>
              <a:path w="300" h="60">
                <a:moveTo>
                  <a:pt x="0" y="10"/>
                </a:moveTo>
                <a:lnTo>
                  <a:pt x="140" y="10"/>
                </a:lnTo>
                <a:lnTo>
                  <a:pt x="140" y="50"/>
                </a:lnTo>
                <a:lnTo>
                  <a:pt x="300" y="50"/>
                </a:lnTo>
              </a:path>
            </a:pathLst>
          </a:custGeom>
          <a:noFill/>
          <a:ln w="15240">
            <a:solidFill>
              <a:srgbClr val="FFFFFF">
                <a:alpha val="7059"/>
              </a:srgbClr>
            </a:solidFill>
          </a:ln>
        </p:spPr>
      </p:sp>
      <p:sp>
        <p:nvSpPr>
          <p:cNvPr id="6" name="pad-2a"/>
          <p:cNvSpPr/>
          <p:nvPr/>
        </p:nvSpPr>
        <p:spPr>
          <a:xfrm>
            <a:off x="971550" y="4654550"/>
            <a:ext cx="88900" cy="88900"/>
          </a:xfrm>
          <a:prstGeom prst="ellipse">
            <a:avLst/>
          </a:prstGeom>
          <a:solidFill>
            <a:srgbClr val="CC8356">
              <a:alpha val="40000"/>
            </a:srgbClr>
          </a:solidFill>
          <a:ln>
            <a:noFill/>
          </a:ln>
        </p:spPr>
      </p:sp>
      <p:sp>
        <p:nvSpPr>
          <p:cNvPr id="7" name="pad-2b"/>
          <p:cNvSpPr/>
          <p:nvPr/>
        </p:nvSpPr>
        <p:spPr>
          <a:xfrm>
            <a:off x="4781550" y="5162550"/>
            <a:ext cx="88900" cy="889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</p:sp>
      <p:sp>
        <p:nvSpPr>
          <p:cNvPr id="8" name="thanks"/>
          <p:cNvSpPr txBox="1"/>
          <p:nvPr/>
        </p:nvSpPr>
        <p:spPr>
          <a:xfrm>
            <a:off x="812800" y="2641600"/>
            <a:ext cx="105664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4000" noProof="1" b="1">
                <a:solidFill>
                  <a:srgbClr val="F2EFE6"/>
                </a:solidFill>
                <a:latin typeface="思源宋体"/>
                <a:ea typeface="思源宋体"/>
              </a:rPr>
              <a:t>感谢聆听</a:t>
            </a:r>
            <a:endParaRPr lang="en-US" sz="4000" noProof="1"/>
          </a:p>
        </p:txBody>
      </p:sp>
      <p:sp>
        <p:nvSpPr>
          <p:cNvPr id="9" name="rule"/>
          <p:cNvSpPr/>
          <p:nvPr/>
        </p:nvSpPr>
        <p:spPr>
          <a:xfrm>
            <a:off x="5740400" y="3581400"/>
            <a:ext cx="711200" cy="38100"/>
          </a:xfrm>
          <a:prstGeom prst="rect">
            <a:avLst/>
          </a:prstGeom>
          <a:solidFill>
            <a:srgbClr val="CC8354"/>
          </a:solidFill>
          <a:ln>
            <a:noFill/>
          </a:ln>
        </p:spPr>
      </p:sp>
      <p:sp>
        <p:nvSpPr>
          <p:cNvPr id="10" name="subtitle"/>
          <p:cNvSpPr txBox="1"/>
          <p:nvPr/>
        </p:nvSpPr>
        <p:spPr>
          <a:xfrm>
            <a:off x="812800" y="3810000"/>
            <a:ext cx="10566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400" noProof="1">
                <a:solidFill>
                  <a:srgbClr val="B9C2D4"/>
                </a:solidFill>
                <a:latin typeface="MiSans"/>
                <a:ea typeface="MiSans"/>
              </a:rPr>
              <a:t>恳请各位老师批评指正</a:t>
            </a:r>
            <a:endParaRPr lang="en-US" sz="1400" noProof="1"/>
          </a:p>
        </p:txBody>
      </p:sp>
      <p:sp>
        <p:nvSpPr>
          <p:cNvPr id="11" name="bottom"/>
          <p:cNvSpPr txBox="1"/>
          <p:nvPr/>
        </p:nvSpPr>
        <p:spPr>
          <a:xfrm>
            <a:off x="812800" y="5994400"/>
            <a:ext cx="105664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8E97AC"/>
                </a:solidFill>
                <a:latin typeface="JetBrains Mono"/>
                <a:ea typeface="MiSans"/>
              </a:rPr>
              <a:t>周可玮 · 物理设计工具部 · 2026.10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14</Slides>
</Properties>
</file>

<file path=docProps/core.xml><?xml version="1.0" encoding="utf-8"?>
<cp:coreProperties xmlns:dc="http://purl.org/dc/elements/1.1/" xmlns:cp="http://schemas.openxmlformats.org/package/2006/metadata/core-properties">
  <dc:title>新员工中期答辩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