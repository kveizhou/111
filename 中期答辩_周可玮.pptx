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8229600" y="0"/>
            <a:ext cx="3962400" cy="6858000"/>
          </a:xfrm>
          <a:prstGeom prst="rect">
            <a:avLst/>
          </a:prstGeom>
          <a:solidFill>
            <a:srgbClr val="16283C"/>
          </a:solidFill>
          <a:ln>
            <a:noFill/>
          </a:ln>
        </p:spPr>
      </p:sp>
      <p:sp>
        <p:nvSpPr>
          <p:cNvPr id="3" name="wire-main"/>
          <p:cNvSpPr/>
          <p:nvPr/>
        </p:nvSpPr>
        <p:spPr>
          <a:xfrm>
            <a:off x="9740900" y="1498600"/>
            <a:ext cx="25400" cy="3835400"/>
          </a:xfrm>
          <a:prstGeom prst="rect">
            <a:avLst/>
          </a:prstGeom>
          <a:solidFill>
            <a:srgbClr val="F5F2EB">
              <a:alpha val="34902"/>
            </a:srgbClr>
          </a:solidFill>
          <a:ln>
            <a:noFill/>
          </a:ln>
        </p:spPr>
      </p:sp>
      <p:sp>
        <p:nvSpPr>
          <p:cNvPr id="4" name="gate-1"/>
          <p:cNvSpPr/>
          <p:nvPr/>
        </p:nvSpPr>
        <p:spPr>
          <a:xfrm>
            <a:off x="9410700" y="2146300"/>
            <a:ext cx="330200" cy="25400"/>
          </a:xfrm>
          <a:prstGeom prst="rect">
            <a:avLst/>
          </a:prstGeom>
          <a:solidFill>
            <a:srgbClr val="F5F2EB">
              <a:alpha val="34902"/>
            </a:srgbClr>
          </a:solidFill>
          <a:ln>
            <a:noFill/>
          </a:ln>
        </p:spPr>
      </p:sp>
      <p:sp>
        <p:nvSpPr>
          <p:cNvPr id="5" name="gate-2"/>
          <p:cNvSpPr/>
          <p:nvPr/>
        </p:nvSpPr>
        <p:spPr>
          <a:xfrm>
            <a:off x="9410700" y="2908300"/>
            <a:ext cx="330200" cy="25400"/>
          </a:xfrm>
          <a:prstGeom prst="rect">
            <a:avLst/>
          </a:prstGeom>
          <a:solidFill>
            <a:srgbClr val="F5F2EB">
              <a:alpha val="34902"/>
            </a:srgbClr>
          </a:solidFill>
          <a:ln>
            <a:noFill/>
          </a:ln>
        </p:spPr>
      </p:sp>
      <p:sp>
        <p:nvSpPr>
          <p:cNvPr id="6" name="gate-3"/>
          <p:cNvSpPr/>
          <p:nvPr/>
        </p:nvSpPr>
        <p:spPr>
          <a:xfrm>
            <a:off x="9410700" y="3924300"/>
            <a:ext cx="330200" cy="25400"/>
          </a:xfrm>
          <a:prstGeom prst="rect">
            <a:avLst/>
          </a:prstGeom>
          <a:solidFill>
            <a:srgbClr val="F5F2EB">
              <a:alpha val="34902"/>
            </a:srgbClr>
          </a:solidFill>
          <a:ln>
            <a:noFill/>
          </a:ln>
        </p:spPr>
      </p:sp>
      <p:sp>
        <p:nvSpPr>
          <p:cNvPr id="7" name="gate-4"/>
          <p:cNvSpPr/>
          <p:nvPr/>
        </p:nvSpPr>
        <p:spPr>
          <a:xfrm>
            <a:off x="9410700" y="4686300"/>
            <a:ext cx="330200" cy="25400"/>
          </a:xfrm>
          <a:prstGeom prst="rect">
            <a:avLst/>
          </a:prstGeom>
          <a:solidFill>
            <a:srgbClr val="F5F2EB">
              <a:alpha val="34902"/>
            </a:srgbClr>
          </a:solidFill>
          <a:ln>
            <a:noFill/>
          </a:ln>
        </p:spPr>
      </p:sp>
      <p:sp>
        <p:nvSpPr>
          <p:cNvPr id="8" name="node-1"/>
          <p:cNvSpPr/>
          <p:nvPr/>
        </p:nvSpPr>
        <p:spPr>
          <a:xfrm>
            <a:off x="9702800" y="2108200"/>
            <a:ext cx="101600" cy="101600"/>
          </a:xfrm>
          <a:prstGeom prst="ellipse">
            <a:avLst/>
          </a:prstGeom>
          <a:solidFill>
            <a:srgbClr val="C0652B"/>
          </a:solidFill>
          <a:ln>
            <a:noFill/>
          </a:ln>
        </p:spPr>
      </p:sp>
      <p:sp>
        <p:nvSpPr>
          <p:cNvPr id="9" name="node-2"/>
          <p:cNvSpPr/>
          <p:nvPr/>
        </p:nvSpPr>
        <p:spPr>
          <a:xfrm>
            <a:off x="9702800" y="2870200"/>
            <a:ext cx="101600" cy="101600"/>
          </a:xfrm>
          <a:prstGeom prst="ellipse">
            <a:avLst/>
          </a:prstGeom>
          <a:solidFill>
            <a:srgbClr val="C0652B"/>
          </a:solidFill>
          <a:ln>
            <a:noFill/>
          </a:ln>
        </p:spPr>
      </p:sp>
      <p:sp>
        <p:nvSpPr>
          <p:cNvPr id="10" name="node-3"/>
          <p:cNvSpPr/>
          <p:nvPr/>
        </p:nvSpPr>
        <p:spPr>
          <a:xfrm>
            <a:off x="9702800" y="3886200"/>
            <a:ext cx="101600" cy="101600"/>
          </a:xfrm>
          <a:prstGeom prst="ellipse">
            <a:avLst/>
          </a:prstGeom>
          <a:solidFill>
            <a:srgbClr val="C0652B"/>
          </a:solidFill>
          <a:ln>
            <a:noFill/>
          </a:ln>
        </p:spPr>
      </p:sp>
      <p:sp>
        <p:nvSpPr>
          <p:cNvPr id="11" name="node-4"/>
          <p:cNvSpPr/>
          <p:nvPr/>
        </p:nvSpPr>
        <p:spPr>
          <a:xfrm>
            <a:off x="9702800" y="4648200"/>
            <a:ext cx="101600" cy="101600"/>
          </a:xfrm>
          <a:prstGeom prst="ellipse">
            <a:avLst/>
          </a:prstGeom>
          <a:solidFill>
            <a:srgbClr val="C0652B"/>
          </a:solidFill>
          <a:ln>
            <a:noFill/>
          </a:ln>
        </p:spPr>
      </p:sp>
      <p:sp>
        <p:nvSpPr>
          <p:cNvPr id="12" name="panel-label-top"/>
          <p:cNvSpPr txBox="1"/>
          <p:nvPr/>
        </p:nvSpPr>
        <p:spPr>
          <a:xfrm>
            <a:off x="8636000" y="711200"/>
            <a:ext cx="3175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300" kern="0">
                <a:solidFill>
                  <a:srgbClr val="F5F2EB">
                    <a:alpha val="40000"/>
                  </a:srgbClr>
                </a:solidFill>
                <a:latin typeface="MiSans"/>
                <a:ea typeface="MiSans"/>
              </a:rPr>
              <a:t>LDO STRUCTURE TRANSFORM</a:t>
            </a:r>
            <a:endParaRPr lang="en-US" sz="1000" noProof="1"/>
          </a:p>
        </p:txBody>
      </p:sp>
      <p:sp>
        <p:nvSpPr>
          <p:cNvPr id="13" name="panel-label-bottom"/>
          <p:cNvSpPr txBox="1"/>
          <p:nvPr/>
        </p:nvSpPr>
        <p:spPr>
          <a:xfrm>
            <a:off x="8636000" y="6172200"/>
            <a:ext cx="3175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300" kern="0">
                <a:solidFill>
                  <a:srgbClr val="F5F2EB">
                    <a:alpha val="40000"/>
                  </a:srgbClr>
                </a:solidFill>
                <a:latin typeface="MiSans"/>
                <a:ea typeface="MiSans"/>
              </a:rPr>
              <a:t>MID-TERM REVIEW · 2026.10</a:t>
            </a:r>
            <a:endParaRPr lang="en-US" sz="1000" noProof="1"/>
          </a:p>
        </p:txBody>
      </p:sp>
      <p:sp>
        <p:nvSpPr>
          <p:cNvPr id="14" name="kicker"/>
          <p:cNvSpPr txBox="1"/>
          <p:nvPr/>
        </p:nvSpPr>
        <p:spPr>
          <a:xfrm>
            <a:off x="711200" y="787400"/>
            <a:ext cx="609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300" kern="0">
                <a:solidFill>
                  <a:srgbClr val="77725F"/>
                </a:solidFill>
                <a:latin typeface="MiSans"/>
                <a:ea typeface="MiSans"/>
              </a:rPr>
              <a:t>物理设计工具部 · 新员工中期汇报</a:t>
            </a:r>
            <a:endParaRPr lang="en-US" sz="1100" noProof="1"/>
          </a:p>
        </p:txBody>
      </p:sp>
      <p:sp>
        <p:nvSpPr>
          <p:cNvPr id="15" name="title"/>
          <p:cNvSpPr txBox="1"/>
          <p:nvPr/>
        </p:nvSpPr>
        <p:spPr>
          <a:xfrm>
            <a:off x="685800" y="1168400"/>
            <a:ext cx="7366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5200" noProof="1" b="1">
                <a:solidFill>
                  <a:srgbClr val="16283C"/>
                </a:solidFill>
                <a:latin typeface="思源宋体"/>
                <a:ea typeface="思源宋体"/>
              </a:rPr>
              <a:t>新员工中期答辩</a:t>
            </a:r>
            <a:endParaRPr lang="en-US" sz="5200" noProof="1"/>
          </a:p>
        </p:txBody>
      </p:sp>
      <p:sp>
        <p:nvSpPr>
          <p:cNvPr id="16" name="subtitle"/>
          <p:cNvSpPr txBox="1"/>
          <p:nvPr/>
        </p:nvSpPr>
        <p:spPr>
          <a:xfrm>
            <a:off x="711200" y="2260600"/>
            <a:ext cx="7366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16283C"/>
                </a:solidFill>
                <a:latin typeface="MiSans"/>
                <a:ea typeface="MiSans"/>
              </a:rPr>
              <a:t>LDO 电路结构变换功能开发与阶段性工作汇报</a:t>
            </a:r>
            <a:endParaRPr lang="en-US" sz="1800" noProof="1"/>
          </a:p>
        </p:txBody>
      </p:sp>
      <p:sp>
        <p:nvSpPr>
          <p:cNvPr id="17" name="tick"/>
          <p:cNvSpPr/>
          <p:nvPr/>
        </p:nvSpPr>
        <p:spPr>
          <a:xfrm>
            <a:off x="711200" y="2870200"/>
            <a:ext cx="508000" cy="38100"/>
          </a:xfrm>
          <a:prstGeom prst="rect">
            <a:avLst/>
          </a:prstGeom>
          <a:solidFill>
            <a:srgbClr val="C0652B"/>
          </a:solidFill>
          <a:ln>
            <a:noFill/>
          </a:ln>
        </p:spPr>
      </p:sp>
      <p:sp>
        <p:nvSpPr>
          <p:cNvPr id="18" name="status"/>
          <p:cNvSpPr txBox="1"/>
          <p:nvPr/>
        </p:nvSpPr>
        <p:spPr>
          <a:xfrm>
            <a:off x="711200" y="3124200"/>
            <a:ext cx="7112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300" noProof="1">
                <a:solidFill>
                  <a:srgbClr val="2B2F36"/>
                </a:solidFill>
                <a:latin typeface="MiSans"/>
                <a:ea typeface="MiSans"/>
              </a:rPr>
              <a:t>入职十周：结构变换方案与核心代码完成，真实电路同型 Cascode 验证通过，自动 VBIAS 验证进行中。</a:t>
            </a:r>
            <a:endParaRPr lang="en-US" sz="1300" noProof="1"/>
          </a:p>
        </p:txBody>
      </p:sp>
      <p:sp>
        <p:nvSpPr>
          <p:cNvPr id="19" name="info"/>
          <p:cNvSpPr txBox="1"/>
          <p:nvPr/>
        </p:nvSpPr>
        <p:spPr>
          <a:xfrm>
            <a:off x="711200" y="4927600"/>
            <a:ext cx="5842000" cy="142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210000"/>
              </a:lnSpc>
            </a:pPr>
            <a:r>
              <a:rPr lang="en-US" sz="1250" noProof="1">
                <a:solidFill>
                  <a:srgbClr val="77725F"/>
                </a:solidFill>
                <a:latin typeface="MiSans"/>
                <a:ea typeface="MiSans"/>
              </a:rPr>
              <a:t>汇 报 人　</a:t>
            </a:r>
            <a:r>
              <a:rPr lang="en-US" sz="1250" noProof="1">
                <a:solidFill>
                  <a:srgbClr val="2B2F36"/>
                </a:solidFill>
                <a:latin typeface="MiSans"/>
                <a:ea typeface="MiSans"/>
              </a:rPr>
              <a:t>周可玮（00981589）</a:t>
            </a:r>
            <a:endParaRPr lang="en-US" sz="1250" noProof="1"/>
          </a:p>
          <a:p>
            <a:pPr>
              <a:lnSpc>
                <a:spcPct val="210000"/>
              </a:lnSpc>
            </a:pPr>
            <a:r>
              <a:rPr lang="en-US" sz="1250" noProof="1">
                <a:solidFill>
                  <a:srgbClr val="77725F"/>
                </a:solidFill>
                <a:latin typeface="MiSans"/>
                <a:ea typeface="MiSans"/>
              </a:rPr>
              <a:t>导　　师　</a:t>
            </a:r>
            <a:r>
              <a:rPr lang="en-US" sz="1250" noProof="1">
                <a:solidFill>
                  <a:srgbClr val="2B2F36"/>
                </a:solidFill>
                <a:latin typeface="MiSans"/>
                <a:ea typeface="MiSans"/>
              </a:rPr>
              <a:t>路家林（00850646）</a:t>
            </a:r>
            <a:endParaRPr lang="en-US" sz="1250" noProof="1"/>
          </a:p>
          <a:p>
            <a:pPr>
              <a:lnSpc>
                <a:spcPct val="210000"/>
              </a:lnSpc>
            </a:pPr>
            <a:r>
              <a:rPr lang="en-US" sz="1250" noProof="1">
                <a:solidFill>
                  <a:srgbClr val="77725F"/>
                </a:solidFill>
                <a:latin typeface="MiSans"/>
                <a:ea typeface="MiSans"/>
              </a:rPr>
              <a:t>直接主管　</a:t>
            </a:r>
            <a:r>
              <a:rPr lang="en-US" sz="1250" noProof="1">
                <a:solidFill>
                  <a:srgbClr val="2B2F36"/>
                </a:solidFill>
                <a:latin typeface="MiSans"/>
                <a:ea typeface="MiSans"/>
              </a:rPr>
              <a:t>张子昌（00631564）</a:t>
            </a:r>
            <a:endParaRPr lang="en-US" sz="1250" noProof="1"/>
          </a:p>
          <a:p>
            <a:pPr>
              <a:lnSpc>
                <a:spcPct val="210000"/>
              </a:lnSpc>
            </a:pPr>
            <a:r>
              <a:rPr lang="en-US" sz="1250" noProof="1">
                <a:solidFill>
                  <a:srgbClr val="77725F"/>
                </a:solidFill>
                <a:latin typeface="MiSans"/>
                <a:ea typeface="MiSans"/>
              </a:rPr>
              <a:t>汇报时间　</a:t>
            </a:r>
            <a:r>
              <a:rPr lang="en-US" sz="1250" noProof="1">
                <a:solidFill>
                  <a:srgbClr val="2B2F36"/>
                </a:solidFill>
                <a:latin typeface="MiSans"/>
                <a:ea typeface="MiSans"/>
              </a:rPr>
              <a:t>2026 年 10 月</a:t>
            </a:r>
            <a:endParaRPr lang="en-US" sz="125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736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77725F"/>
                </a:solidFill>
                <a:latin typeface="MiSans"/>
                <a:ea typeface="MiSans"/>
              </a:rPr>
              <a:t>CONTENTS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85800" y="990600"/>
            <a:ext cx="304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16283C"/>
                </a:solidFill>
                <a:latin typeface="思源宋体"/>
                <a:ea typeface="思源宋体"/>
              </a:rPr>
              <a:t>目录</a:t>
            </a:r>
            <a:endParaRPr lang="en-US" sz="3000" noProof="1"/>
          </a:p>
        </p:txBody>
      </p:sp>
      <p:sp>
        <p:nvSpPr>
          <p:cNvPr id="4" name="tick"/>
          <p:cNvSpPr/>
          <p:nvPr/>
        </p:nvSpPr>
        <p:spPr>
          <a:xfrm>
            <a:off x="711200" y="1701800"/>
            <a:ext cx="431800" cy="38100"/>
          </a:xfrm>
          <a:prstGeom prst="rect">
            <a:avLst/>
          </a:prstGeom>
          <a:solidFill>
            <a:srgbClr val="C0652B"/>
          </a:solidFill>
          <a:ln>
            <a:noFill/>
          </a:ln>
        </p:spPr>
      </p:sp>
      <p:sp>
        <p:nvSpPr>
          <p:cNvPr id="5" name="num-1"/>
          <p:cNvSpPr txBox="1"/>
          <p:nvPr/>
        </p:nvSpPr>
        <p:spPr>
          <a:xfrm>
            <a:off x="4470400" y="1625600"/>
            <a:ext cx="8128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C0652B"/>
                </a:solidFill>
                <a:latin typeface="思源宋体"/>
                <a:ea typeface="思源宋体"/>
              </a:rPr>
              <a:t>01</a:t>
            </a:r>
            <a:endParaRPr lang="en-US" sz="2800" noProof="1"/>
          </a:p>
        </p:txBody>
      </p:sp>
      <p:sp>
        <p:nvSpPr>
          <p:cNvPr id="6" name="t-1"/>
          <p:cNvSpPr txBox="1"/>
          <p:nvPr/>
        </p:nvSpPr>
        <p:spPr>
          <a:xfrm>
            <a:off x="5435600" y="1651000"/>
            <a:ext cx="6045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16283C"/>
                </a:solidFill>
                <a:latin typeface="MiSans"/>
                <a:ea typeface="MiSans"/>
              </a:rPr>
              <a:t>入职概况与工作脉络</a:t>
            </a:r>
            <a:endParaRPr lang="en-US" sz="1600" noProof="1"/>
          </a:p>
        </p:txBody>
      </p:sp>
      <p:sp>
        <p:nvSpPr>
          <p:cNvPr id="7" name="d-1"/>
          <p:cNvSpPr txBox="1"/>
          <p:nvPr/>
        </p:nvSpPr>
        <p:spPr>
          <a:xfrm>
            <a:off x="5435600" y="2006600"/>
            <a:ext cx="6045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77725F"/>
                </a:solidFill>
                <a:latin typeface="MiSans"/>
                <a:ea typeface="MiSans"/>
              </a:rPr>
              <a:t>岗位方向、红黄区开发模式、十周主线与入职融入</a:t>
            </a:r>
            <a:endParaRPr lang="en-US" sz="1100" noProof="1"/>
          </a:p>
        </p:txBody>
      </p:sp>
      <p:sp>
        <p:nvSpPr>
          <p:cNvPr id="8" name="line-1"/>
          <p:cNvSpPr/>
          <p:nvPr/>
        </p:nvSpPr>
        <p:spPr>
          <a:xfrm>
            <a:off x="4470400" y="2463800"/>
            <a:ext cx="7010400" cy="12700"/>
          </a:xfrm>
          <a:prstGeom prst="rect">
            <a:avLst/>
          </a:prstGeom>
          <a:solidFill>
            <a:srgbClr val="D9D3C3"/>
          </a:solidFill>
          <a:ln>
            <a:noFill/>
          </a:ln>
        </p:spPr>
      </p:sp>
      <p:sp>
        <p:nvSpPr>
          <p:cNvPr id="9" name="num-2"/>
          <p:cNvSpPr txBox="1"/>
          <p:nvPr/>
        </p:nvSpPr>
        <p:spPr>
          <a:xfrm>
            <a:off x="4470400" y="2743200"/>
            <a:ext cx="8128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C0652B"/>
                </a:solidFill>
                <a:latin typeface="思源宋体"/>
                <a:ea typeface="思源宋体"/>
              </a:rPr>
              <a:t>02</a:t>
            </a:r>
            <a:endParaRPr lang="en-US" sz="2800" noProof="1"/>
          </a:p>
        </p:txBody>
      </p:sp>
      <p:sp>
        <p:nvSpPr>
          <p:cNvPr id="10" name="t-2"/>
          <p:cNvSpPr txBox="1"/>
          <p:nvPr/>
        </p:nvSpPr>
        <p:spPr>
          <a:xfrm>
            <a:off x="5435600" y="2768600"/>
            <a:ext cx="6045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16283C"/>
                </a:solidFill>
                <a:latin typeface="MiSans"/>
                <a:ea typeface="MiSans"/>
              </a:rPr>
              <a:t>问题单实战</a:t>
            </a:r>
            <a:endParaRPr lang="en-US" sz="1600" noProof="1"/>
          </a:p>
        </p:txBody>
      </p:sp>
      <p:sp>
        <p:nvSpPr>
          <p:cNvPr id="11" name="d-2"/>
          <p:cNvSpPr txBox="1"/>
          <p:nvPr/>
        </p:nvSpPr>
        <p:spPr>
          <a:xfrm>
            <a:off x="5435600" y="3124200"/>
            <a:ext cx="6045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77725F"/>
                </a:solidFill>
                <a:latin typeface="MiSans"/>
                <a:ea typeface="MiSans"/>
              </a:rPr>
              <a:t>五个 DTS 问题单的定位、修复与验证走单</a:t>
            </a:r>
            <a:endParaRPr lang="en-US" sz="1100" noProof="1"/>
          </a:p>
        </p:txBody>
      </p:sp>
      <p:sp>
        <p:nvSpPr>
          <p:cNvPr id="12" name="line-2"/>
          <p:cNvSpPr/>
          <p:nvPr/>
        </p:nvSpPr>
        <p:spPr>
          <a:xfrm>
            <a:off x="4470400" y="3581400"/>
            <a:ext cx="7010400" cy="12700"/>
          </a:xfrm>
          <a:prstGeom prst="rect">
            <a:avLst/>
          </a:prstGeom>
          <a:solidFill>
            <a:srgbClr val="D9D3C3"/>
          </a:solidFill>
          <a:ln>
            <a:noFill/>
          </a:ln>
        </p:spPr>
      </p:sp>
      <p:sp>
        <p:nvSpPr>
          <p:cNvPr id="13" name="num-3"/>
          <p:cNvSpPr txBox="1"/>
          <p:nvPr/>
        </p:nvSpPr>
        <p:spPr>
          <a:xfrm>
            <a:off x="4470400" y="3860800"/>
            <a:ext cx="8128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C0652B"/>
                </a:solidFill>
                <a:latin typeface="思源宋体"/>
                <a:ea typeface="思源宋体"/>
              </a:rPr>
              <a:t>03</a:t>
            </a:r>
            <a:endParaRPr lang="en-US" sz="2800" noProof="1"/>
          </a:p>
        </p:txBody>
      </p:sp>
      <p:sp>
        <p:nvSpPr>
          <p:cNvPr id="14" name="t-3"/>
          <p:cNvSpPr txBox="1"/>
          <p:nvPr/>
        </p:nvSpPr>
        <p:spPr>
          <a:xfrm>
            <a:off x="5435600" y="3886200"/>
            <a:ext cx="6045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16283C"/>
                </a:solidFill>
                <a:latin typeface="MiSans"/>
                <a:ea typeface="MiSans"/>
              </a:rPr>
              <a:t>重点工作：LDO 电路结构变换</a:t>
            </a:r>
            <a:endParaRPr lang="en-US" sz="1600" noProof="1"/>
          </a:p>
        </p:txBody>
      </p:sp>
      <p:sp>
        <p:nvSpPr>
          <p:cNvPr id="15" name="d-3"/>
          <p:cNvSpPr txBox="1"/>
          <p:nvPr/>
        </p:nvSpPr>
        <p:spPr>
          <a:xfrm>
            <a:off x="5435600" y="4241800"/>
            <a:ext cx="6045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77725F"/>
                </a:solidFill>
                <a:latin typeface="MiSans"/>
                <a:ea typeface="MiSans"/>
              </a:rPr>
              <a:t>需求背景、四类变换、自动 VBIAS、工程化与真实电路验证</a:t>
            </a:r>
            <a:endParaRPr lang="en-US" sz="1100" noProof="1"/>
          </a:p>
        </p:txBody>
      </p:sp>
      <p:sp>
        <p:nvSpPr>
          <p:cNvPr id="16" name="line-3"/>
          <p:cNvSpPr/>
          <p:nvPr/>
        </p:nvSpPr>
        <p:spPr>
          <a:xfrm>
            <a:off x="4470400" y="4699000"/>
            <a:ext cx="7010400" cy="12700"/>
          </a:xfrm>
          <a:prstGeom prst="rect">
            <a:avLst/>
          </a:prstGeom>
          <a:solidFill>
            <a:srgbClr val="D9D3C3"/>
          </a:solidFill>
          <a:ln>
            <a:noFill/>
          </a:ln>
        </p:spPr>
      </p:sp>
      <p:sp>
        <p:nvSpPr>
          <p:cNvPr id="17" name="num-4"/>
          <p:cNvSpPr txBox="1"/>
          <p:nvPr/>
        </p:nvSpPr>
        <p:spPr>
          <a:xfrm>
            <a:off x="4470400" y="4978400"/>
            <a:ext cx="8128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C0652B"/>
                </a:solidFill>
                <a:latin typeface="思源宋体"/>
                <a:ea typeface="思源宋体"/>
              </a:rPr>
              <a:t>04</a:t>
            </a:r>
            <a:endParaRPr lang="en-US" sz="2800" noProof="1"/>
          </a:p>
        </p:txBody>
      </p:sp>
      <p:sp>
        <p:nvSpPr>
          <p:cNvPr id="18" name="t-4"/>
          <p:cNvSpPr txBox="1"/>
          <p:nvPr/>
        </p:nvSpPr>
        <p:spPr>
          <a:xfrm>
            <a:off x="5435600" y="5003800"/>
            <a:ext cx="6045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16283C"/>
                </a:solidFill>
                <a:latin typeface="MiSans"/>
                <a:ea typeface="MiSans"/>
              </a:rPr>
              <a:t>转正进展与下阶段计划</a:t>
            </a:r>
            <a:endParaRPr lang="en-US" sz="1600" noProof="1"/>
          </a:p>
        </p:txBody>
      </p:sp>
      <p:sp>
        <p:nvSpPr>
          <p:cNvPr id="19" name="d-4"/>
          <p:cNvSpPr txBox="1"/>
          <p:nvPr/>
        </p:nvSpPr>
        <p:spPr>
          <a:xfrm>
            <a:off x="5435600" y="5359400"/>
            <a:ext cx="6045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77725F"/>
                </a:solidFill>
                <a:latin typeface="MiSans"/>
                <a:ea typeface="MiSans"/>
              </a:rPr>
              <a:t>必备项状态、方法沉淀与后续工作安排</a:t>
            </a:r>
            <a:endParaRPr lang="en-US" sz="1100" noProof="1"/>
          </a:p>
        </p:txBody>
      </p:sp>
      <p:sp>
        <p:nvSpPr>
          <p:cNvPr id="20" name="line-4"/>
          <p:cNvSpPr/>
          <p:nvPr/>
        </p:nvSpPr>
        <p:spPr>
          <a:xfrm>
            <a:off x="4470400" y="5816600"/>
            <a:ext cx="7010400" cy="12700"/>
          </a:xfrm>
          <a:prstGeom prst="rect">
            <a:avLst/>
          </a:prstGeom>
          <a:solidFill>
            <a:srgbClr val="D9D3C3"/>
          </a:solidFill>
          <a:ln>
            <a:noFill/>
          </a:ln>
        </p:spPr>
      </p:sp>
      <p:sp>
        <p:nvSpPr>
          <p:cNvPr id="21" name="footer"/>
          <p:cNvSpPr txBox="1"/>
          <p:nvPr/>
        </p:nvSpPr>
        <p:spPr>
          <a:xfrm>
            <a:off x="711200" y="65024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77725F"/>
                </a:solidFill>
                <a:latin typeface="MiSans"/>
                <a:ea typeface="MiSans"/>
              </a:rPr>
              <a:t>新员工中期答辩 · 周可玮 00981589</a:t>
            </a:r>
            <a:endParaRPr lang="en-US" sz="900" noProof="1"/>
          </a:p>
        </p:txBody>
      </p:sp>
      <p:sp>
        <p:nvSpPr>
          <p:cNvPr id="22" name="page-no"/>
          <p:cNvSpPr txBox="1"/>
          <p:nvPr/>
        </p:nvSpPr>
        <p:spPr>
          <a:xfrm>
            <a:off x="10210800" y="6502400"/>
            <a:ext cx="127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77725F"/>
                </a:solidFill>
                <a:latin typeface="MiSans"/>
                <a:ea typeface="MiSans"/>
              </a:rPr>
              <a:t>02 / 14</a:t>
            </a:r>
            <a:endParaRPr lang="en-US" sz="9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635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77725F"/>
                </a:solidFill>
                <a:latin typeface="MiSans"/>
                <a:ea typeface="MiSans"/>
              </a:rPr>
              <a:t>01 · 入职概况与工作脉络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85800" y="635000"/>
            <a:ext cx="10795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6283C"/>
                </a:solidFill>
                <a:latin typeface="思源宋体"/>
                <a:ea typeface="思源宋体"/>
              </a:rPr>
              <a:t>岗位方向：模拟电路自动调优工具 Maau 的开发与维护</a:t>
            </a:r>
            <a:endParaRPr lang="en-US" sz="2400" noProof="1"/>
          </a:p>
        </p:txBody>
      </p:sp>
      <p:sp>
        <p:nvSpPr>
          <p:cNvPr id="4" name="tick"/>
          <p:cNvSpPr/>
          <p:nvPr/>
        </p:nvSpPr>
        <p:spPr>
          <a:xfrm>
            <a:off x="711200" y="1193800"/>
            <a:ext cx="431800" cy="38100"/>
          </a:xfrm>
          <a:prstGeom prst="rect">
            <a:avLst/>
          </a:prstGeom>
          <a:solidFill>
            <a:srgbClr val="C0652B"/>
          </a:solidFill>
          <a:ln>
            <a:noFill/>
          </a:ln>
        </p:spPr>
      </p:sp>
      <p:sp>
        <p:nvSpPr>
          <p:cNvPr id="5" name="info-label"/>
          <p:cNvSpPr txBox="1"/>
          <p:nvPr/>
        </p:nvSpPr>
        <p:spPr>
          <a:xfrm>
            <a:off x="711200" y="1600200"/>
            <a:ext cx="254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77725F"/>
                </a:solidFill>
                <a:latin typeface="MiSans"/>
                <a:ea typeface="MiSans"/>
              </a:rPr>
              <a:t>基本信息</a:t>
            </a:r>
            <a:endParaRPr lang="en-US" sz="1100" noProof="1"/>
          </a:p>
        </p:txBody>
      </p:sp>
      <p:sp>
        <p:nvSpPr>
          <p:cNvPr id="6" name="info-body"/>
          <p:cNvSpPr txBox="1"/>
          <p:nvPr/>
        </p:nvSpPr>
        <p:spPr>
          <a:xfrm>
            <a:off x="711200" y="1905000"/>
            <a:ext cx="4191000" cy="241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235000"/>
              </a:lnSpc>
            </a:pPr>
            <a:r>
              <a:rPr lang="en-US" sz="1250" noProof="1">
                <a:solidFill>
                  <a:srgbClr val="77725F"/>
                </a:solidFill>
                <a:latin typeface="MiSans"/>
                <a:ea typeface="MiSans"/>
              </a:rPr>
              <a:t>汇报人　</a:t>
            </a:r>
            <a:r>
              <a:rPr lang="en-US" sz="1250" noProof="1">
                <a:solidFill>
                  <a:srgbClr val="2B2F36"/>
                </a:solidFill>
                <a:latin typeface="MiSans"/>
                <a:ea typeface="MiSans"/>
              </a:rPr>
              <a:t>周可玮 · 00981589</a:t>
            </a:r>
            <a:endParaRPr lang="en-US" sz="1250" noProof="1"/>
          </a:p>
          <a:p>
            <a:pPr>
              <a:lnSpc>
                <a:spcPct val="235000"/>
              </a:lnSpc>
            </a:pPr>
            <a:r>
              <a:rPr lang="en-US" sz="1250" noProof="1">
                <a:solidFill>
                  <a:srgbClr val="77725F"/>
                </a:solidFill>
                <a:latin typeface="MiSans"/>
                <a:ea typeface="MiSans"/>
              </a:rPr>
              <a:t>部　门　</a:t>
            </a:r>
            <a:r>
              <a:rPr lang="en-US" sz="1250" noProof="1">
                <a:solidFill>
                  <a:srgbClr val="2B2F36"/>
                </a:solidFill>
                <a:latin typeface="MiSans"/>
                <a:ea typeface="MiSans"/>
              </a:rPr>
              <a:t>物理设计工具部</a:t>
            </a:r>
            <a:endParaRPr lang="en-US" sz="1250" noProof="1"/>
          </a:p>
          <a:p>
            <a:pPr>
              <a:lnSpc>
                <a:spcPct val="235000"/>
              </a:lnSpc>
            </a:pPr>
            <a:r>
              <a:rPr lang="en-US" sz="1250" noProof="1">
                <a:solidFill>
                  <a:srgbClr val="77725F"/>
                </a:solidFill>
                <a:latin typeface="MiSans"/>
                <a:ea typeface="MiSans"/>
              </a:rPr>
              <a:t>导　师　</a:t>
            </a:r>
            <a:r>
              <a:rPr lang="en-US" sz="1250" noProof="1">
                <a:solidFill>
                  <a:srgbClr val="2B2F36"/>
                </a:solidFill>
                <a:latin typeface="MiSans"/>
                <a:ea typeface="MiSans"/>
              </a:rPr>
              <a:t>路家林 · 00850646</a:t>
            </a:r>
            <a:endParaRPr lang="en-US" sz="1250" noProof="1"/>
          </a:p>
          <a:p>
            <a:pPr>
              <a:lnSpc>
                <a:spcPct val="235000"/>
              </a:lnSpc>
            </a:pPr>
            <a:r>
              <a:rPr lang="en-US" sz="1250" noProof="1">
                <a:solidFill>
                  <a:srgbClr val="77725F"/>
                </a:solidFill>
                <a:latin typeface="MiSans"/>
                <a:ea typeface="MiSans"/>
              </a:rPr>
              <a:t>主　管　</a:t>
            </a:r>
            <a:r>
              <a:rPr lang="en-US" sz="1250" noProof="1">
                <a:solidFill>
                  <a:srgbClr val="2B2F36"/>
                </a:solidFill>
                <a:latin typeface="MiSans"/>
                <a:ea typeface="MiSans"/>
              </a:rPr>
              <a:t>张子昌 · 00631564</a:t>
            </a:r>
            <a:endParaRPr lang="en-US" sz="1250" noProof="1"/>
          </a:p>
          <a:p>
            <a:pPr>
              <a:lnSpc>
                <a:spcPct val="235000"/>
              </a:lnSpc>
            </a:pPr>
            <a:r>
              <a:rPr lang="en-US" sz="1250" noProof="1">
                <a:solidFill>
                  <a:srgbClr val="77725F"/>
                </a:solidFill>
                <a:latin typeface="MiSans"/>
                <a:ea typeface="MiSans"/>
              </a:rPr>
              <a:t>入　职　</a:t>
            </a:r>
            <a:r>
              <a:rPr lang="en-US" sz="1250" noProof="1">
                <a:solidFill>
                  <a:srgbClr val="2B2F36"/>
                </a:solidFill>
                <a:latin typeface="MiSans"/>
                <a:ea typeface="MiSans"/>
              </a:rPr>
              <a:t>2026.07.27</a:t>
            </a:r>
            <a:endParaRPr lang="en-US" sz="1250" noProof="1"/>
          </a:p>
          <a:p>
            <a:pPr>
              <a:lnSpc>
                <a:spcPct val="235000"/>
              </a:lnSpc>
            </a:pPr>
            <a:r>
              <a:rPr lang="en-US" sz="1250" noProof="1">
                <a:solidFill>
                  <a:srgbClr val="77725F"/>
                </a:solidFill>
                <a:latin typeface="MiSans"/>
                <a:ea typeface="MiSans"/>
              </a:rPr>
              <a:t>汇报区间　</a:t>
            </a:r>
            <a:r>
              <a:rPr lang="en-US" sz="1250" noProof="1">
                <a:solidFill>
                  <a:srgbClr val="2B2F36"/>
                </a:solidFill>
                <a:latin typeface="MiSans"/>
                <a:ea typeface="MiSans"/>
              </a:rPr>
              <a:t>2026.07.27 – 10.10</a:t>
            </a:r>
            <a:endParaRPr lang="en-US" sz="1250" noProof="1"/>
          </a:p>
        </p:txBody>
      </p:sp>
      <p:sp>
        <p:nvSpPr>
          <p:cNvPr id="7" name="divider-v"/>
          <p:cNvSpPr/>
          <p:nvPr/>
        </p:nvSpPr>
        <p:spPr>
          <a:xfrm>
            <a:off x="5232400" y="1600200"/>
            <a:ext cx="12700" cy="4191000"/>
          </a:xfrm>
          <a:prstGeom prst="rect">
            <a:avLst/>
          </a:prstGeom>
          <a:solidFill>
            <a:srgbClr val="D9D3C3"/>
          </a:solidFill>
          <a:ln>
            <a:noFill/>
          </a:ln>
        </p:spPr>
      </p:sp>
      <p:sp>
        <p:nvSpPr>
          <p:cNvPr id="8" name="biz-h"/>
          <p:cNvSpPr txBox="1"/>
          <p:nvPr/>
        </p:nvSpPr>
        <p:spPr>
          <a:xfrm>
            <a:off x="5613400" y="1574800"/>
            <a:ext cx="5867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6283C"/>
                </a:solidFill>
                <a:latin typeface="MiSans"/>
                <a:ea typeface="MiSans"/>
              </a:rPr>
              <a:t>业务方向</a:t>
            </a:r>
            <a:endParaRPr lang="en-US" sz="1400" noProof="1"/>
          </a:p>
        </p:txBody>
      </p:sp>
      <p:sp>
        <p:nvSpPr>
          <p:cNvPr id="9" name="biz-body"/>
          <p:cNvSpPr txBox="1"/>
          <p:nvPr/>
        </p:nvSpPr>
        <p:spPr>
          <a:xfrm>
            <a:off x="5613400" y="1879600"/>
            <a:ext cx="58674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2B2F36"/>
                </a:solidFill>
                <a:latin typeface="MiSans"/>
                <a:ea typeface="MiSans"/>
              </a:rPr>
              <a:t>Maau 是部门自研的模拟电路自动调优工具，前端核心流程为 Mapping（器件匹配）与 Sizing（尺寸调优）。本人承担前端功能维护、问题单处理与新需求开发。</a:t>
            </a:r>
            <a:endParaRPr lang="en-US" sz="1200" noProof="1"/>
          </a:p>
        </p:txBody>
      </p:sp>
      <p:sp>
        <p:nvSpPr>
          <p:cNvPr id="10" name="line-b1"/>
          <p:cNvSpPr/>
          <p:nvPr/>
        </p:nvSpPr>
        <p:spPr>
          <a:xfrm>
            <a:off x="5613400" y="2819400"/>
            <a:ext cx="5867400" cy="12700"/>
          </a:xfrm>
          <a:prstGeom prst="rect">
            <a:avLst/>
          </a:prstGeom>
          <a:solidFill>
            <a:srgbClr val="D9D3C3"/>
          </a:solidFill>
          <a:ln>
            <a:noFill/>
          </a:ln>
        </p:spPr>
      </p:sp>
      <p:sp>
        <p:nvSpPr>
          <p:cNvPr id="11" name="env-h"/>
          <p:cNvSpPr txBox="1"/>
          <p:nvPr/>
        </p:nvSpPr>
        <p:spPr>
          <a:xfrm>
            <a:off x="5613400" y="3022600"/>
            <a:ext cx="5867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6283C"/>
                </a:solidFill>
                <a:latin typeface="MiSans"/>
                <a:ea typeface="MiSans"/>
              </a:rPr>
              <a:t>开发模式</a:t>
            </a:r>
            <a:endParaRPr lang="en-US" sz="1400" noProof="1"/>
          </a:p>
        </p:txBody>
      </p:sp>
      <p:sp>
        <p:nvSpPr>
          <p:cNvPr id="12" name="env-body"/>
          <p:cNvSpPr txBox="1"/>
          <p:nvPr/>
        </p:nvSpPr>
        <p:spPr>
          <a:xfrm>
            <a:off x="5613400" y="3327400"/>
            <a:ext cx="58674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2B2F36"/>
                </a:solidFill>
                <a:latin typeface="MiSans"/>
                <a:ea typeface="MiSans"/>
              </a:rPr>
              <a:t>红区为真实运行环境（Cadence / Virtuoso / PDK 服务器），黄区为开发调试环境。代码在黄区完成修改与编译验证后，上传红区在真实电路上联调。</a:t>
            </a:r>
            <a:endParaRPr lang="en-US" sz="1200" noProof="1"/>
          </a:p>
        </p:txBody>
      </p:sp>
      <p:sp>
        <p:nvSpPr>
          <p:cNvPr id="13" name="line-b2"/>
          <p:cNvSpPr/>
          <p:nvPr/>
        </p:nvSpPr>
        <p:spPr>
          <a:xfrm>
            <a:off x="5613400" y="4267200"/>
            <a:ext cx="5867400" cy="12700"/>
          </a:xfrm>
          <a:prstGeom prst="rect">
            <a:avLst/>
          </a:prstGeom>
          <a:solidFill>
            <a:srgbClr val="D9D3C3"/>
          </a:solidFill>
          <a:ln>
            <a:noFill/>
          </a:ln>
        </p:spPr>
      </p:sp>
      <p:sp>
        <p:nvSpPr>
          <p:cNvPr id="14" name="tech-h"/>
          <p:cNvSpPr txBox="1"/>
          <p:nvPr/>
        </p:nvSpPr>
        <p:spPr>
          <a:xfrm>
            <a:off x="5613400" y="4470400"/>
            <a:ext cx="5867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6283C"/>
                </a:solidFill>
                <a:latin typeface="MiSans"/>
                <a:ea typeface="MiSans"/>
              </a:rPr>
              <a:t>主要技术与工具</a:t>
            </a:r>
            <a:endParaRPr lang="en-US" sz="1400" noProof="1"/>
          </a:p>
        </p:txBody>
      </p:sp>
      <p:sp>
        <p:nvSpPr>
          <p:cNvPr id="15" name="tech-body"/>
          <p:cNvSpPr txBox="1"/>
          <p:nvPr/>
        </p:nvSpPr>
        <p:spPr>
          <a:xfrm>
            <a:off x="5613400" y="4775200"/>
            <a:ext cx="58674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2B2F36"/>
                </a:solidFill>
                <a:latin typeface="MiSans"/>
                <a:ea typeface="MiSans"/>
              </a:rPr>
              <a:t>C++ / Python · Virtuoso 与 SKILL · PDK / CDF 约束 · Spectre 仿真 · CLion · Claude Code / OpenCode</a:t>
            </a:r>
            <a:endParaRPr lang="en-US" sz="1200" noProof="1"/>
          </a:p>
        </p:txBody>
      </p:sp>
      <p:sp>
        <p:nvSpPr>
          <p:cNvPr id="16" name="footer-lin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3C3"/>
          </a:solidFill>
          <a:ln>
            <a:noFill/>
          </a:ln>
        </p:spPr>
      </p:sp>
      <p:sp>
        <p:nvSpPr>
          <p:cNvPr id="17" name="footer"/>
          <p:cNvSpPr txBox="1"/>
          <p:nvPr/>
        </p:nvSpPr>
        <p:spPr>
          <a:xfrm>
            <a:off x="711200" y="65532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77725F"/>
                </a:solidFill>
                <a:latin typeface="MiSans"/>
                <a:ea typeface="MiSans"/>
              </a:rPr>
              <a:t>新员工中期答辩 · 周可玮 00981589</a:t>
            </a:r>
            <a:endParaRPr lang="en-US" sz="900" noProof="1"/>
          </a:p>
        </p:txBody>
      </p:sp>
      <p:sp>
        <p:nvSpPr>
          <p:cNvPr id="18" name="page-no"/>
          <p:cNvSpPr txBox="1"/>
          <p:nvPr/>
        </p:nvSpPr>
        <p:spPr>
          <a:xfrm>
            <a:off x="10210800" y="6553200"/>
            <a:ext cx="127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77725F"/>
                </a:solidFill>
                <a:latin typeface="MiSans"/>
                <a:ea typeface="MiSans"/>
              </a:rPr>
              <a:t>03 / 14</a:t>
            </a:r>
            <a:endParaRPr lang="en-US" sz="9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635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77725F"/>
                </a:solidFill>
                <a:latin typeface="MiSans"/>
                <a:ea typeface="MiSans"/>
              </a:rPr>
              <a:t>01 · 入职概况与工作脉络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85800" y="635000"/>
            <a:ext cx="10795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6283C"/>
                </a:solidFill>
                <a:latin typeface="思源宋体"/>
                <a:ea typeface="思源宋体"/>
              </a:rPr>
              <a:t>十周主线：从环境搭建到真实电路验证</a:t>
            </a:r>
            <a:endParaRPr lang="en-US" sz="2400" noProof="1"/>
          </a:p>
        </p:txBody>
      </p:sp>
      <p:sp>
        <p:nvSpPr>
          <p:cNvPr id="4" name="tick"/>
          <p:cNvSpPr/>
          <p:nvPr/>
        </p:nvSpPr>
        <p:spPr>
          <a:xfrm>
            <a:off x="711200" y="1193800"/>
            <a:ext cx="431800" cy="38100"/>
          </a:xfrm>
          <a:prstGeom prst="rect">
            <a:avLst/>
          </a:prstGeom>
          <a:solidFill>
            <a:srgbClr val="C0652B"/>
          </a:solidFill>
          <a:ln>
            <a:noFill/>
          </a:ln>
        </p:spPr>
      </p:sp>
      <p:sp>
        <p:nvSpPr>
          <p:cNvPr id="5" name="axis"/>
          <p:cNvSpPr/>
          <p:nvPr/>
        </p:nvSpPr>
        <p:spPr>
          <a:xfrm>
            <a:off x="711200" y="3378200"/>
            <a:ext cx="10769600" cy="25400"/>
          </a:xfrm>
          <a:prstGeom prst="rect">
            <a:avLst/>
          </a:prstGeom>
          <a:solidFill>
            <a:srgbClr val="D9D3C3"/>
          </a:solidFill>
          <a:ln>
            <a:noFill/>
          </a:ln>
        </p:spPr>
      </p:sp>
      <p:sp>
        <p:nvSpPr>
          <p:cNvPr id="6" name="node-1"/>
          <p:cNvSpPr/>
          <p:nvPr/>
        </p:nvSpPr>
        <p:spPr>
          <a:xfrm>
            <a:off x="952500" y="3314700"/>
            <a:ext cx="127000" cy="127000"/>
          </a:xfrm>
          <a:prstGeom prst="ellipse">
            <a:avLst/>
          </a:prstGeom>
          <a:solidFill>
            <a:srgbClr val="16283C"/>
          </a:solidFill>
          <a:ln>
            <a:noFill/>
          </a:ln>
        </p:spPr>
      </p:sp>
      <p:sp>
        <p:nvSpPr>
          <p:cNvPr id="7" name="node-2"/>
          <p:cNvSpPr/>
          <p:nvPr/>
        </p:nvSpPr>
        <p:spPr>
          <a:xfrm>
            <a:off x="3111500" y="3314700"/>
            <a:ext cx="127000" cy="127000"/>
          </a:xfrm>
          <a:prstGeom prst="ellipse">
            <a:avLst/>
          </a:prstGeom>
          <a:solidFill>
            <a:srgbClr val="16283C"/>
          </a:solidFill>
          <a:ln>
            <a:noFill/>
          </a:ln>
        </p:spPr>
      </p:sp>
      <p:sp>
        <p:nvSpPr>
          <p:cNvPr id="8" name="node-3"/>
          <p:cNvSpPr/>
          <p:nvPr/>
        </p:nvSpPr>
        <p:spPr>
          <a:xfrm>
            <a:off x="5397500" y="3314700"/>
            <a:ext cx="127000" cy="127000"/>
          </a:xfrm>
          <a:prstGeom prst="ellipse">
            <a:avLst/>
          </a:prstGeom>
          <a:solidFill>
            <a:srgbClr val="16283C"/>
          </a:solidFill>
          <a:ln>
            <a:noFill/>
          </a:ln>
        </p:spPr>
      </p:sp>
      <p:sp>
        <p:nvSpPr>
          <p:cNvPr id="9" name="node-4"/>
          <p:cNvSpPr/>
          <p:nvPr/>
        </p:nvSpPr>
        <p:spPr>
          <a:xfrm>
            <a:off x="8064500" y="3314700"/>
            <a:ext cx="127000" cy="127000"/>
          </a:xfrm>
          <a:prstGeom prst="ellipse">
            <a:avLst/>
          </a:prstGeom>
          <a:solidFill>
            <a:srgbClr val="16283C"/>
          </a:solidFill>
          <a:ln>
            <a:noFill/>
          </a:ln>
        </p:spPr>
      </p:sp>
      <p:sp>
        <p:nvSpPr>
          <p:cNvPr id="10" name="node-5"/>
          <p:cNvSpPr/>
          <p:nvPr/>
        </p:nvSpPr>
        <p:spPr>
          <a:xfrm>
            <a:off x="10604500" y="3314700"/>
            <a:ext cx="127000" cy="127000"/>
          </a:xfrm>
          <a:prstGeom prst="ellipse">
            <a:avLst/>
          </a:prstGeom>
          <a:solidFill>
            <a:srgbClr val="C0652B"/>
          </a:solidFill>
          <a:ln>
            <a:noFill/>
          </a:ln>
        </p:spPr>
      </p:sp>
      <p:sp>
        <p:nvSpPr>
          <p:cNvPr id="11" name="label-1"/>
          <p:cNvSpPr txBox="1"/>
          <p:nvPr/>
        </p:nvSpPr>
        <p:spPr>
          <a:xfrm>
            <a:off x="152400" y="1879600"/>
            <a:ext cx="2159000" cy="132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100" noProof="1" b="1">
                <a:solidFill>
                  <a:srgbClr val="C0652B"/>
                </a:solidFill>
                <a:latin typeface="MiSans"/>
                <a:ea typeface="MiSans"/>
              </a:rPr>
              <a:t>07.27 – 07.31</a:t>
            </a:r>
            <a:endParaRPr lang="en-US" sz="160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300" noProof="1" b="1">
                <a:solidFill>
                  <a:srgbClr val="16283C"/>
                </a:solidFill>
                <a:latin typeface="MiSans"/>
                <a:ea typeface="MiSans"/>
              </a:rPr>
              <a:t>入职融入</a:t>
            </a:r>
            <a:endParaRPr lang="en-US" sz="160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000" noProof="1">
                <a:solidFill>
                  <a:srgbClr val="77725F"/>
                </a:solidFill>
                <a:latin typeface="MiSans"/>
                <a:ea typeface="MiSans"/>
              </a:rPr>
              <a:t>11 门课程考试、24 门课程讲座；红黄区环境与 virtuoso 仿真实验</a:t>
            </a:r>
            <a:endParaRPr lang="en-US" sz="1600" noProof="1"/>
          </a:p>
        </p:txBody>
      </p:sp>
      <p:sp>
        <p:nvSpPr>
          <p:cNvPr id="12" name="label-2"/>
          <p:cNvSpPr txBox="1"/>
          <p:nvPr/>
        </p:nvSpPr>
        <p:spPr>
          <a:xfrm>
            <a:off x="2095500" y="3683000"/>
            <a:ext cx="2159000" cy="132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100" noProof="1" b="1">
                <a:solidFill>
                  <a:srgbClr val="C0652B"/>
                </a:solidFill>
                <a:latin typeface="MiSans"/>
                <a:ea typeface="MiSans"/>
              </a:rPr>
              <a:t>08.03 – 09.04</a:t>
            </a:r>
            <a:endParaRPr lang="en-US" sz="160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300" noProof="1" b="1">
                <a:solidFill>
                  <a:srgbClr val="16283C"/>
                </a:solidFill>
                <a:latin typeface="MiSans"/>
                <a:ea typeface="MiSans"/>
              </a:rPr>
              <a:t>问题单实战</a:t>
            </a:r>
            <a:endParaRPr lang="en-US" sz="160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000" noProof="1">
                <a:solidFill>
                  <a:srgbClr val="77725F"/>
                </a:solidFill>
                <a:latin typeface="MiSans"/>
                <a:ea typeface="MiSans"/>
              </a:rPr>
              <a:t>5 个 DTS 单：定位、复现、黄区修改，新版本验证走单</a:t>
            </a:r>
            <a:endParaRPr lang="en-US" sz="1600" noProof="1"/>
          </a:p>
        </p:txBody>
      </p:sp>
      <p:sp>
        <p:nvSpPr>
          <p:cNvPr id="13" name="label-3"/>
          <p:cNvSpPr txBox="1"/>
          <p:nvPr/>
        </p:nvSpPr>
        <p:spPr>
          <a:xfrm>
            <a:off x="4381500" y="1879600"/>
            <a:ext cx="2159000" cy="132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100" noProof="1" b="1">
                <a:solidFill>
                  <a:srgbClr val="C0652B"/>
                </a:solidFill>
                <a:latin typeface="MiSans"/>
                <a:ea typeface="MiSans"/>
              </a:rPr>
              <a:t>08.24 – 09.04</a:t>
            </a:r>
            <a:endParaRPr lang="en-US" sz="160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300" noProof="1" b="1">
                <a:solidFill>
                  <a:srgbClr val="16283C"/>
                </a:solidFill>
                <a:latin typeface="MiSans"/>
                <a:ea typeface="MiSans"/>
              </a:rPr>
              <a:t>需求调研</a:t>
            </a:r>
            <a:endParaRPr lang="en-US" sz="160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000" noProof="1">
                <a:solidFill>
                  <a:srgbClr val="77725F"/>
                </a:solidFill>
                <a:latin typeface="MiSans"/>
                <a:ea typeface="MiSans"/>
              </a:rPr>
              <a:t>cascode / VBIAS / stack 背景学习，需求分析与待确认问题整理</a:t>
            </a:r>
            <a:endParaRPr lang="en-US" sz="1600" noProof="1"/>
          </a:p>
        </p:txBody>
      </p:sp>
      <p:sp>
        <p:nvSpPr>
          <p:cNvPr id="14" name="label-4"/>
          <p:cNvSpPr txBox="1"/>
          <p:nvPr/>
        </p:nvSpPr>
        <p:spPr>
          <a:xfrm>
            <a:off x="7048500" y="3683000"/>
            <a:ext cx="2159000" cy="132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100" noProof="1" b="1">
                <a:solidFill>
                  <a:srgbClr val="C0652B"/>
                </a:solidFill>
                <a:latin typeface="MiSans"/>
                <a:ea typeface="MiSans"/>
              </a:rPr>
              <a:t>09.07 – 09.24</a:t>
            </a:r>
            <a:endParaRPr lang="en-US" sz="160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300" noProof="1" b="1">
                <a:solidFill>
                  <a:srgbClr val="16283C"/>
                </a:solidFill>
                <a:latin typeface="MiSans"/>
                <a:ea typeface="MiSans"/>
              </a:rPr>
              <a:t>方案与开发</a:t>
            </a:r>
            <a:endParaRPr lang="en-US" sz="160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000" noProof="1">
                <a:solidFill>
                  <a:srgbClr val="77725F"/>
                </a:solidFill>
                <a:latin typeface="MiSans"/>
                <a:ea typeface="MiSans"/>
              </a:rPr>
              <a:t>四类变换与自动 VBIAS 方案串讲，核心代码开发、评审与复核</a:t>
            </a:r>
            <a:endParaRPr lang="en-US" sz="1600" noProof="1"/>
          </a:p>
        </p:txBody>
      </p:sp>
      <p:sp>
        <p:nvSpPr>
          <p:cNvPr id="15" name="label-5"/>
          <p:cNvSpPr txBox="1"/>
          <p:nvPr/>
        </p:nvSpPr>
        <p:spPr>
          <a:xfrm>
            <a:off x="9779000" y="1879600"/>
            <a:ext cx="2260600" cy="132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100" noProof="1" b="1">
                <a:solidFill>
                  <a:srgbClr val="C0652B"/>
                </a:solidFill>
                <a:latin typeface="MiSans"/>
                <a:ea typeface="MiSans"/>
              </a:rPr>
              <a:t>09.14 – 10.10</a:t>
            </a:r>
            <a:endParaRPr lang="en-US" sz="160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300" noProof="1" b="1">
                <a:solidFill>
                  <a:srgbClr val="16283C"/>
                </a:solidFill>
                <a:latin typeface="MiSans"/>
                <a:ea typeface="MiSans"/>
              </a:rPr>
              <a:t>真实电路验证</a:t>
            </a:r>
            <a:endParaRPr lang="en-US" sz="160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000" noProof="1">
                <a:solidFill>
                  <a:srgbClr val="77725F"/>
                </a:solidFill>
                <a:latin typeface="MiSans"/>
                <a:ea typeface="MiSans"/>
              </a:rPr>
              <a:t>服务器联调，59 个可处理 MOS，同型 Cascode 验证通过</a:t>
            </a:r>
            <a:endParaRPr lang="en-US" sz="1600" noProof="1"/>
          </a:p>
        </p:txBody>
      </p:sp>
      <p:sp>
        <p:nvSpPr>
          <p:cNvPr id="16" name="note"/>
          <p:cNvSpPr txBox="1"/>
          <p:nvPr/>
        </p:nvSpPr>
        <p:spPr>
          <a:xfrm>
            <a:off x="711200" y="5867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77725F"/>
                </a:solidFill>
                <a:latin typeface="MiSans"/>
                <a:ea typeface="MiSans"/>
              </a:rPr>
              <a:t>汇报区间 2026.07.27 – 2026.10.10，共 10 份周报；铜色节点表示当前进行中的阶段。</a:t>
            </a:r>
            <a:endParaRPr lang="en-US" sz="1050" noProof="1"/>
          </a:p>
        </p:txBody>
      </p:sp>
      <p:sp>
        <p:nvSpPr>
          <p:cNvPr id="17" name="footer-lin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3C3"/>
          </a:solidFill>
          <a:ln>
            <a:noFill/>
          </a:ln>
        </p:spPr>
      </p:sp>
      <p:sp>
        <p:nvSpPr>
          <p:cNvPr id="18" name="footer"/>
          <p:cNvSpPr txBox="1"/>
          <p:nvPr/>
        </p:nvSpPr>
        <p:spPr>
          <a:xfrm>
            <a:off x="711200" y="65532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77725F"/>
                </a:solidFill>
                <a:latin typeface="MiSans"/>
                <a:ea typeface="MiSans"/>
              </a:rPr>
              <a:t>新员工中期答辩 · 周可玮 00981589</a:t>
            </a:r>
            <a:endParaRPr lang="en-US" sz="900" noProof="1"/>
          </a:p>
        </p:txBody>
      </p:sp>
      <p:sp>
        <p:nvSpPr>
          <p:cNvPr id="19" name="page-no"/>
          <p:cNvSpPr txBox="1"/>
          <p:nvPr/>
        </p:nvSpPr>
        <p:spPr>
          <a:xfrm>
            <a:off x="10210800" y="6553200"/>
            <a:ext cx="127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77725F"/>
                </a:solidFill>
                <a:latin typeface="MiSans"/>
                <a:ea typeface="MiSans"/>
              </a:rPr>
              <a:t>04 / 14</a:t>
            </a:r>
            <a:endParaRPr lang="en-US" sz="9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635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77725F"/>
                </a:solidFill>
                <a:latin typeface="MiSans"/>
                <a:ea typeface="MiSans"/>
              </a:rPr>
              <a:t>01 · 入职概况与工作脉络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85800" y="635000"/>
            <a:ext cx="10795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6283C"/>
                </a:solidFill>
                <a:latin typeface="思源宋体"/>
                <a:ea typeface="思源宋体"/>
              </a:rPr>
              <a:t>第 1–2 周：完成入职课程，跑通环境与仿真基础</a:t>
            </a:r>
            <a:endParaRPr lang="en-US" sz="2400" noProof="1"/>
          </a:p>
        </p:txBody>
      </p:sp>
      <p:sp>
        <p:nvSpPr>
          <p:cNvPr id="4" name="tick"/>
          <p:cNvSpPr/>
          <p:nvPr/>
        </p:nvSpPr>
        <p:spPr>
          <a:xfrm>
            <a:off x="711200" y="1193800"/>
            <a:ext cx="431800" cy="38100"/>
          </a:xfrm>
          <a:prstGeom prst="rect">
            <a:avLst/>
          </a:prstGeom>
          <a:solidFill>
            <a:srgbClr val="C0652B"/>
          </a:solidFill>
          <a:ln>
            <a:noFill/>
          </a:ln>
        </p:spPr>
      </p:sp>
      <p:sp>
        <p:nvSpPr>
          <p:cNvPr id="5" name="course-h"/>
          <p:cNvSpPr txBox="1"/>
          <p:nvPr/>
        </p:nvSpPr>
        <p:spPr>
          <a:xfrm>
            <a:off x="711200" y="15748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6283C"/>
                </a:solidFill>
                <a:latin typeface="MiSans"/>
                <a:ea typeface="MiSans"/>
              </a:rPr>
              <a:t>课程与考试</a:t>
            </a:r>
            <a:endParaRPr lang="en-US" sz="1400" noProof="1"/>
          </a:p>
        </p:txBody>
      </p:sp>
      <p:sp>
        <p:nvSpPr>
          <p:cNvPr id="6" name="course-body"/>
          <p:cNvSpPr txBox="1"/>
          <p:nvPr/>
        </p:nvSpPr>
        <p:spPr>
          <a:xfrm>
            <a:off x="711200" y="1879600"/>
            <a:ext cx="4826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2B2F36"/>
                </a:solidFill>
                <a:latin typeface="MiSans"/>
                <a:ea typeface="MiSans"/>
              </a:rPr>
              <a:t>入职第一周完成 11 门新员工课程考试、24 门课程及讲座学习；随后完成软件开发科目二课程学习与考试。</a:t>
            </a:r>
            <a:endParaRPr lang="en-US" sz="1200" noProof="1"/>
          </a:p>
        </p:txBody>
      </p:sp>
      <p:sp>
        <p:nvSpPr>
          <p:cNvPr id="7" name="line-l1"/>
          <p:cNvSpPr/>
          <p:nvPr/>
        </p:nvSpPr>
        <p:spPr>
          <a:xfrm>
            <a:off x="711200" y="2819400"/>
            <a:ext cx="4826000" cy="12700"/>
          </a:xfrm>
          <a:prstGeom prst="rect">
            <a:avLst/>
          </a:prstGeom>
          <a:solidFill>
            <a:srgbClr val="D9D3C3"/>
          </a:solidFill>
          <a:ln>
            <a:noFill/>
          </a:ln>
        </p:spPr>
      </p:sp>
      <p:sp>
        <p:nvSpPr>
          <p:cNvPr id="8" name="sim-h"/>
          <p:cNvSpPr txBox="1"/>
          <p:nvPr/>
        </p:nvSpPr>
        <p:spPr>
          <a:xfrm>
            <a:off x="711200" y="30226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6283C"/>
                </a:solidFill>
                <a:latin typeface="MiSans"/>
                <a:ea typeface="MiSans"/>
              </a:rPr>
              <a:t>仿真与设计基础</a:t>
            </a:r>
            <a:endParaRPr lang="en-US" sz="1400" noProof="1"/>
          </a:p>
        </p:txBody>
      </p:sp>
      <p:sp>
        <p:nvSpPr>
          <p:cNvPr id="9" name="sim-body"/>
          <p:cNvSpPr txBox="1"/>
          <p:nvPr/>
        </p:nvSpPr>
        <p:spPr>
          <a:xfrm>
            <a:off x="711200" y="3327400"/>
            <a:ext cx="4826000" cy="104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2B2F36"/>
                </a:solidFill>
                <a:latin typeface="MiSans"/>
                <a:ea typeface="MiSans"/>
              </a:rPr>
              <a:t>完成 virtuoso 虚拟 lib 实验（nmos 管 ivs 曲线、反相器搭建与仿真）和 MAAU 前端 Mapping / Sizing 虚拟 Lab；同步学习模拟设计基础与串链专题培训。</a:t>
            </a:r>
            <a:endParaRPr lang="en-US" sz="1200" noProof="1"/>
          </a:p>
        </p:txBody>
      </p:sp>
      <p:sp>
        <p:nvSpPr>
          <p:cNvPr id="10" name="divider-v"/>
          <p:cNvSpPr/>
          <p:nvPr/>
        </p:nvSpPr>
        <p:spPr>
          <a:xfrm>
            <a:off x="5943600" y="1600200"/>
            <a:ext cx="12700" cy="2794000"/>
          </a:xfrm>
          <a:prstGeom prst="rect">
            <a:avLst/>
          </a:prstGeom>
          <a:solidFill>
            <a:srgbClr val="D9D3C3"/>
          </a:solidFill>
          <a:ln>
            <a:noFill/>
          </a:ln>
        </p:spPr>
      </p:sp>
      <p:sp>
        <p:nvSpPr>
          <p:cNvPr id="11" name="env-h"/>
          <p:cNvSpPr txBox="1"/>
          <p:nvPr/>
        </p:nvSpPr>
        <p:spPr>
          <a:xfrm>
            <a:off x="6350000" y="1574800"/>
            <a:ext cx="5130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6283C"/>
                </a:solidFill>
                <a:latin typeface="MiSans"/>
                <a:ea typeface="MiSans"/>
              </a:rPr>
              <a:t>开发环境</a:t>
            </a:r>
            <a:endParaRPr lang="en-US" sz="1400" noProof="1"/>
          </a:p>
        </p:txBody>
      </p:sp>
      <p:sp>
        <p:nvSpPr>
          <p:cNvPr id="12" name="env-body"/>
          <p:cNvSpPr txBox="1"/>
          <p:nvPr/>
        </p:nvSpPr>
        <p:spPr>
          <a:xfrm>
            <a:off x="6350000" y="1879600"/>
            <a:ext cx="51308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2B2F36"/>
                </a:solidFill>
                <a:latin typeface="MiSans"/>
                <a:ea typeface="MiSans"/>
              </a:rPr>
              <a:t>完成黄区开发环境与红区运行环境配置；独立编译高版本 glibc 为 CLion 提供隔离运行环境；跑通代码提交、编译构建与程序运行流程，具备代码修改与验证能力。</a:t>
            </a:r>
            <a:endParaRPr lang="en-US" sz="1200" noProof="1"/>
          </a:p>
        </p:txBody>
      </p:sp>
      <p:sp>
        <p:nvSpPr>
          <p:cNvPr id="13" name="line-r1"/>
          <p:cNvSpPr/>
          <p:nvPr/>
        </p:nvSpPr>
        <p:spPr>
          <a:xfrm>
            <a:off x="6350000" y="2819400"/>
            <a:ext cx="5130800" cy="12700"/>
          </a:xfrm>
          <a:prstGeom prst="rect">
            <a:avLst/>
          </a:prstGeom>
          <a:solidFill>
            <a:srgbClr val="D9D3C3"/>
          </a:solidFill>
          <a:ln>
            <a:noFill/>
          </a:ln>
        </p:spPr>
      </p:sp>
      <p:sp>
        <p:nvSpPr>
          <p:cNvPr id="14" name="ai-h"/>
          <p:cNvSpPr txBox="1"/>
          <p:nvPr/>
        </p:nvSpPr>
        <p:spPr>
          <a:xfrm>
            <a:off x="6350000" y="3022600"/>
            <a:ext cx="5130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6283C"/>
                </a:solidFill>
                <a:latin typeface="MiSans"/>
                <a:ea typeface="MiSans"/>
              </a:rPr>
              <a:t>AI 工具链</a:t>
            </a:r>
            <a:endParaRPr lang="en-US" sz="1400" noProof="1"/>
          </a:p>
        </p:txBody>
      </p:sp>
      <p:sp>
        <p:nvSpPr>
          <p:cNvPr id="15" name="ai-body"/>
          <p:cNvSpPr txBox="1"/>
          <p:nvPr/>
        </p:nvSpPr>
        <p:spPr>
          <a:xfrm>
            <a:off x="6350000" y="3327400"/>
            <a:ext cx="5130800" cy="104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2B2F36"/>
                </a:solidFill>
                <a:latin typeface="MiSans"/>
                <a:ea typeface="MiSans"/>
              </a:rPr>
              <a:t>完成黄区 Claude Code / OpenCode 与红区 AI 配置，并探索代码索引、项目记忆等能力；用于项目代码学习、调用链梳理与问题定位，已成为日常开发的主力辅助工具。</a:t>
            </a:r>
            <a:endParaRPr lang="en-US" sz="1200" noProof="1"/>
          </a:p>
        </p:txBody>
      </p:sp>
      <p:sp>
        <p:nvSpPr>
          <p:cNvPr id="16" name="stat-line"/>
          <p:cNvSpPr/>
          <p:nvPr/>
        </p:nvSpPr>
        <p:spPr>
          <a:xfrm>
            <a:off x="711200" y="4902200"/>
            <a:ext cx="10769600" cy="12700"/>
          </a:xfrm>
          <a:prstGeom prst="rect">
            <a:avLst/>
          </a:prstGeom>
          <a:solidFill>
            <a:srgbClr val="D9D3C3"/>
          </a:solidFill>
          <a:ln>
            <a:noFill/>
          </a:ln>
        </p:spPr>
      </p:sp>
      <p:sp>
        <p:nvSpPr>
          <p:cNvPr id="17" name="stat1-num"/>
          <p:cNvSpPr txBox="1"/>
          <p:nvPr/>
        </p:nvSpPr>
        <p:spPr>
          <a:xfrm>
            <a:off x="711200" y="5105400"/>
            <a:ext cx="203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C0652B"/>
                </a:solidFill>
                <a:latin typeface="思源宋体"/>
                <a:ea typeface="思源宋体"/>
              </a:rPr>
              <a:t>11 门</a:t>
            </a:r>
            <a:endParaRPr lang="en-US" sz="2800" noProof="1"/>
          </a:p>
        </p:txBody>
      </p:sp>
      <p:sp>
        <p:nvSpPr>
          <p:cNvPr id="18" name="stat1-label"/>
          <p:cNvSpPr txBox="1"/>
          <p:nvPr/>
        </p:nvSpPr>
        <p:spPr>
          <a:xfrm>
            <a:off x="711200" y="5613400"/>
            <a:ext cx="228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77725F"/>
                </a:solidFill>
                <a:latin typeface="MiSans"/>
                <a:ea typeface="MiSans"/>
              </a:rPr>
              <a:t>新员工课程考试（第一周完成）</a:t>
            </a:r>
            <a:endParaRPr lang="en-US" sz="1050" noProof="1"/>
          </a:p>
        </p:txBody>
      </p:sp>
      <p:sp>
        <p:nvSpPr>
          <p:cNvPr id="19" name="stat2-num"/>
          <p:cNvSpPr txBox="1"/>
          <p:nvPr/>
        </p:nvSpPr>
        <p:spPr>
          <a:xfrm>
            <a:off x="3556000" y="5105400"/>
            <a:ext cx="203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C0652B"/>
                </a:solidFill>
                <a:latin typeface="思源宋体"/>
                <a:ea typeface="思源宋体"/>
              </a:rPr>
              <a:t>24 门</a:t>
            </a:r>
            <a:endParaRPr lang="en-US" sz="2800" noProof="1"/>
          </a:p>
        </p:txBody>
      </p:sp>
      <p:sp>
        <p:nvSpPr>
          <p:cNvPr id="20" name="stat2-label"/>
          <p:cNvSpPr txBox="1"/>
          <p:nvPr/>
        </p:nvSpPr>
        <p:spPr>
          <a:xfrm>
            <a:off x="3556000" y="5613400"/>
            <a:ext cx="228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77725F"/>
                </a:solidFill>
                <a:latin typeface="MiSans"/>
                <a:ea typeface="MiSans"/>
              </a:rPr>
              <a:t>课程及讲座学习</a:t>
            </a:r>
            <a:endParaRPr lang="en-US" sz="1050" noProof="1"/>
          </a:p>
        </p:txBody>
      </p:sp>
      <p:sp>
        <p:nvSpPr>
          <p:cNvPr id="21" name="stat3-num"/>
          <p:cNvSpPr txBox="1"/>
          <p:nvPr/>
        </p:nvSpPr>
        <p:spPr>
          <a:xfrm>
            <a:off x="6400800" y="5105400"/>
            <a:ext cx="203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C0652B"/>
                </a:solidFill>
                <a:latin typeface="思源宋体"/>
                <a:ea typeface="思源宋体"/>
              </a:rPr>
              <a:t>2 组</a:t>
            </a:r>
            <a:endParaRPr lang="en-US" sz="2800" noProof="1"/>
          </a:p>
        </p:txBody>
      </p:sp>
      <p:sp>
        <p:nvSpPr>
          <p:cNvPr id="22" name="stat3-label"/>
          <p:cNvSpPr txBox="1"/>
          <p:nvPr/>
        </p:nvSpPr>
        <p:spPr>
          <a:xfrm>
            <a:off x="6400800" y="5613400"/>
            <a:ext cx="228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77725F"/>
                </a:solidFill>
                <a:latin typeface="MiSans"/>
                <a:ea typeface="MiSans"/>
              </a:rPr>
              <a:t>Mapping / Sizing 虚拟 Lab 实验</a:t>
            </a:r>
            <a:endParaRPr lang="en-US" sz="1050" noProof="1"/>
          </a:p>
        </p:txBody>
      </p:sp>
      <p:sp>
        <p:nvSpPr>
          <p:cNvPr id="23" name="stat4-num"/>
          <p:cNvSpPr txBox="1"/>
          <p:nvPr/>
        </p:nvSpPr>
        <p:spPr>
          <a:xfrm>
            <a:off x="9245600" y="5105400"/>
            <a:ext cx="203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C0652B"/>
                </a:solidFill>
                <a:latin typeface="思源宋体"/>
                <a:ea typeface="思源宋体"/>
              </a:rPr>
              <a:t>5 个</a:t>
            </a:r>
            <a:endParaRPr lang="en-US" sz="2800" noProof="1"/>
          </a:p>
        </p:txBody>
      </p:sp>
      <p:sp>
        <p:nvSpPr>
          <p:cNvPr id="24" name="stat4-label"/>
          <p:cNvSpPr txBox="1"/>
          <p:nvPr/>
        </p:nvSpPr>
        <p:spPr>
          <a:xfrm>
            <a:off x="9245600" y="5613400"/>
            <a:ext cx="2235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77725F"/>
                </a:solidFill>
                <a:latin typeface="MiSans"/>
                <a:ea typeface="MiSans"/>
              </a:rPr>
              <a:t>DTS 问题单（第 2–6 周）</a:t>
            </a:r>
            <a:endParaRPr lang="en-US" sz="1050" noProof="1"/>
          </a:p>
        </p:txBody>
      </p:sp>
      <p:sp>
        <p:nvSpPr>
          <p:cNvPr id="25" name="footer-lin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3C3"/>
          </a:solidFill>
          <a:ln>
            <a:noFill/>
          </a:ln>
        </p:spPr>
      </p:sp>
      <p:sp>
        <p:nvSpPr>
          <p:cNvPr id="26" name="footer"/>
          <p:cNvSpPr txBox="1"/>
          <p:nvPr/>
        </p:nvSpPr>
        <p:spPr>
          <a:xfrm>
            <a:off x="711200" y="65532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77725F"/>
                </a:solidFill>
                <a:latin typeface="MiSans"/>
                <a:ea typeface="MiSans"/>
              </a:rPr>
              <a:t>新员工中期答辩 · 周可玮 00981589</a:t>
            </a:r>
            <a:endParaRPr lang="en-US" sz="900" noProof="1"/>
          </a:p>
        </p:txBody>
      </p:sp>
      <p:sp>
        <p:nvSpPr>
          <p:cNvPr id="27" name="page-no"/>
          <p:cNvSpPr txBox="1"/>
          <p:nvPr/>
        </p:nvSpPr>
        <p:spPr>
          <a:xfrm>
            <a:off x="10210800" y="6553200"/>
            <a:ext cx="127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77725F"/>
                </a:solidFill>
                <a:latin typeface="MiSans"/>
                <a:ea typeface="MiSans"/>
              </a:rPr>
              <a:t>05 / 14</a:t>
            </a:r>
            <a:endParaRPr lang="en-US" sz="9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635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77725F"/>
                </a:solidFill>
                <a:latin typeface="MiSans"/>
                <a:ea typeface="MiSans"/>
              </a:rPr>
              <a:t>02 · 问题单实战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85800" y="635000"/>
            <a:ext cx="10795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6283C"/>
                </a:solidFill>
                <a:latin typeface="思源宋体"/>
                <a:ea typeface="思源宋体"/>
              </a:rPr>
              <a:t>五个 DTS 问题单：从定位、修复到验证走单</a:t>
            </a:r>
            <a:endParaRPr lang="en-US" sz="2400" noProof="1"/>
          </a:p>
        </p:txBody>
      </p:sp>
      <p:sp>
        <p:nvSpPr>
          <p:cNvPr id="4" name="tick"/>
          <p:cNvSpPr/>
          <p:nvPr/>
        </p:nvSpPr>
        <p:spPr>
          <a:xfrm>
            <a:off x="711200" y="1193800"/>
            <a:ext cx="431800" cy="38100"/>
          </a:xfrm>
          <a:prstGeom prst="rect">
            <a:avLst/>
          </a:prstGeom>
          <a:solidFill>
            <a:srgbClr val="C0652B"/>
          </a:solidFill>
          <a:ln>
            <a:noFill/>
          </a:ln>
        </p:spPr>
      </p:sp>
      <p:graphicFrame>
        <p:nvGraphicFramePr>
          <p:cNvPr id="5" name="dts-table"/>
          <p:cNvGraphicFramePr>
            <a:graphicFrameLocks noGrp="1"/>
          </p:cNvGraphicFramePr>
          <p:nvPr/>
        </p:nvGraphicFramePr>
        <p:xfrm>
          <a:off x="711200" y="1498600"/>
          <a:ext cx="10769600" cy="3810000"/>
        </p:xfrm>
        <a:graphic>
          <a:graphicData uri="http://schemas.openxmlformats.org/drawingml/2006/table">
            <a:tbl>
              <a:tblPr/>
              <a:tblGrid>
                <a:gridCol w="2369312"/>
                <a:gridCol w="6246368"/>
                <a:gridCol w="2153920"/>
              </a:tblGrid>
              <a:tr h="4572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 b="1">
                          <a:solidFill>
                            <a:srgbClr val="16283C"/>
                          </a:solidFill>
                          <a:latin typeface="Times New Roman"/>
                          <a:ea typeface="Times New Roman"/>
                        </a:rPr>
                        <a:t>问题单号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solidFill>
                      <a:srgbClr val="EAE5D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 b="1">
                          <a:solidFill>
                            <a:srgbClr val="16283C"/>
                          </a:solidFill>
                          <a:latin typeface="Times New Roman"/>
                          <a:ea typeface="Times New Roman"/>
                        </a:rPr>
                        <a:t>问题描述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solidFill>
                      <a:srgbClr val="EAE5D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 b="1">
                          <a:solidFill>
                            <a:srgbClr val="16283C"/>
                          </a:solidFill>
                          <a:latin typeface="Times New Roman"/>
                          <a:ea typeface="Times New Roman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solidFill>
                      <a:srgbClr val="EAE5D8"/>
                    </a:solidFill>
                  </a:tcPr>
                </a:tc>
              </a:tr>
              <a:tr h="67056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>
                          <a:solidFill>
                            <a:srgbClr val="2B2F36"/>
                          </a:solidFill>
                          <a:latin typeface="Times New Roman"/>
                          <a:ea typeface="Times New Roman"/>
                        </a:rPr>
                        <a:t>DTS2026060270314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>
                          <a:solidFill>
                            <a:srgbClr val="2B2F36"/>
                          </a:solidFill>
                          <a:latin typeface="Times New Roman"/>
                          <a:ea typeface="Times New Roman"/>
                        </a:rPr>
                        <a:t>不解析电路改名后 Mapping 失败；定位为缺少对应 json 文件，黄区修改后编译验证通过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 b="1">
                          <a:solidFill>
                            <a:srgbClr val="16283C"/>
                          </a:solidFill>
                          <a:latin typeface="Times New Roman"/>
                          <a:ea typeface="Times New Roman"/>
                        </a:rPr>
                        <a:t>已验证走单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</a:tr>
              <a:tr h="67056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>
                          <a:solidFill>
                            <a:srgbClr val="2B2F36"/>
                          </a:solidFill>
                          <a:latin typeface="Times New Roman"/>
                          <a:ea typeface="Times New Roman"/>
                        </a:rPr>
                        <a:t>DTS2026071514090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>
                          <a:solidFill>
                            <a:srgbClr val="2B2F36"/>
                          </a:solidFill>
                          <a:latin typeface="Times New Roman"/>
                          <a:ea typeface="Times New Roman"/>
                        </a:rPr>
                        <a:t>FloorPlan 未 Loading 完成时，切换 tx/rx FloorPlan 或更新 cds Path 直接弹窗失败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 b="1">
                          <a:solidFill>
                            <a:srgbClr val="16283C"/>
                          </a:solidFill>
                          <a:latin typeface="Times New Roman"/>
                          <a:ea typeface="Times New Roman"/>
                        </a:rPr>
                        <a:t>已验证走单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</a:tr>
              <a:tr h="67056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>
                          <a:solidFill>
                            <a:srgbClr val="2B2F36"/>
                          </a:solidFill>
                          <a:latin typeface="Times New Roman"/>
                          <a:ea typeface="Times New Roman"/>
                        </a:rPr>
                        <a:t>DTS2026080536041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>
                          <a:solidFill>
                            <a:srgbClr val="2B2F36"/>
                          </a:solidFill>
                          <a:latin typeface="Times New Roman"/>
                          <a:ea typeface="Times New Roman"/>
                        </a:rPr>
                        <a:t>完成根因定位、复现与黄区代码修改，并跟进新的修改方法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 b="1">
                          <a:solidFill>
                            <a:srgbClr val="16283C"/>
                          </a:solidFill>
                          <a:latin typeface="Times New Roman"/>
                          <a:ea typeface="Times New Roman"/>
                        </a:rPr>
                        <a:t>已验证走单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</a:tr>
              <a:tr h="67056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>
                          <a:solidFill>
                            <a:srgbClr val="2B2F36"/>
                          </a:solidFill>
                          <a:latin typeface="Times New Roman"/>
                          <a:ea typeface="Times New Roman"/>
                        </a:rPr>
                        <a:t>DTS2026082011975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>
                          <a:solidFill>
                            <a:srgbClr val="2B2F36"/>
                          </a:solidFill>
                          <a:latin typeface="Times New Roman"/>
                          <a:ea typeface="Times New Roman"/>
                        </a:rPr>
                        <a:t>配置 Target StdCell 首次输入字符串不能联想预期结果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 b="1">
                          <a:solidFill>
                            <a:srgbClr val="16283C"/>
                          </a:solidFill>
                          <a:latin typeface="Times New Roman"/>
                          <a:ea typeface="Times New Roman"/>
                        </a:rPr>
                        <a:t>已验证走单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</a:tr>
              <a:tr h="67056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>
                          <a:solidFill>
                            <a:srgbClr val="2B2F36"/>
                          </a:solidFill>
                          <a:latin typeface="Times New Roman"/>
                          <a:ea typeface="Times New Roman"/>
                        </a:rPr>
                        <a:t>DTS2026082422635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>
                          <a:solidFill>
                            <a:srgbClr val="2B2F36"/>
                          </a:solidFill>
                          <a:latin typeface="Times New Roman"/>
                          <a:ea typeface="Times New Roman"/>
                        </a:rPr>
                        <a:t>选择三个及以上 reference dut lib 时 Mapping 到目标电路不成功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 b="1">
                          <a:solidFill>
                            <a:srgbClr val="C0652B"/>
                          </a:solidFill>
                          <a:latin typeface="Times New Roman"/>
                          <a:ea typeface="Times New Roman"/>
                        </a:rPr>
                        <a:t>已修复，持续跟进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note-bar"/>
          <p:cNvSpPr/>
          <p:nvPr/>
        </p:nvSpPr>
        <p:spPr>
          <a:xfrm>
            <a:off x="711200" y="5638800"/>
            <a:ext cx="38100" cy="508000"/>
          </a:xfrm>
          <a:prstGeom prst="rect">
            <a:avLst/>
          </a:prstGeom>
          <a:solidFill>
            <a:srgbClr val="C0652B"/>
          </a:solidFill>
          <a:ln>
            <a:noFill/>
          </a:ln>
        </p:spPr>
      </p:sp>
      <p:sp>
        <p:nvSpPr>
          <p:cNvPr id="7" name="note-text"/>
          <p:cNvSpPr txBox="1"/>
          <p:nvPr/>
        </p:nvSpPr>
        <p:spPr>
          <a:xfrm>
            <a:off x="914400" y="56134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 b="1">
                <a:solidFill>
                  <a:srgbClr val="2B2F36"/>
                </a:solidFill>
                <a:latin typeface="MiSans"/>
                <a:ea typeface="MiSans"/>
              </a:rPr>
              <a:t>方法沉淀</a:t>
            </a:r>
            <a:r>
              <a:rPr lang="en-US" sz="1200" noProof="1">
                <a:solidFill>
                  <a:srgbClr val="2B2F36"/>
                </a:solidFill>
                <a:latin typeface="MiSans"/>
                <a:ea typeface="MiSans"/>
              </a:rPr>
              <a:t>：改代码前先把模块调用链与上下游影响摸清，改动他人代码前先与作者确认实现思路；第 5 周将手头 4 个问题单在新版本上集中验证并走单。</a:t>
            </a:r>
            <a:endParaRPr lang="en-US" sz="1200" noProof="1"/>
          </a:p>
        </p:txBody>
      </p:sp>
      <p:sp>
        <p:nvSpPr>
          <p:cNvPr id="8" name="footer-lin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3C3"/>
          </a:solidFill>
          <a:ln>
            <a:noFill/>
          </a:ln>
        </p:spPr>
      </p:sp>
      <p:sp>
        <p:nvSpPr>
          <p:cNvPr id="9" name="footer"/>
          <p:cNvSpPr txBox="1"/>
          <p:nvPr/>
        </p:nvSpPr>
        <p:spPr>
          <a:xfrm>
            <a:off x="711200" y="65532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77725F"/>
                </a:solidFill>
                <a:latin typeface="MiSans"/>
                <a:ea typeface="MiSans"/>
              </a:rPr>
              <a:t>新员工中期答辩 · 周可玮 00981589</a:t>
            </a:r>
            <a:endParaRPr lang="en-US" sz="900" noProof="1"/>
          </a:p>
        </p:txBody>
      </p:sp>
      <p:sp>
        <p:nvSpPr>
          <p:cNvPr id="10" name="page-no"/>
          <p:cNvSpPr txBox="1"/>
          <p:nvPr/>
        </p:nvSpPr>
        <p:spPr>
          <a:xfrm>
            <a:off x="10210800" y="6553200"/>
            <a:ext cx="127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77725F"/>
                </a:solidFill>
                <a:latin typeface="MiSans"/>
                <a:ea typeface="MiSans"/>
              </a:rPr>
              <a:t>06 / 14</a:t>
            </a:r>
            <a:endParaRPr lang="en-US" sz="9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635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77725F"/>
                </a:solidFill>
                <a:latin typeface="MiSans"/>
                <a:ea typeface="MiSans"/>
              </a:rPr>
              <a:t>03 · 重点工作：LDO 电路结构变换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85800" y="635000"/>
            <a:ext cx="10795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6283C"/>
                </a:solidFill>
                <a:latin typeface="思源宋体"/>
                <a:ea typeface="思源宋体"/>
              </a:rPr>
              <a:t>核心工作：在 Mapping 与 Sizing 之间补上结构变换能力</a:t>
            </a:r>
            <a:endParaRPr lang="en-US" sz="2400" noProof="1"/>
          </a:p>
        </p:txBody>
      </p:sp>
      <p:sp>
        <p:nvSpPr>
          <p:cNvPr id="4" name="tick"/>
          <p:cNvSpPr/>
          <p:nvPr/>
        </p:nvSpPr>
        <p:spPr>
          <a:xfrm>
            <a:off x="711200" y="1193800"/>
            <a:ext cx="431800" cy="38100"/>
          </a:xfrm>
          <a:prstGeom prst="rect">
            <a:avLst/>
          </a:prstGeom>
          <a:solidFill>
            <a:srgbClr val="C0652B"/>
          </a:solidFill>
          <a:ln>
            <a:noFill/>
          </a:ln>
        </p:spPr>
      </p:sp>
      <p:sp>
        <p:nvSpPr>
          <p:cNvPr id="5" name="intro"/>
          <p:cNvSpPr txBox="1"/>
          <p:nvPr/>
        </p:nvSpPr>
        <p:spPr>
          <a:xfrm>
            <a:off x="711200" y="1422400"/>
            <a:ext cx="10769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2B2F36"/>
                </a:solidFill>
                <a:latin typeface="MiSans"/>
                <a:ea typeface="MiSans"/>
              </a:rPr>
              <a:t>LDO 等模拟电路在自动调优中，仅靠器件匹配与尺寸调整无法覆盖全部场景，需要改变电路结构（Cascode 补偿、串联电阻、Stack 分压）才能继续调优。本需求为调优工具开发独立的结构变换功能：读取真实电路、按规则完成结构修改、生成可供 Sizing 使用的派生电路。</a:t>
            </a:r>
            <a:endParaRPr lang="en-US" sz="1250" noProof="1"/>
          </a:p>
        </p:txBody>
      </p:sp>
      <p:sp>
        <p:nvSpPr>
          <p:cNvPr id="6" name="box-1"/>
          <p:cNvSpPr/>
          <p:nvPr/>
        </p:nvSpPr>
        <p:spPr>
          <a:xfrm>
            <a:off x="1219200" y="2540000"/>
            <a:ext cx="2413000" cy="762000"/>
          </a:xfrm>
          <a:prstGeom prst="rect">
            <a:avLst/>
          </a:prstGeom>
          <a:solidFill>
            <a:srgbClr val="EAE5D8"/>
          </a:solidFill>
          <a:ln w="12700">
            <a:solidFill>
              <a:srgbClr val="D9D3C3"/>
            </a:solidFill>
          </a:ln>
        </p:spPr>
      </p:sp>
      <p:sp>
        <p:nvSpPr>
          <p:cNvPr id="7" name="box-1-text"/>
          <p:cNvSpPr txBox="1"/>
          <p:nvPr/>
        </p:nvSpPr>
        <p:spPr>
          <a:xfrm>
            <a:off x="1219200" y="2667000"/>
            <a:ext cx="2413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40000"/>
              </a:lnSpc>
            </a:pPr>
            <a:r>
              <a:rPr lang="en-US" sz="1400" noProof="1" b="1">
                <a:solidFill>
                  <a:srgbClr val="16283C"/>
                </a:solidFill>
                <a:latin typeface="MiSans"/>
                <a:ea typeface="MiSans"/>
              </a:rPr>
              <a:t>Mapping</a:t>
            </a:r>
            <a:endParaRPr lang="en-US" sz="1600" noProof="1"/>
          </a:p>
          <a:p>
            <a:pPr algn="ctr">
              <a:lnSpc>
                <a:spcPct val="140000"/>
              </a:lnSpc>
            </a:pPr>
            <a:r>
              <a:rPr lang="en-US" sz="1000" noProof="1">
                <a:solidFill>
                  <a:srgbClr val="77725F"/>
                </a:solidFill>
                <a:latin typeface="MiSans"/>
                <a:ea typeface="MiSans"/>
              </a:rPr>
              <a:t>器件匹配</a:t>
            </a:r>
            <a:endParaRPr lang="en-US" sz="1600" noProof="1"/>
          </a:p>
        </p:txBody>
      </p:sp>
      <p:sp>
        <p:nvSpPr>
          <p:cNvPr id="8" name="arrow-1"/>
          <p:cNvSpPr/>
          <p:nvPr>
            <p:extLst>
              <p:ext uri="{F5677B7D-0D2A-4D9B-9A5C-6D8D7D0E5A5D}">
                <pptd:line encoding="base64url">eyJ2aWV3Qm94IjpbNTIsNl0sInBvaW50cyI6IjAsMyA1MiwzIiwiY3VydmUiOiJzaGFycCJ9</pptd:line>
              </p:ext>
            </p:extLst>
          </p:nvPr>
        </p:nvSpPr>
        <p:spPr>
          <a:xfrm>
            <a:off x="3733800" y="2882900"/>
            <a:ext cx="660400" cy="76200"/>
          </a:xfrm>
          <a:custGeom>
            <a:avLst/>
            <a:gdLst/>
            <a:ahLst/>
            <a:cxnLst/>
            <a:rect l="l" t="t" r="r" b="b"/>
            <a:pathLst>
              <a:path w="52" h="6">
                <a:moveTo>
                  <a:pt x="0" y="3"/>
                </a:moveTo>
                <a:lnTo>
                  <a:pt x="52" y="3"/>
                </a:lnTo>
              </a:path>
            </a:pathLst>
          </a:custGeom>
          <a:noFill/>
          <a:ln w="19050">
            <a:solidFill>
              <a:srgbClr val="16283C"/>
            </a:solidFill>
            <a:tailEnd type="arrow"/>
          </a:ln>
        </p:spPr>
      </p:sp>
      <p:sp>
        <p:nvSpPr>
          <p:cNvPr id="9" name="box-2"/>
          <p:cNvSpPr/>
          <p:nvPr/>
        </p:nvSpPr>
        <p:spPr>
          <a:xfrm>
            <a:off x="4495800" y="2413000"/>
            <a:ext cx="3200400" cy="1016000"/>
          </a:xfrm>
          <a:prstGeom prst="rect">
            <a:avLst/>
          </a:prstGeom>
          <a:solidFill>
            <a:srgbClr val="16283C"/>
          </a:solidFill>
          <a:ln>
            <a:noFill/>
          </a:ln>
        </p:spPr>
      </p:sp>
      <p:sp>
        <p:nvSpPr>
          <p:cNvPr id="10" name="box-2-text"/>
          <p:cNvSpPr txBox="1"/>
          <p:nvPr/>
        </p:nvSpPr>
        <p:spPr>
          <a:xfrm>
            <a:off x="4495800" y="2616200"/>
            <a:ext cx="32004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50000"/>
              </a:lnSpc>
            </a:pPr>
            <a:r>
              <a:rPr lang="en-US" sz="1500" noProof="1" b="1">
                <a:solidFill>
                  <a:srgbClr val="FFFFFF"/>
                </a:solidFill>
                <a:latin typeface="MiSans"/>
                <a:ea typeface="MiSans"/>
              </a:rPr>
              <a:t>结构变换（本需求）</a:t>
            </a:r>
            <a:endParaRPr lang="en-US" sz="1600" noProof="1"/>
          </a:p>
          <a:p>
            <a:pPr algn="ctr">
              <a:lnSpc>
                <a:spcPct val="150000"/>
              </a:lnSpc>
            </a:pPr>
            <a:r>
              <a:rPr lang="en-US" sz="1000" noProof="1">
                <a:solidFill>
                  <a:srgbClr val="F5F2EB">
                    <a:alpha val="70196"/>
                  </a:srgbClr>
                </a:solidFill>
                <a:latin typeface="MiSans"/>
                <a:ea typeface="MiSans"/>
              </a:rPr>
              <a:t>四类结构变换 · 自动 VBIAS</a:t>
            </a:r>
            <a:endParaRPr lang="en-US" sz="1600" noProof="1"/>
          </a:p>
        </p:txBody>
      </p:sp>
      <p:sp>
        <p:nvSpPr>
          <p:cNvPr id="11" name="arrow-2"/>
          <p:cNvSpPr/>
          <p:nvPr>
            <p:extLst>
              <p:ext uri="{F5677B7D-0D2A-4D9B-9A5C-6D8D7D0E5A5D}">
                <pptd:line encoding="base64url">eyJ2aWV3Qm94IjpbNTIsNl0sInBvaW50cyI6IjAsMyA1MiwzIiwiY3VydmUiOiJzaGFycCJ9</pptd:line>
              </p:ext>
            </p:extLst>
          </p:nvPr>
        </p:nvSpPr>
        <p:spPr>
          <a:xfrm>
            <a:off x="7797800" y="2882900"/>
            <a:ext cx="660400" cy="76200"/>
          </a:xfrm>
          <a:custGeom>
            <a:avLst/>
            <a:gdLst/>
            <a:ahLst/>
            <a:cxnLst/>
            <a:rect l="l" t="t" r="r" b="b"/>
            <a:pathLst>
              <a:path w="52" h="6">
                <a:moveTo>
                  <a:pt x="0" y="3"/>
                </a:moveTo>
                <a:lnTo>
                  <a:pt x="52" y="3"/>
                </a:lnTo>
              </a:path>
            </a:pathLst>
          </a:custGeom>
          <a:noFill/>
          <a:ln w="19050">
            <a:solidFill>
              <a:srgbClr val="16283C"/>
            </a:solidFill>
            <a:tailEnd type="arrow"/>
          </a:ln>
        </p:spPr>
      </p:sp>
      <p:sp>
        <p:nvSpPr>
          <p:cNvPr id="12" name="box-3"/>
          <p:cNvSpPr/>
          <p:nvPr/>
        </p:nvSpPr>
        <p:spPr>
          <a:xfrm>
            <a:off x="8559800" y="2540000"/>
            <a:ext cx="2413000" cy="762000"/>
          </a:xfrm>
          <a:prstGeom prst="rect">
            <a:avLst/>
          </a:prstGeom>
          <a:solidFill>
            <a:srgbClr val="EAE5D8"/>
          </a:solidFill>
          <a:ln w="12700">
            <a:solidFill>
              <a:srgbClr val="D9D3C3"/>
            </a:solidFill>
          </a:ln>
        </p:spPr>
      </p:sp>
      <p:sp>
        <p:nvSpPr>
          <p:cNvPr id="13" name="box-3-text"/>
          <p:cNvSpPr txBox="1"/>
          <p:nvPr/>
        </p:nvSpPr>
        <p:spPr>
          <a:xfrm>
            <a:off x="8559800" y="2667000"/>
            <a:ext cx="2413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40000"/>
              </a:lnSpc>
            </a:pPr>
            <a:r>
              <a:rPr lang="en-US" sz="1400" noProof="1" b="1">
                <a:solidFill>
                  <a:srgbClr val="16283C"/>
                </a:solidFill>
                <a:latin typeface="MiSans"/>
                <a:ea typeface="MiSans"/>
              </a:rPr>
              <a:t>Sizing</a:t>
            </a:r>
            <a:endParaRPr lang="en-US" sz="1600" noProof="1"/>
          </a:p>
          <a:p>
            <a:pPr algn="ctr">
              <a:lnSpc>
                <a:spcPct val="140000"/>
              </a:lnSpc>
            </a:pPr>
            <a:r>
              <a:rPr lang="en-US" sz="1000" noProof="1">
                <a:solidFill>
                  <a:srgbClr val="77725F"/>
                </a:solidFill>
                <a:latin typeface="MiSans"/>
                <a:ea typeface="MiSans"/>
              </a:rPr>
              <a:t>尺寸调优</a:t>
            </a:r>
            <a:endParaRPr lang="en-US" sz="1600" noProof="1"/>
          </a:p>
        </p:txBody>
      </p:sp>
      <p:sp>
        <p:nvSpPr>
          <p:cNvPr id="14" name="constraint-h"/>
          <p:cNvSpPr txBox="1"/>
          <p:nvPr/>
        </p:nvSpPr>
        <p:spPr>
          <a:xfrm>
            <a:off x="711200" y="3937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6283C"/>
                </a:solidFill>
                <a:latin typeface="MiSans"/>
                <a:ea typeface="MiSans"/>
              </a:rPr>
              <a:t>三项硬性约束</a:t>
            </a:r>
            <a:endParaRPr lang="en-US" sz="1300" noProof="1"/>
          </a:p>
        </p:txBody>
      </p:sp>
      <p:sp>
        <p:nvSpPr>
          <p:cNvPr id="15" name="c1-num"/>
          <p:cNvSpPr txBox="1"/>
          <p:nvPr/>
        </p:nvSpPr>
        <p:spPr>
          <a:xfrm>
            <a:off x="711200" y="4318000"/>
            <a:ext cx="381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C0652B"/>
                </a:solidFill>
                <a:latin typeface="思源宋体"/>
                <a:ea typeface="思源宋体"/>
              </a:rPr>
              <a:t>①</a:t>
            </a:r>
            <a:endParaRPr lang="en-US" sz="1600" noProof="1"/>
          </a:p>
        </p:txBody>
      </p:sp>
      <p:sp>
        <p:nvSpPr>
          <p:cNvPr id="16" name="c1-text"/>
          <p:cNvSpPr txBox="1"/>
          <p:nvPr/>
        </p:nvSpPr>
        <p:spPr>
          <a:xfrm>
            <a:off x="1168400" y="4343400"/>
            <a:ext cx="10312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F36"/>
                </a:solidFill>
                <a:latin typeface="MiSans"/>
                <a:ea typeface="MiSans"/>
              </a:rPr>
              <a:t>不修改原始电路——所有改动只落在派生电路及封装子 Cell 上，源电路保持不变是校验前提</a:t>
            </a:r>
            <a:endParaRPr lang="en-US" sz="1200" noProof="1"/>
          </a:p>
        </p:txBody>
      </p:sp>
      <p:sp>
        <p:nvSpPr>
          <p:cNvPr id="17" name="c1-line"/>
          <p:cNvSpPr/>
          <p:nvPr/>
        </p:nvSpPr>
        <p:spPr>
          <a:xfrm>
            <a:off x="711200" y="4749800"/>
            <a:ext cx="10769600" cy="12700"/>
          </a:xfrm>
          <a:prstGeom prst="rect">
            <a:avLst/>
          </a:prstGeom>
          <a:solidFill>
            <a:srgbClr val="D9D3C3"/>
          </a:solidFill>
          <a:ln>
            <a:noFill/>
          </a:ln>
        </p:spPr>
      </p:sp>
      <p:sp>
        <p:nvSpPr>
          <p:cNvPr id="18" name="c2-num"/>
          <p:cNvSpPr txBox="1"/>
          <p:nvPr/>
        </p:nvSpPr>
        <p:spPr>
          <a:xfrm>
            <a:off x="711200" y="4927600"/>
            <a:ext cx="381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C0652B"/>
                </a:solidFill>
                <a:latin typeface="思源宋体"/>
                <a:ea typeface="思源宋体"/>
              </a:rPr>
              <a:t>②</a:t>
            </a:r>
            <a:endParaRPr lang="en-US" sz="1600" noProof="1"/>
          </a:p>
        </p:txBody>
      </p:sp>
      <p:sp>
        <p:nvSpPr>
          <p:cNvPr id="19" name="c2-text"/>
          <p:cNvSpPr txBox="1"/>
          <p:nvPr/>
        </p:nvSpPr>
        <p:spPr>
          <a:xfrm>
            <a:off x="1168400" y="4953000"/>
            <a:ext cx="10312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F36"/>
                </a:solidFill>
                <a:latin typeface="MiSans"/>
                <a:ea typeface="MiSans"/>
              </a:rPr>
              <a:t>PDK 合规——器件端子顺序、CDF 参数、尺寸与阻值范围均按当前 PDK 信息检查</a:t>
            </a:r>
            <a:endParaRPr lang="en-US" sz="1200" noProof="1"/>
          </a:p>
        </p:txBody>
      </p:sp>
      <p:sp>
        <p:nvSpPr>
          <p:cNvPr id="20" name="c2-line"/>
          <p:cNvSpPr/>
          <p:nvPr/>
        </p:nvSpPr>
        <p:spPr>
          <a:xfrm>
            <a:off x="711200" y="5359400"/>
            <a:ext cx="10769600" cy="12700"/>
          </a:xfrm>
          <a:prstGeom prst="rect">
            <a:avLst/>
          </a:prstGeom>
          <a:solidFill>
            <a:srgbClr val="D9D3C3"/>
          </a:solidFill>
          <a:ln>
            <a:noFill/>
          </a:ln>
        </p:spPr>
      </p:sp>
      <p:sp>
        <p:nvSpPr>
          <p:cNvPr id="21" name="c3-num"/>
          <p:cNvSpPr txBox="1"/>
          <p:nvPr/>
        </p:nvSpPr>
        <p:spPr>
          <a:xfrm>
            <a:off x="711200" y="5537200"/>
            <a:ext cx="381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C0652B"/>
                </a:solidFill>
                <a:latin typeface="思源宋体"/>
                <a:ea typeface="思源宋体"/>
              </a:rPr>
              <a:t>③</a:t>
            </a:r>
            <a:endParaRPr lang="en-US" sz="1600" noProof="1"/>
          </a:p>
        </p:txBody>
      </p:sp>
      <p:sp>
        <p:nvSpPr>
          <p:cNvPr id="22" name="c3-text"/>
          <p:cNvSpPr txBox="1"/>
          <p:nvPr/>
        </p:nvSpPr>
        <p:spPr>
          <a:xfrm>
            <a:off x="1168400" y="5562600"/>
            <a:ext cx="10312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F36"/>
                </a:solidFill>
                <a:latin typeface="MiSans"/>
                <a:ea typeface="MiSans"/>
              </a:rPr>
              <a:t>可回读校验——源电路、期望网表、派生电路与封装子 Cell 多级比对全部一致，才输出 ready_for_sizing = true</a:t>
            </a:r>
            <a:endParaRPr lang="en-US" sz="1200" noProof="1"/>
          </a:p>
        </p:txBody>
      </p:sp>
      <p:sp>
        <p:nvSpPr>
          <p:cNvPr id="23" name="c3-line"/>
          <p:cNvSpPr/>
          <p:nvPr/>
        </p:nvSpPr>
        <p:spPr>
          <a:xfrm>
            <a:off x="711200" y="5969000"/>
            <a:ext cx="10769600" cy="12700"/>
          </a:xfrm>
          <a:prstGeom prst="rect">
            <a:avLst/>
          </a:prstGeom>
          <a:solidFill>
            <a:srgbClr val="D9D3C3"/>
          </a:solidFill>
          <a:ln>
            <a:noFill/>
          </a:ln>
        </p:spPr>
      </p:sp>
      <p:sp>
        <p:nvSpPr>
          <p:cNvPr id="24" name="footer-lin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3C3"/>
          </a:solidFill>
          <a:ln>
            <a:noFill/>
          </a:ln>
        </p:spPr>
      </p:sp>
      <p:sp>
        <p:nvSpPr>
          <p:cNvPr id="25" name="footer"/>
          <p:cNvSpPr txBox="1"/>
          <p:nvPr/>
        </p:nvSpPr>
        <p:spPr>
          <a:xfrm>
            <a:off x="711200" y="65532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77725F"/>
                </a:solidFill>
                <a:latin typeface="MiSans"/>
                <a:ea typeface="MiSans"/>
              </a:rPr>
              <a:t>新员工中期答辩 · 周可玮 00981589</a:t>
            </a:r>
            <a:endParaRPr lang="en-US" sz="900" noProof="1"/>
          </a:p>
        </p:txBody>
      </p:sp>
      <p:sp>
        <p:nvSpPr>
          <p:cNvPr id="26" name="page-no"/>
          <p:cNvSpPr txBox="1"/>
          <p:nvPr/>
        </p:nvSpPr>
        <p:spPr>
          <a:xfrm>
            <a:off x="10210800" y="6553200"/>
            <a:ext cx="127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77725F"/>
                </a:solidFill>
                <a:latin typeface="MiSans"/>
                <a:ea typeface="MiSans"/>
              </a:rPr>
              <a:t>07 / 14</a:t>
            </a:r>
            <a:endParaRPr lang="en-US" sz="9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635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77725F"/>
                </a:solidFill>
                <a:latin typeface="MiSans"/>
                <a:ea typeface="MiSans"/>
              </a:rPr>
              <a:t>03 · 重点工作：LDO 电路结构变换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85800" y="635000"/>
            <a:ext cx="10795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6283C"/>
                </a:solidFill>
                <a:latin typeface="思源宋体"/>
                <a:ea typeface="思源宋体"/>
              </a:rPr>
              <a:t>四类结构变换：连接规则与参数来源均已明确</a:t>
            </a:r>
            <a:endParaRPr lang="en-US" sz="2400" noProof="1"/>
          </a:p>
        </p:txBody>
      </p:sp>
      <p:sp>
        <p:nvSpPr>
          <p:cNvPr id="4" name="tick"/>
          <p:cNvSpPr/>
          <p:nvPr/>
        </p:nvSpPr>
        <p:spPr>
          <a:xfrm>
            <a:off x="711200" y="1193800"/>
            <a:ext cx="431800" cy="38100"/>
          </a:xfrm>
          <a:prstGeom prst="rect">
            <a:avLst/>
          </a:prstGeom>
          <a:solidFill>
            <a:srgbClr val="C0652B"/>
          </a:solidFill>
          <a:ln>
            <a:noFill/>
          </a:ln>
        </p:spPr>
      </p:sp>
      <p:graphicFrame>
        <p:nvGraphicFramePr>
          <p:cNvPr id="5" name="trans-table"/>
          <p:cNvGraphicFramePr>
            <a:graphicFrameLocks noGrp="1"/>
          </p:cNvGraphicFramePr>
          <p:nvPr/>
        </p:nvGraphicFramePr>
        <p:xfrm>
          <a:off x="711200" y="1498600"/>
          <a:ext cx="10769600" cy="3759200"/>
        </p:xfrm>
        <a:graphic>
          <a:graphicData uri="http://schemas.openxmlformats.org/drawingml/2006/table">
            <a:tbl>
              <a:tblPr/>
              <a:tblGrid>
                <a:gridCol w="1723136"/>
                <a:gridCol w="5384800"/>
                <a:gridCol w="3661664"/>
              </a:tblGrid>
              <a:tr h="413512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 b="1">
                          <a:solidFill>
                            <a:srgbClr val="16283C"/>
                          </a:solidFill>
                          <a:latin typeface="Times New Roman"/>
                          <a:ea typeface="Times New Roman"/>
                        </a:rPr>
                        <a:t>变换类型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solidFill>
                      <a:srgbClr val="EAE5D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 b="1">
                          <a:solidFill>
                            <a:srgbClr val="16283C"/>
                          </a:solidFill>
                          <a:latin typeface="Times New Roman"/>
                          <a:ea typeface="Times New Roman"/>
                        </a:rPr>
                        <a:t>连接规则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solidFill>
                      <a:srgbClr val="EAE5D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 b="1">
                          <a:solidFill>
                            <a:srgbClr val="16283C"/>
                          </a:solidFill>
                          <a:latin typeface="Times New Roman"/>
                          <a:ea typeface="Times New Roman"/>
                        </a:rPr>
                        <a:t>参数与约束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solidFill>
                      <a:srgbClr val="EAE5D8"/>
                    </a:solidFill>
                  </a:tcPr>
                </a:tc>
              </a:tr>
              <a:tr h="836422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 b="1">
                          <a:solidFill>
                            <a:srgbClr val="16283C"/>
                          </a:solidFill>
                          <a:latin typeface="Times New Roman"/>
                          <a:ea typeface="Times New Roman"/>
                        </a:rPr>
                        <a:t>同型 Cascode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>
                          <a:solidFill>
                            <a:srgbClr val="2B2F36"/>
                          </a:solidFill>
                          <a:latin typeface="Times New Roman"/>
                          <a:ea typeface="Times New Roman"/>
                        </a:rPr>
                        <a:t>串联相同型号 MOS；NMOS 新增管位于原管 Drain 侧、PMOS 位于 Source 侧；原 MOS 的 Gate 功能连接保持不变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>
                          <a:solidFill>
                            <a:srgbClr val="2B2F36"/>
                          </a:solidFill>
                          <a:latin typeface="Times New Roman"/>
                          <a:ea typeface="Times New Roman"/>
                        </a:rPr>
                        <a:t>器件极性、电压域、Bulk 连接按 PDK 检查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</a:tr>
              <a:tr h="836422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 b="1">
                          <a:solidFill>
                            <a:srgbClr val="16283C"/>
                          </a:solidFill>
                          <a:latin typeface="Times New Roman"/>
                          <a:ea typeface="Times New Roman"/>
                        </a:rPr>
                        <a:t>异型 Cascode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>
                          <a:solidFill>
                            <a:srgbClr val="2B2F36"/>
                          </a:solidFill>
                          <a:latin typeface="Times New Roman"/>
                          <a:ea typeface="Times New Roman"/>
                        </a:rPr>
                        <a:t>串联同极性、不同型号 MOS；栅极连接规则与同型 Cascode 一致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>
                          <a:solidFill>
                            <a:srgbClr val="2B2F36"/>
                          </a:solidFill>
                          <a:latin typeface="Times New Roman"/>
                          <a:ea typeface="Times New Roman"/>
                        </a:rPr>
                        <a:t>候选器件由 PDK 扫描给出；待 PDK / Case 提供允许组合后完成正向验证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</a:tr>
              <a:tr h="836422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 b="1">
                          <a:solidFill>
                            <a:srgbClr val="16283C"/>
                          </a:solidFill>
                          <a:latin typeface="Times New Roman"/>
                          <a:ea typeface="Times New Roman"/>
                        </a:rPr>
                        <a:t>MOS 串联电阻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>
                          <a:solidFill>
                            <a:srgbClr val="2B2F36"/>
                          </a:solidFill>
                          <a:latin typeface="Times New Roman"/>
                          <a:ea typeface="Times New Roman"/>
                        </a:rPr>
                        <a:t>不替换原 MOS，在其 Source 侧串联一个真实 PDK 电阻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>
                          <a:solidFill>
                            <a:srgbClr val="2B2F36"/>
                          </a:solidFill>
                          <a:latin typeface="Times New Roman"/>
                          <a:ea typeface="Times New Roman"/>
                        </a:rPr>
                        <a:t>阻值优先采用用户输入，其次 Case 预设值；范围按 PDK 校验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</a:tr>
              <a:tr h="836422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 b="1">
                          <a:solidFill>
                            <a:srgbClr val="16283C"/>
                          </a:solidFill>
                          <a:latin typeface="Times New Roman"/>
                          <a:ea typeface="Times New Roman"/>
                        </a:rPr>
                        <a:t>多级 MOS Stack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>
                          <a:solidFill>
                            <a:srgbClr val="2B2F36"/>
                          </a:solidFill>
                          <a:latin typeface="Times New Roman"/>
                          <a:ea typeface="Times New Roman"/>
                        </a:rPr>
                        <a:t>各级共用原 MOS 栅极，并继承原器件参数与 Bulk 连接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>
                          <a:solidFill>
                            <a:srgbClr val="2B2F36"/>
                          </a:solidFill>
                          <a:latin typeface="Times New Roman"/>
                          <a:ea typeface="Times New Roman"/>
                        </a:rPr>
                        <a:t>用于 stack 分压场景；尺寸范围按 PDK 校验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note-bar"/>
          <p:cNvSpPr/>
          <p:nvPr/>
        </p:nvSpPr>
        <p:spPr>
          <a:xfrm>
            <a:off x="711200" y="5588000"/>
            <a:ext cx="38100" cy="508000"/>
          </a:xfrm>
          <a:prstGeom prst="rect">
            <a:avLst/>
          </a:prstGeom>
          <a:solidFill>
            <a:srgbClr val="C0652B"/>
          </a:solidFill>
          <a:ln>
            <a:noFill/>
          </a:ln>
        </p:spPr>
      </p:sp>
      <p:sp>
        <p:nvSpPr>
          <p:cNvPr id="7" name="note-text"/>
          <p:cNvSpPr txBox="1"/>
          <p:nvPr/>
        </p:nvSpPr>
        <p:spPr>
          <a:xfrm>
            <a:off x="914400" y="55626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 b="1">
                <a:solidFill>
                  <a:srgbClr val="2B2F36"/>
                </a:solidFill>
                <a:latin typeface="MiSans"/>
                <a:ea typeface="MiSans"/>
              </a:rPr>
              <a:t>封装策略</a:t>
            </a:r>
            <a:r>
              <a:rPr lang="en-US" sz="1200" noProof="1">
                <a:solidFill>
                  <a:srgbClr val="2B2F36"/>
                </a:solidFill>
                <a:latin typeface="MiSans"/>
                <a:ea typeface="MiSans"/>
              </a:rPr>
              <a:t>：每次变换的新增器件生成独立子 Cell，核心电路只保留封装实例；同一区域连续修改合并到同一封装，避免多次修改产生重叠电路。</a:t>
            </a:r>
            <a:endParaRPr lang="en-US" sz="1200" noProof="1"/>
          </a:p>
        </p:txBody>
      </p:sp>
      <p:sp>
        <p:nvSpPr>
          <p:cNvPr id="8" name="footer-lin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3C3"/>
          </a:solidFill>
          <a:ln>
            <a:noFill/>
          </a:ln>
        </p:spPr>
      </p:sp>
      <p:sp>
        <p:nvSpPr>
          <p:cNvPr id="9" name="footer"/>
          <p:cNvSpPr txBox="1"/>
          <p:nvPr/>
        </p:nvSpPr>
        <p:spPr>
          <a:xfrm>
            <a:off x="711200" y="65532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77725F"/>
                </a:solidFill>
                <a:latin typeface="MiSans"/>
                <a:ea typeface="MiSans"/>
              </a:rPr>
              <a:t>新员工中期答辩 · 周可玮 00981589</a:t>
            </a:r>
            <a:endParaRPr lang="en-US" sz="900" noProof="1"/>
          </a:p>
        </p:txBody>
      </p:sp>
      <p:sp>
        <p:nvSpPr>
          <p:cNvPr id="10" name="page-no"/>
          <p:cNvSpPr txBox="1"/>
          <p:nvPr/>
        </p:nvSpPr>
        <p:spPr>
          <a:xfrm>
            <a:off x="10210800" y="6553200"/>
            <a:ext cx="127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77725F"/>
                </a:solidFill>
                <a:latin typeface="MiSans"/>
                <a:ea typeface="MiSans"/>
              </a:rPr>
              <a:t>08 / 14</a:t>
            </a:r>
            <a:endParaRPr lang="en-US" sz="9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635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77725F"/>
                </a:solidFill>
                <a:latin typeface="MiSans"/>
                <a:ea typeface="MiSans"/>
              </a:rPr>
              <a:t>03 · 重点工作：LDO 电路结构变换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85800" y="635000"/>
            <a:ext cx="10795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6283C"/>
                </a:solidFill>
                <a:latin typeface="思源宋体"/>
                <a:ea typeface="思源宋体"/>
              </a:rPr>
              <a:t>自动 VBIAS：按 PDK 自动选器件，工作点闭环求解参数</a:t>
            </a:r>
            <a:endParaRPr lang="en-US" sz="2400" noProof="1"/>
          </a:p>
        </p:txBody>
      </p:sp>
      <p:sp>
        <p:nvSpPr>
          <p:cNvPr id="4" name="tick"/>
          <p:cNvSpPr/>
          <p:nvPr/>
        </p:nvSpPr>
        <p:spPr>
          <a:xfrm>
            <a:off x="711200" y="1193800"/>
            <a:ext cx="431800" cy="38100"/>
          </a:xfrm>
          <a:prstGeom prst="rect">
            <a:avLst/>
          </a:prstGeom>
          <a:solidFill>
            <a:srgbClr val="C0652B"/>
          </a:solidFill>
          <a:ln>
            <a:noFill/>
          </a:ln>
        </p:spPr>
      </p:sp>
      <p:sp>
        <p:nvSpPr>
          <p:cNvPr id="5" name="d1-num"/>
          <p:cNvSpPr txBox="1"/>
          <p:nvPr/>
        </p:nvSpPr>
        <p:spPr>
          <a:xfrm>
            <a:off x="711200" y="15494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C0652B"/>
                </a:solidFill>
                <a:latin typeface="思源宋体"/>
                <a:ea typeface="思源宋体"/>
              </a:rPr>
              <a:t>1</a:t>
            </a:r>
            <a:endParaRPr lang="en-US" sz="1300" noProof="1"/>
          </a:p>
        </p:txBody>
      </p:sp>
      <p:sp>
        <p:nvSpPr>
          <p:cNvPr id="6" name="d1-text"/>
          <p:cNvSpPr txBox="1"/>
          <p:nvPr/>
        </p:nvSpPr>
        <p:spPr>
          <a:xfrm>
            <a:off x="1117600" y="1562100"/>
            <a:ext cx="5181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2B2F36"/>
                </a:solidFill>
                <a:latin typeface="MiSans"/>
                <a:ea typeface="MiSans"/>
              </a:rPr>
              <a:t>每个 Cascode 独立生成一个 VBIAS CellView，不复用原电路 Bias 支路，支持外部参考电流输入</a:t>
            </a:r>
            <a:endParaRPr lang="en-US" sz="1200" noProof="1"/>
          </a:p>
        </p:txBody>
      </p:sp>
      <p:sp>
        <p:nvSpPr>
          <p:cNvPr id="7" name="d2-num"/>
          <p:cNvSpPr txBox="1"/>
          <p:nvPr/>
        </p:nvSpPr>
        <p:spPr>
          <a:xfrm>
            <a:off x="711200" y="23368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C0652B"/>
                </a:solidFill>
                <a:latin typeface="思源宋体"/>
                <a:ea typeface="思源宋体"/>
              </a:rPr>
              <a:t>2</a:t>
            </a:r>
            <a:endParaRPr lang="en-US" sz="1300" noProof="1"/>
          </a:p>
        </p:txBody>
      </p:sp>
      <p:sp>
        <p:nvSpPr>
          <p:cNvPr id="8" name="d2-text"/>
          <p:cNvSpPr txBox="1"/>
          <p:nvPr/>
        </p:nvSpPr>
        <p:spPr>
          <a:xfrm>
            <a:off x="1117600" y="2349500"/>
            <a:ext cx="5181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2B2F36"/>
                </a:solidFill>
                <a:latin typeface="MiSans"/>
                <a:ea typeface="MiSans"/>
              </a:rPr>
              <a:t>NMOS / PMOS 两套偏置模板，模板内部 MOS 与电阻由工具根据当前 PDK 自动选择</a:t>
            </a:r>
            <a:endParaRPr lang="en-US" sz="1200" noProof="1"/>
          </a:p>
        </p:txBody>
      </p:sp>
      <p:sp>
        <p:nvSpPr>
          <p:cNvPr id="9" name="d3-num"/>
          <p:cNvSpPr txBox="1"/>
          <p:nvPr/>
        </p:nvSpPr>
        <p:spPr>
          <a:xfrm>
            <a:off x="711200" y="31242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C0652B"/>
                </a:solidFill>
                <a:latin typeface="思源宋体"/>
                <a:ea typeface="思源宋体"/>
              </a:rPr>
              <a:t>3</a:t>
            </a:r>
            <a:endParaRPr lang="en-US" sz="1300" noProof="1"/>
          </a:p>
        </p:txBody>
      </p:sp>
      <p:sp>
        <p:nvSpPr>
          <p:cNvPr id="10" name="d3-text"/>
          <p:cNvSpPr txBox="1"/>
          <p:nvPr/>
        </p:nvSpPr>
        <p:spPr>
          <a:xfrm>
            <a:off x="1117600" y="3136900"/>
            <a:ext cx="5181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2B2F36"/>
                </a:solidFill>
                <a:latin typeface="MiSans"/>
                <a:ea typeface="MiSans"/>
              </a:rPr>
              <a:t>不依赖固定器件名称或预登记的器件配对表，候选器件由 PDK 扫描实时给出</a:t>
            </a:r>
            <a:endParaRPr lang="en-US" sz="1200" noProof="1"/>
          </a:p>
        </p:txBody>
      </p:sp>
      <p:sp>
        <p:nvSpPr>
          <p:cNvPr id="11" name="d4-num"/>
          <p:cNvSpPr txBox="1"/>
          <p:nvPr/>
        </p:nvSpPr>
        <p:spPr>
          <a:xfrm>
            <a:off x="711200" y="39116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C0652B"/>
                </a:solidFill>
                <a:latin typeface="思源宋体"/>
                <a:ea typeface="思源宋体"/>
              </a:rPr>
              <a:t>4</a:t>
            </a:r>
            <a:endParaRPr lang="en-US" sz="1300" noProof="1"/>
          </a:p>
        </p:txBody>
      </p:sp>
      <p:sp>
        <p:nvSpPr>
          <p:cNvPr id="12" name="d4-text"/>
          <p:cNvSpPr txBox="1"/>
          <p:nvPr/>
        </p:nvSpPr>
        <p:spPr>
          <a:xfrm>
            <a:off x="1117600" y="3924300"/>
            <a:ext cx="5181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2B2F36"/>
                </a:solidFill>
                <a:latin typeface="MiSans"/>
                <a:ea typeface="MiSans"/>
              </a:rPr>
              <a:t>器件参数通过直流工作点闭环求解，仿真结果与预期逐项核对</a:t>
            </a:r>
            <a:endParaRPr lang="en-US" sz="1200" noProof="1"/>
          </a:p>
        </p:txBody>
      </p:sp>
      <p:sp>
        <p:nvSpPr>
          <p:cNvPr id="13" name="d5-num"/>
          <p:cNvSpPr txBox="1"/>
          <p:nvPr/>
        </p:nvSpPr>
        <p:spPr>
          <a:xfrm>
            <a:off x="711200" y="46990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C0652B"/>
                </a:solidFill>
                <a:latin typeface="思源宋体"/>
                <a:ea typeface="思源宋体"/>
              </a:rPr>
              <a:t>5</a:t>
            </a:r>
            <a:endParaRPr lang="en-US" sz="1300" noProof="1"/>
          </a:p>
        </p:txBody>
      </p:sp>
      <p:sp>
        <p:nvSpPr>
          <p:cNvPr id="14" name="d5-text"/>
          <p:cNvSpPr txBox="1"/>
          <p:nvPr/>
        </p:nvSpPr>
        <p:spPr>
          <a:xfrm>
            <a:off x="1117600" y="4711700"/>
            <a:ext cx="51816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2B2F36"/>
                </a:solidFill>
                <a:latin typeface="MiSans"/>
                <a:ea typeface="MiSans"/>
              </a:rPr>
              <a:t>旧 Bias 链路清理：取消手工填写参考电流、参考网络与 VBIAS 电压，删除未使用的电阻阶梯与多抽头逻辑</a:t>
            </a:r>
            <a:endParaRPr lang="en-US" sz="1200" noProof="1"/>
          </a:p>
        </p:txBody>
      </p:sp>
      <p:sp>
        <p:nvSpPr>
          <p:cNvPr id="15" name="cas-box"/>
          <p:cNvSpPr/>
          <p:nvPr/>
        </p:nvSpPr>
        <p:spPr>
          <a:xfrm>
            <a:off x="7620000" y="1625600"/>
            <a:ext cx="3352800" cy="711200"/>
          </a:xfrm>
          <a:prstGeom prst="rect">
            <a:avLst/>
          </a:prstGeom>
          <a:solidFill>
            <a:srgbClr val="EAE5D8"/>
          </a:solidFill>
          <a:ln w="12700">
            <a:solidFill>
              <a:srgbClr val="D9D3C3"/>
            </a:solidFill>
          </a:ln>
        </p:spPr>
      </p:sp>
      <p:sp>
        <p:nvSpPr>
          <p:cNvPr id="16" name="cas-text"/>
          <p:cNvSpPr txBox="1"/>
          <p:nvPr/>
        </p:nvSpPr>
        <p:spPr>
          <a:xfrm>
            <a:off x="7620000" y="1752600"/>
            <a:ext cx="3352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40000"/>
              </a:lnSpc>
            </a:pPr>
            <a:r>
              <a:rPr lang="en-US" sz="1300" noProof="1" b="1">
                <a:solidFill>
                  <a:srgbClr val="16283C"/>
                </a:solidFill>
                <a:latin typeface="MiSans"/>
                <a:ea typeface="MiSans"/>
              </a:rPr>
              <a:t>Cascode 变换区域</a:t>
            </a:r>
            <a:endParaRPr lang="en-US" sz="1600" noProof="1"/>
          </a:p>
          <a:p>
            <a:pPr algn="ctr">
              <a:lnSpc>
                <a:spcPct val="140000"/>
              </a:lnSpc>
            </a:pPr>
            <a:r>
              <a:rPr lang="en-US" sz="1000" noProof="1">
                <a:solidFill>
                  <a:srgbClr val="77725F"/>
                </a:solidFill>
                <a:latin typeface="MiSans"/>
                <a:ea typeface="MiSans"/>
              </a:rPr>
              <a:t>原 MOS ＋ 新增串联 MOS</a:t>
            </a:r>
            <a:endParaRPr lang="en-US" sz="1600" noProof="1"/>
          </a:p>
        </p:txBody>
      </p:sp>
      <p:sp>
        <p:nvSpPr>
          <p:cNvPr id="17" name="vbias-arrow"/>
          <p:cNvSpPr/>
          <p:nvPr>
            <p:extLst>
              <p:ext uri="{F5677B7D-0D2A-4D9B-9A5C-6D8D7D0E5A5D}">
                <pptd:line encoding="base64url">eyJ2aWV3Qm94IjpbNiw1Nl0sInBvaW50cyI6IjMsNTYgMywwIiwiY3VydmUiOiJzaGFycCJ9</pptd:line>
              </p:ext>
            </p:extLst>
          </p:nvPr>
        </p:nvSpPr>
        <p:spPr>
          <a:xfrm>
            <a:off x="9220200" y="2413000"/>
            <a:ext cx="76200" cy="711200"/>
          </a:xfrm>
          <a:custGeom>
            <a:avLst/>
            <a:gdLst/>
            <a:ahLst/>
            <a:cxnLst/>
            <a:rect l="l" t="t" r="r" b="b"/>
            <a:pathLst>
              <a:path w="6" h="56">
                <a:moveTo>
                  <a:pt x="3" y="56"/>
                </a:moveTo>
                <a:lnTo>
                  <a:pt x="3" y="0"/>
                </a:lnTo>
              </a:path>
            </a:pathLst>
          </a:custGeom>
          <a:noFill/>
          <a:ln w="19050">
            <a:solidFill>
              <a:srgbClr val="16283C"/>
            </a:solidFill>
            <a:tailEnd type="arrow"/>
          </a:ln>
        </p:spPr>
      </p:sp>
      <p:sp>
        <p:nvSpPr>
          <p:cNvPr id="18" name="vbias-arrow-label"/>
          <p:cNvSpPr txBox="1"/>
          <p:nvPr/>
        </p:nvSpPr>
        <p:spPr>
          <a:xfrm>
            <a:off x="9448800" y="26416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77725F"/>
                </a:solidFill>
                <a:latin typeface="MiSans"/>
                <a:ea typeface="MiSans"/>
              </a:rPr>
              <a:t>偏置电压</a:t>
            </a:r>
            <a:endParaRPr lang="en-US" sz="1000" noProof="1"/>
          </a:p>
        </p:txBody>
      </p:sp>
      <p:sp>
        <p:nvSpPr>
          <p:cNvPr id="19" name="vbias-box"/>
          <p:cNvSpPr/>
          <p:nvPr/>
        </p:nvSpPr>
        <p:spPr>
          <a:xfrm>
            <a:off x="7620000" y="3200400"/>
            <a:ext cx="3352800" cy="812800"/>
          </a:xfrm>
          <a:prstGeom prst="rect">
            <a:avLst/>
          </a:prstGeom>
          <a:solidFill>
            <a:srgbClr val="16283C"/>
          </a:solidFill>
          <a:ln>
            <a:noFill/>
          </a:ln>
        </p:spPr>
      </p:sp>
      <p:sp>
        <p:nvSpPr>
          <p:cNvPr id="20" name="vbias-text"/>
          <p:cNvSpPr txBox="1"/>
          <p:nvPr/>
        </p:nvSpPr>
        <p:spPr>
          <a:xfrm>
            <a:off x="7620000" y="3340100"/>
            <a:ext cx="33528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45000"/>
              </a:lnSpc>
            </a:pPr>
            <a:r>
              <a:rPr lang="en-US" sz="1300" noProof="1" b="1">
                <a:solidFill>
                  <a:srgbClr val="FFFFFF"/>
                </a:solidFill>
                <a:latin typeface="MiSans"/>
                <a:ea typeface="MiSans"/>
              </a:rPr>
              <a:t>VBIAS CellView</a:t>
            </a:r>
            <a:endParaRPr lang="en-US" sz="1600" noProof="1"/>
          </a:p>
          <a:p>
            <a:pPr algn="ctr">
              <a:lnSpc>
                <a:spcPct val="145000"/>
              </a:lnSpc>
            </a:pPr>
            <a:r>
              <a:rPr lang="en-US" sz="1000" noProof="1">
                <a:solidFill>
                  <a:srgbClr val="F5F2EB">
                    <a:alpha val="70196"/>
                  </a:srgbClr>
                </a:solidFill>
                <a:latin typeface="MiSans"/>
                <a:ea typeface="MiSans"/>
              </a:rPr>
              <a:t>NMOS / PMOS 两套模板 · 独立生成</a:t>
            </a:r>
            <a:endParaRPr lang="en-US" sz="1600" noProof="1"/>
          </a:p>
        </p:txBody>
      </p:sp>
      <p:sp>
        <p:nvSpPr>
          <p:cNvPr id="21" name="vbias-caption"/>
          <p:cNvSpPr txBox="1"/>
          <p:nvPr/>
        </p:nvSpPr>
        <p:spPr>
          <a:xfrm>
            <a:off x="7620000" y="4140200"/>
            <a:ext cx="3352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00" noProof="1">
                <a:solidFill>
                  <a:srgbClr val="77725F"/>
                </a:solidFill>
                <a:latin typeface="MiSans"/>
                <a:ea typeface="MiSans"/>
              </a:rPr>
              <a:t>器件由 PDK 扫描自动选择，参数由直流工作点闭环求解，外部提供参考电流</a:t>
            </a:r>
            <a:endParaRPr lang="en-US" sz="1000" noProof="1"/>
          </a:p>
        </p:txBody>
      </p:sp>
      <p:sp>
        <p:nvSpPr>
          <p:cNvPr id="22" name="chain-label"/>
          <p:cNvSpPr txBox="1"/>
          <p:nvPr/>
        </p:nvSpPr>
        <p:spPr>
          <a:xfrm>
            <a:off x="711200" y="56388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6283C"/>
                </a:solidFill>
                <a:latin typeface="MiSans"/>
                <a:ea typeface="MiSans"/>
              </a:rPr>
              <a:t>参数求解链路</a:t>
            </a:r>
            <a:endParaRPr lang="en-US" sz="1100" noProof="1"/>
          </a:p>
        </p:txBody>
      </p:sp>
      <p:sp>
        <p:nvSpPr>
          <p:cNvPr id="23" name="step-1"/>
          <p:cNvSpPr/>
          <p:nvPr/>
        </p:nvSpPr>
        <p:spPr>
          <a:xfrm>
            <a:off x="2413000" y="5537200"/>
            <a:ext cx="1930400" cy="406400"/>
          </a:xfrm>
          <a:prstGeom prst="rect">
            <a:avLst/>
          </a:prstGeom>
          <a:solidFill>
            <a:srgbClr val="EAE5D8"/>
          </a:solidFill>
          <a:ln w="12700">
            <a:solidFill>
              <a:srgbClr val="D9D3C3"/>
            </a:solidFill>
          </a:ln>
        </p:spPr>
      </p:sp>
      <p:sp>
        <p:nvSpPr>
          <p:cNvPr id="24" name="step-1-text"/>
          <p:cNvSpPr txBox="1"/>
          <p:nvPr/>
        </p:nvSpPr>
        <p:spPr>
          <a:xfrm>
            <a:off x="2413000" y="5651500"/>
            <a:ext cx="19304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16283C"/>
                </a:solidFill>
                <a:latin typeface="MiSans"/>
                <a:ea typeface="MiSans"/>
              </a:rPr>
              <a:t>识别电路工艺</a:t>
            </a:r>
            <a:endParaRPr lang="en-US" sz="1100" noProof="1"/>
          </a:p>
        </p:txBody>
      </p:sp>
      <p:sp>
        <p:nvSpPr>
          <p:cNvPr id="25" name="chain-arrow-1"/>
          <p:cNvSpPr/>
          <p:nvPr>
            <p:extLst>
              <p:ext uri="{F5677B7D-0D2A-4D9B-9A5C-6D8D7D0E5A5D}">
                <pptd:line encoding="base64url">eyJ2aWV3Qm94IjpbMjIsNF0sInBvaW50cyI6IjAsMiAyMiwyIiwiY3VydmUiOiJzaGFycCJ9</pptd:line>
              </p:ext>
            </p:extLst>
          </p:nvPr>
        </p:nvSpPr>
        <p:spPr>
          <a:xfrm>
            <a:off x="4419600" y="5715000"/>
            <a:ext cx="279400" cy="50800"/>
          </a:xfrm>
          <a:custGeom>
            <a:avLst/>
            <a:gdLst/>
            <a:ahLst/>
            <a:cxnLst/>
            <a:rect l="l" t="t" r="r" b="b"/>
            <a:pathLst>
              <a:path w="22" h="4">
                <a:moveTo>
                  <a:pt x="0" y="2"/>
                </a:moveTo>
                <a:lnTo>
                  <a:pt x="22" y="2"/>
                </a:lnTo>
              </a:path>
            </a:pathLst>
          </a:custGeom>
          <a:noFill/>
          <a:ln w="15240">
            <a:solidFill>
              <a:srgbClr val="16283C"/>
            </a:solidFill>
            <a:tailEnd type="arrow"/>
          </a:ln>
        </p:spPr>
      </p:sp>
      <p:sp>
        <p:nvSpPr>
          <p:cNvPr id="26" name="step-2"/>
          <p:cNvSpPr/>
          <p:nvPr/>
        </p:nvSpPr>
        <p:spPr>
          <a:xfrm>
            <a:off x="4775200" y="5537200"/>
            <a:ext cx="1930400" cy="406400"/>
          </a:xfrm>
          <a:prstGeom prst="rect">
            <a:avLst/>
          </a:prstGeom>
          <a:solidFill>
            <a:srgbClr val="EAE5D8"/>
          </a:solidFill>
          <a:ln w="12700">
            <a:solidFill>
              <a:srgbClr val="D9D3C3"/>
            </a:solidFill>
          </a:ln>
        </p:spPr>
      </p:sp>
      <p:sp>
        <p:nvSpPr>
          <p:cNvPr id="27" name="step-2-text"/>
          <p:cNvSpPr txBox="1"/>
          <p:nvPr/>
        </p:nvSpPr>
        <p:spPr>
          <a:xfrm>
            <a:off x="4775200" y="5651500"/>
            <a:ext cx="19304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16283C"/>
                </a:solidFill>
                <a:latin typeface="MiSans"/>
                <a:ea typeface="MiSans"/>
              </a:rPr>
              <a:t>扫描 PDK 器件目录</a:t>
            </a:r>
            <a:endParaRPr lang="en-US" sz="1100" noProof="1"/>
          </a:p>
        </p:txBody>
      </p:sp>
      <p:sp>
        <p:nvSpPr>
          <p:cNvPr id="28" name="chain-arrow-2"/>
          <p:cNvSpPr/>
          <p:nvPr>
            <p:extLst>
              <p:ext uri="{F5677B7D-0D2A-4D9B-9A5C-6D8D7D0E5A5D}">
                <pptd:line encoding="base64url">eyJ2aWV3Qm94IjpbMjIsNF0sInBvaW50cyI6IjAsMiAyMiwyIiwiY3VydmUiOiJzaGFycCJ9</pptd:line>
              </p:ext>
            </p:extLst>
          </p:nvPr>
        </p:nvSpPr>
        <p:spPr>
          <a:xfrm>
            <a:off x="6781800" y="5715000"/>
            <a:ext cx="279400" cy="50800"/>
          </a:xfrm>
          <a:custGeom>
            <a:avLst/>
            <a:gdLst/>
            <a:ahLst/>
            <a:cxnLst/>
            <a:rect l="l" t="t" r="r" b="b"/>
            <a:pathLst>
              <a:path w="22" h="4">
                <a:moveTo>
                  <a:pt x="0" y="2"/>
                </a:moveTo>
                <a:lnTo>
                  <a:pt x="22" y="2"/>
                </a:lnTo>
              </a:path>
            </a:pathLst>
          </a:custGeom>
          <a:noFill/>
          <a:ln w="15240">
            <a:solidFill>
              <a:srgbClr val="16283C"/>
            </a:solidFill>
            <a:tailEnd type="arrow"/>
          </a:ln>
        </p:spPr>
      </p:sp>
      <p:sp>
        <p:nvSpPr>
          <p:cNvPr id="29" name="step-3"/>
          <p:cNvSpPr/>
          <p:nvPr/>
        </p:nvSpPr>
        <p:spPr>
          <a:xfrm>
            <a:off x="7137400" y="5537200"/>
            <a:ext cx="1930400" cy="406400"/>
          </a:xfrm>
          <a:prstGeom prst="rect">
            <a:avLst/>
          </a:prstGeom>
          <a:solidFill>
            <a:srgbClr val="EAE5D8"/>
          </a:solidFill>
          <a:ln w="12700">
            <a:solidFill>
              <a:srgbClr val="D9D3C3"/>
            </a:solidFill>
          </a:ln>
        </p:spPr>
      </p:sp>
      <p:sp>
        <p:nvSpPr>
          <p:cNvPr id="30" name="step-3-text"/>
          <p:cNvSpPr txBox="1"/>
          <p:nvPr/>
        </p:nvSpPr>
        <p:spPr>
          <a:xfrm>
            <a:off x="7137400" y="5651500"/>
            <a:ext cx="19304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16283C"/>
                </a:solidFill>
                <a:latin typeface="MiSans"/>
                <a:ea typeface="MiSans"/>
              </a:rPr>
              <a:t>候选筛选与参数量化</a:t>
            </a:r>
            <a:endParaRPr lang="en-US" sz="1100" noProof="1"/>
          </a:p>
        </p:txBody>
      </p:sp>
      <p:sp>
        <p:nvSpPr>
          <p:cNvPr id="31" name="chain-arrow-3"/>
          <p:cNvSpPr/>
          <p:nvPr>
            <p:extLst>
              <p:ext uri="{F5677B7D-0D2A-4D9B-9A5C-6D8D7D0E5A5D}">
                <pptd:line encoding="base64url">eyJ2aWV3Qm94IjpbMjIsNF0sInBvaW50cyI6IjAsMiAyMiwyIiwiY3VydmUiOiJzaGFycCJ9</pptd:line>
              </p:ext>
            </p:extLst>
          </p:nvPr>
        </p:nvSpPr>
        <p:spPr>
          <a:xfrm>
            <a:off x="9144000" y="5715000"/>
            <a:ext cx="279400" cy="50800"/>
          </a:xfrm>
          <a:custGeom>
            <a:avLst/>
            <a:gdLst/>
            <a:ahLst/>
            <a:cxnLst/>
            <a:rect l="l" t="t" r="r" b="b"/>
            <a:pathLst>
              <a:path w="22" h="4">
                <a:moveTo>
                  <a:pt x="0" y="2"/>
                </a:moveTo>
                <a:lnTo>
                  <a:pt x="22" y="2"/>
                </a:lnTo>
              </a:path>
            </a:pathLst>
          </a:custGeom>
          <a:noFill/>
          <a:ln w="15240">
            <a:solidFill>
              <a:srgbClr val="16283C"/>
            </a:solidFill>
            <a:tailEnd type="arrow"/>
          </a:ln>
        </p:spPr>
      </p:sp>
      <p:sp>
        <p:nvSpPr>
          <p:cNvPr id="32" name="step-4"/>
          <p:cNvSpPr/>
          <p:nvPr/>
        </p:nvSpPr>
        <p:spPr>
          <a:xfrm>
            <a:off x="9499600" y="5537200"/>
            <a:ext cx="1981200" cy="406400"/>
          </a:xfrm>
          <a:prstGeom prst="rect">
            <a:avLst/>
          </a:prstGeom>
          <a:solidFill>
            <a:srgbClr val="16283C"/>
          </a:solidFill>
          <a:ln>
            <a:noFill/>
          </a:ln>
        </p:spPr>
      </p:sp>
      <p:sp>
        <p:nvSpPr>
          <p:cNvPr id="33" name="step-4-text"/>
          <p:cNvSpPr txBox="1"/>
          <p:nvPr/>
        </p:nvSpPr>
        <p:spPr>
          <a:xfrm>
            <a:off x="9499600" y="5651500"/>
            <a:ext cx="1981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FFFFFF"/>
                </a:solidFill>
                <a:latin typeface="MiSans"/>
                <a:ea typeface="MiSans"/>
              </a:rPr>
              <a:t>工作点闭环求解</a:t>
            </a:r>
            <a:endParaRPr lang="en-US" sz="1100" noProof="1"/>
          </a:p>
        </p:txBody>
      </p:sp>
      <p:sp>
        <p:nvSpPr>
          <p:cNvPr id="34" name="footer-lin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3C3"/>
          </a:solidFill>
          <a:ln>
            <a:noFill/>
          </a:ln>
        </p:spPr>
      </p:sp>
      <p:sp>
        <p:nvSpPr>
          <p:cNvPr id="35" name="footer"/>
          <p:cNvSpPr txBox="1"/>
          <p:nvPr/>
        </p:nvSpPr>
        <p:spPr>
          <a:xfrm>
            <a:off x="711200" y="65532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77725F"/>
                </a:solidFill>
                <a:latin typeface="MiSans"/>
                <a:ea typeface="MiSans"/>
              </a:rPr>
              <a:t>新员工中期答辩 · 周可玮 00981589</a:t>
            </a:r>
            <a:endParaRPr lang="en-US" sz="900" noProof="1"/>
          </a:p>
        </p:txBody>
      </p:sp>
      <p:sp>
        <p:nvSpPr>
          <p:cNvPr id="36" name="page-no"/>
          <p:cNvSpPr txBox="1"/>
          <p:nvPr/>
        </p:nvSpPr>
        <p:spPr>
          <a:xfrm>
            <a:off x="10210800" y="6553200"/>
            <a:ext cx="127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77725F"/>
                </a:solidFill>
                <a:latin typeface="MiSans"/>
                <a:ea typeface="MiSans"/>
              </a:rPr>
              <a:t>09 / 14</a:t>
            </a:r>
            <a:endParaRPr lang="en-US" sz="9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635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77725F"/>
                </a:solidFill>
                <a:latin typeface="MiSans"/>
                <a:ea typeface="MiSans"/>
              </a:rPr>
              <a:t>03 · 重点工作：LDO 电路结构变换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85800" y="635000"/>
            <a:ext cx="10795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6283C"/>
                </a:solidFill>
                <a:latin typeface="思源宋体"/>
                <a:ea typeface="思源宋体"/>
              </a:rPr>
              <a:t>工程化实现：PDK 扫描、封装生成与多级回读校验</a:t>
            </a:r>
            <a:endParaRPr lang="en-US" sz="2400" noProof="1"/>
          </a:p>
        </p:txBody>
      </p:sp>
      <p:sp>
        <p:nvSpPr>
          <p:cNvPr id="4" name="tick"/>
          <p:cNvSpPr/>
          <p:nvPr/>
        </p:nvSpPr>
        <p:spPr>
          <a:xfrm>
            <a:off x="711200" y="1193800"/>
            <a:ext cx="431800" cy="38100"/>
          </a:xfrm>
          <a:prstGeom prst="rect">
            <a:avLst/>
          </a:prstGeom>
          <a:solidFill>
            <a:srgbClr val="C0652B"/>
          </a:solidFill>
          <a:ln>
            <a:noFill/>
          </a:ln>
        </p:spPr>
      </p:sp>
      <p:sp>
        <p:nvSpPr>
          <p:cNvPr id="5" name="n1"/>
          <p:cNvSpPr/>
          <p:nvPr/>
        </p:nvSpPr>
        <p:spPr>
          <a:xfrm>
            <a:off x="711200" y="1549400"/>
            <a:ext cx="1625600" cy="1117600"/>
          </a:xfrm>
          <a:prstGeom prst="rect">
            <a:avLst/>
          </a:prstGeom>
          <a:solidFill>
            <a:srgbClr val="EAE5D8"/>
          </a:solidFill>
          <a:ln w="12700">
            <a:solidFill>
              <a:srgbClr val="D9D3C3"/>
            </a:solidFill>
          </a:ln>
        </p:spPr>
      </p:sp>
      <p:sp>
        <p:nvSpPr>
          <p:cNvPr id="6" name="n1-text"/>
          <p:cNvSpPr txBox="1"/>
          <p:nvPr/>
        </p:nvSpPr>
        <p:spPr>
          <a:xfrm>
            <a:off x="838200" y="165100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150" noProof="1" b="1">
                <a:solidFill>
                  <a:srgbClr val="16283C"/>
                </a:solidFill>
                <a:latin typeface="MiSans"/>
                <a:ea typeface="MiSans"/>
              </a:rPr>
              <a:t>读取真实电路</a:t>
            </a:r>
            <a:endParaRPr lang="en-US" sz="1600" noProof="1"/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lang="en-US" sz="950" noProof="1">
                <a:solidFill>
                  <a:srgbClr val="77725F"/>
                </a:solidFill>
                <a:latin typeface="MiSans"/>
                <a:ea typeface="MiSans"/>
              </a:rPr>
              <a:t>schematic 导出网表、器件目录、坐标与 MOS 清单</a:t>
            </a:r>
            <a:endParaRPr lang="en-US" sz="1600" noProof="1"/>
          </a:p>
        </p:txBody>
      </p:sp>
      <p:sp>
        <p:nvSpPr>
          <p:cNvPr id="7" name="a1"/>
          <p:cNvSpPr/>
          <p:nvPr>
            <p:extLst>
              <p:ext uri="{F5677B7D-0D2A-4D9B-9A5C-6D8D7D0E5A5D}">
                <pptd:line encoding="base64url">eyJ2aWV3Qm94IjpbMTIsNF0sInBvaW50cyI6IjAsMiAxMiwyIiwiY3VydmUiOiJzaGFycCJ9</pptd:line>
              </p:ext>
            </p:extLst>
          </p:nvPr>
        </p:nvSpPr>
        <p:spPr>
          <a:xfrm>
            <a:off x="2362200" y="2082800"/>
            <a:ext cx="152400" cy="50800"/>
          </a:xfrm>
          <a:custGeom>
            <a:avLst/>
            <a:gdLst/>
            <a:ahLst/>
            <a:cxnLst/>
            <a:rect l="l" t="t" r="r" b="b"/>
            <a:pathLst>
              <a:path w="12" h="4">
                <a:moveTo>
                  <a:pt x="0" y="2"/>
                </a:moveTo>
                <a:lnTo>
                  <a:pt x="12" y="2"/>
                </a:lnTo>
              </a:path>
            </a:pathLst>
          </a:custGeom>
          <a:noFill/>
          <a:ln w="15240">
            <a:solidFill>
              <a:srgbClr val="16283C"/>
            </a:solidFill>
            <a:tailEnd type="arrow"/>
          </a:ln>
        </p:spPr>
      </p:sp>
      <p:sp>
        <p:nvSpPr>
          <p:cNvPr id="8" name="n2"/>
          <p:cNvSpPr/>
          <p:nvPr/>
        </p:nvSpPr>
        <p:spPr>
          <a:xfrm>
            <a:off x="2540000" y="1549400"/>
            <a:ext cx="1625600" cy="1117600"/>
          </a:xfrm>
          <a:prstGeom prst="rect">
            <a:avLst/>
          </a:prstGeom>
          <a:solidFill>
            <a:srgbClr val="EAE5D8"/>
          </a:solidFill>
          <a:ln w="12700">
            <a:solidFill>
              <a:srgbClr val="D9D3C3"/>
            </a:solidFill>
          </a:ln>
        </p:spPr>
      </p:sp>
      <p:sp>
        <p:nvSpPr>
          <p:cNvPr id="9" name="n2-text"/>
          <p:cNvSpPr txBox="1"/>
          <p:nvPr/>
        </p:nvSpPr>
        <p:spPr>
          <a:xfrm>
            <a:off x="2667000" y="165100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150" noProof="1" b="1">
                <a:solidFill>
                  <a:srgbClr val="16283C"/>
                </a:solidFill>
                <a:latin typeface="MiSans"/>
                <a:ea typeface="MiSans"/>
              </a:rPr>
              <a:t>PDK 器件扫描</a:t>
            </a:r>
            <a:endParaRPr lang="en-US" sz="1600" noProof="1"/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lang="en-US" sz="950" noProof="1">
                <a:solidFill>
                  <a:srgbClr val="77725F"/>
                </a:solidFill>
                <a:latin typeface="MiSans"/>
                <a:ea typeface="MiSans"/>
              </a:rPr>
              <a:t>识别源电路工艺，输出标准化器件目录</a:t>
            </a:r>
            <a:endParaRPr lang="en-US" sz="1600" noProof="1"/>
          </a:p>
        </p:txBody>
      </p:sp>
      <p:sp>
        <p:nvSpPr>
          <p:cNvPr id="10" name="a2"/>
          <p:cNvSpPr/>
          <p:nvPr>
            <p:extLst>
              <p:ext uri="{F5677B7D-0D2A-4D9B-9A5C-6D8D7D0E5A5D}">
                <pptd:line encoding="base64url">eyJ2aWV3Qm94IjpbMTIsNF0sInBvaW50cyI6IjAsMiAxMiwyIiwiY3VydmUiOiJzaGFycCJ9</pptd:line>
              </p:ext>
            </p:extLst>
          </p:nvPr>
        </p:nvSpPr>
        <p:spPr>
          <a:xfrm>
            <a:off x="4191000" y="2082800"/>
            <a:ext cx="152400" cy="50800"/>
          </a:xfrm>
          <a:custGeom>
            <a:avLst/>
            <a:gdLst/>
            <a:ahLst/>
            <a:cxnLst/>
            <a:rect l="l" t="t" r="r" b="b"/>
            <a:pathLst>
              <a:path w="12" h="4">
                <a:moveTo>
                  <a:pt x="0" y="2"/>
                </a:moveTo>
                <a:lnTo>
                  <a:pt x="12" y="2"/>
                </a:lnTo>
              </a:path>
            </a:pathLst>
          </a:custGeom>
          <a:noFill/>
          <a:ln w="15240">
            <a:solidFill>
              <a:srgbClr val="16283C"/>
            </a:solidFill>
            <a:tailEnd type="arrow"/>
          </a:ln>
        </p:spPr>
      </p:sp>
      <p:sp>
        <p:nvSpPr>
          <p:cNvPr id="11" name="n3"/>
          <p:cNvSpPr/>
          <p:nvPr/>
        </p:nvSpPr>
        <p:spPr>
          <a:xfrm>
            <a:off x="4368800" y="1549400"/>
            <a:ext cx="1625600" cy="1117600"/>
          </a:xfrm>
          <a:prstGeom prst="rect">
            <a:avLst/>
          </a:prstGeom>
          <a:solidFill>
            <a:srgbClr val="EAE5D8"/>
          </a:solidFill>
          <a:ln w="12700">
            <a:solidFill>
              <a:srgbClr val="D9D3C3"/>
            </a:solidFill>
          </a:ln>
        </p:spPr>
      </p:sp>
      <p:sp>
        <p:nvSpPr>
          <p:cNvPr id="12" name="n3-text"/>
          <p:cNvSpPr txBox="1"/>
          <p:nvPr/>
        </p:nvSpPr>
        <p:spPr>
          <a:xfrm>
            <a:off x="4495800" y="165100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150" noProof="1" b="1">
                <a:solidFill>
                  <a:srgbClr val="16283C"/>
                </a:solidFill>
                <a:latin typeface="MiSans"/>
                <a:ea typeface="MiSans"/>
              </a:rPr>
              <a:t>候选器件筛选</a:t>
            </a:r>
            <a:endParaRPr lang="en-US" sz="1600" noProof="1"/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lang="en-US" sz="950" noProof="1">
                <a:solidFill>
                  <a:srgbClr val="77725F"/>
                </a:solidFill>
                <a:latin typeface="MiSans"/>
                <a:ea typeface="MiSans"/>
              </a:rPr>
              <a:t>极性、电压域、端子、Bulk、可靠性与参数范围</a:t>
            </a:r>
            <a:endParaRPr lang="en-US" sz="1600" noProof="1"/>
          </a:p>
        </p:txBody>
      </p:sp>
      <p:sp>
        <p:nvSpPr>
          <p:cNvPr id="13" name="a3"/>
          <p:cNvSpPr/>
          <p:nvPr>
            <p:extLst>
              <p:ext uri="{F5677B7D-0D2A-4D9B-9A5C-6D8D7D0E5A5D}">
                <pptd:line encoding="base64url">eyJ2aWV3Qm94IjpbMTIsNF0sInBvaW50cyI6IjAsMiAxMiwyIiwiY3VydmUiOiJzaGFycCJ9</pptd:line>
              </p:ext>
            </p:extLst>
          </p:nvPr>
        </p:nvSpPr>
        <p:spPr>
          <a:xfrm>
            <a:off x="6019800" y="2082800"/>
            <a:ext cx="152400" cy="50800"/>
          </a:xfrm>
          <a:custGeom>
            <a:avLst/>
            <a:gdLst/>
            <a:ahLst/>
            <a:cxnLst/>
            <a:rect l="l" t="t" r="r" b="b"/>
            <a:pathLst>
              <a:path w="12" h="4">
                <a:moveTo>
                  <a:pt x="0" y="2"/>
                </a:moveTo>
                <a:lnTo>
                  <a:pt x="12" y="2"/>
                </a:lnTo>
              </a:path>
            </a:pathLst>
          </a:custGeom>
          <a:noFill/>
          <a:ln w="15240">
            <a:solidFill>
              <a:srgbClr val="16283C"/>
            </a:solidFill>
            <a:tailEnd type="arrow"/>
          </a:ln>
        </p:spPr>
      </p:sp>
      <p:sp>
        <p:nvSpPr>
          <p:cNvPr id="14" name="n4"/>
          <p:cNvSpPr/>
          <p:nvPr/>
        </p:nvSpPr>
        <p:spPr>
          <a:xfrm>
            <a:off x="6197600" y="1549400"/>
            <a:ext cx="1625600" cy="1117600"/>
          </a:xfrm>
          <a:prstGeom prst="rect">
            <a:avLst/>
          </a:prstGeom>
          <a:solidFill>
            <a:srgbClr val="EAE5D8"/>
          </a:solidFill>
          <a:ln w="12700">
            <a:solidFill>
              <a:srgbClr val="D9D3C3"/>
            </a:solidFill>
          </a:ln>
        </p:spPr>
      </p:sp>
      <p:sp>
        <p:nvSpPr>
          <p:cNvPr id="15" name="n4-text"/>
          <p:cNvSpPr txBox="1"/>
          <p:nvPr/>
        </p:nvSpPr>
        <p:spPr>
          <a:xfrm>
            <a:off x="6324600" y="165100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150" noProof="1" b="1">
                <a:solidFill>
                  <a:srgbClr val="16283C"/>
                </a:solidFill>
                <a:latin typeface="MiSans"/>
                <a:ea typeface="MiSans"/>
              </a:rPr>
              <a:t>结构变换执行</a:t>
            </a:r>
            <a:endParaRPr lang="en-US" sz="1600" noProof="1"/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lang="en-US" sz="950" noProof="1">
                <a:solidFill>
                  <a:srgbClr val="77725F"/>
                </a:solidFill>
                <a:latin typeface="MiSans"/>
                <a:ea typeface="MiSans"/>
              </a:rPr>
              <a:t>四类变换与自动 VBIAS 电路生成</a:t>
            </a:r>
            <a:endParaRPr lang="en-US" sz="1600" noProof="1"/>
          </a:p>
        </p:txBody>
      </p:sp>
      <p:sp>
        <p:nvSpPr>
          <p:cNvPr id="16" name="a4"/>
          <p:cNvSpPr/>
          <p:nvPr>
            <p:extLst>
              <p:ext uri="{F5677B7D-0D2A-4D9B-9A5C-6D8D7D0E5A5D}">
                <pptd:line encoding="base64url">eyJ2aWV3Qm94IjpbMTIsNF0sInBvaW50cyI6IjAsMiAxMiwyIiwiY3VydmUiOiJzaGFycCJ9</pptd:line>
              </p:ext>
            </p:extLst>
          </p:nvPr>
        </p:nvSpPr>
        <p:spPr>
          <a:xfrm>
            <a:off x="7848600" y="2082800"/>
            <a:ext cx="152400" cy="50800"/>
          </a:xfrm>
          <a:custGeom>
            <a:avLst/>
            <a:gdLst/>
            <a:ahLst/>
            <a:cxnLst/>
            <a:rect l="l" t="t" r="r" b="b"/>
            <a:pathLst>
              <a:path w="12" h="4">
                <a:moveTo>
                  <a:pt x="0" y="2"/>
                </a:moveTo>
                <a:lnTo>
                  <a:pt x="12" y="2"/>
                </a:lnTo>
              </a:path>
            </a:pathLst>
          </a:custGeom>
          <a:noFill/>
          <a:ln w="15240">
            <a:solidFill>
              <a:srgbClr val="16283C"/>
            </a:solidFill>
            <a:tailEnd type="arrow"/>
          </a:ln>
        </p:spPr>
      </p:sp>
      <p:sp>
        <p:nvSpPr>
          <p:cNvPr id="17" name="n5"/>
          <p:cNvSpPr/>
          <p:nvPr/>
        </p:nvSpPr>
        <p:spPr>
          <a:xfrm>
            <a:off x="8026400" y="1549400"/>
            <a:ext cx="1625600" cy="1117600"/>
          </a:xfrm>
          <a:prstGeom prst="rect">
            <a:avLst/>
          </a:prstGeom>
          <a:solidFill>
            <a:srgbClr val="EAE5D8"/>
          </a:solidFill>
          <a:ln w="12700">
            <a:solidFill>
              <a:srgbClr val="D9D3C3"/>
            </a:solidFill>
          </a:ln>
        </p:spPr>
      </p:sp>
      <p:sp>
        <p:nvSpPr>
          <p:cNvPr id="18" name="n5-text"/>
          <p:cNvSpPr txBox="1"/>
          <p:nvPr/>
        </p:nvSpPr>
        <p:spPr>
          <a:xfrm>
            <a:off x="8153400" y="165100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150" noProof="1" b="1">
                <a:solidFill>
                  <a:srgbClr val="16283C"/>
                </a:solidFill>
                <a:latin typeface="MiSans"/>
                <a:ea typeface="MiSans"/>
              </a:rPr>
              <a:t>封装子 Cell</a:t>
            </a:r>
            <a:endParaRPr lang="en-US" sz="1600" noProof="1"/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lang="en-US" sz="950" noProof="1">
                <a:solidFill>
                  <a:srgbClr val="77725F"/>
                </a:solidFill>
                <a:latin typeface="MiSans"/>
                <a:ea typeface="MiSans"/>
              </a:rPr>
              <a:t>每区域独立封装，连续修改自动合并</a:t>
            </a:r>
            <a:endParaRPr lang="en-US" sz="1600" noProof="1"/>
          </a:p>
        </p:txBody>
      </p:sp>
      <p:sp>
        <p:nvSpPr>
          <p:cNvPr id="19" name="a5"/>
          <p:cNvSpPr/>
          <p:nvPr>
            <p:extLst>
              <p:ext uri="{F5677B7D-0D2A-4D9B-9A5C-6D8D7D0E5A5D}">
                <pptd:line encoding="base64url">eyJ2aWV3Qm94IjpbMTIsNF0sInBvaW50cyI6IjAsMiAxMiwyIiwiY3VydmUiOiJzaGFycCJ9</pptd:line>
              </p:ext>
            </p:extLst>
          </p:nvPr>
        </p:nvSpPr>
        <p:spPr>
          <a:xfrm>
            <a:off x="9677400" y="2082800"/>
            <a:ext cx="152400" cy="50800"/>
          </a:xfrm>
          <a:custGeom>
            <a:avLst/>
            <a:gdLst/>
            <a:ahLst/>
            <a:cxnLst/>
            <a:rect l="l" t="t" r="r" b="b"/>
            <a:pathLst>
              <a:path w="12" h="4">
                <a:moveTo>
                  <a:pt x="0" y="2"/>
                </a:moveTo>
                <a:lnTo>
                  <a:pt x="12" y="2"/>
                </a:lnTo>
              </a:path>
            </a:pathLst>
          </a:custGeom>
          <a:noFill/>
          <a:ln w="15240">
            <a:solidFill>
              <a:srgbClr val="16283C"/>
            </a:solidFill>
            <a:tailEnd type="arrow"/>
          </a:ln>
        </p:spPr>
      </p:sp>
      <p:sp>
        <p:nvSpPr>
          <p:cNvPr id="20" name="n6"/>
          <p:cNvSpPr/>
          <p:nvPr/>
        </p:nvSpPr>
        <p:spPr>
          <a:xfrm>
            <a:off x="9855200" y="1549400"/>
            <a:ext cx="1625600" cy="1117600"/>
          </a:xfrm>
          <a:prstGeom prst="rect">
            <a:avLst/>
          </a:prstGeom>
          <a:solidFill>
            <a:srgbClr val="16283C"/>
          </a:solidFill>
          <a:ln>
            <a:noFill/>
          </a:ln>
        </p:spPr>
      </p:sp>
      <p:sp>
        <p:nvSpPr>
          <p:cNvPr id="21" name="n6-text"/>
          <p:cNvSpPr txBox="1"/>
          <p:nvPr/>
        </p:nvSpPr>
        <p:spPr>
          <a:xfrm>
            <a:off x="9982200" y="165100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150" noProof="1" b="1">
                <a:solidFill>
                  <a:srgbClr val="FFFFFF"/>
                </a:solidFill>
                <a:latin typeface="MiSans"/>
                <a:ea typeface="MiSans"/>
              </a:rPr>
              <a:t>回读校验</a:t>
            </a:r>
            <a:endParaRPr lang="en-US" sz="1600" noProof="1"/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lang="en-US" sz="950" noProof="1">
                <a:solidFill>
                  <a:srgbClr val="F5F2EB">
                    <a:alpha val="70196"/>
                  </a:srgbClr>
                </a:solidFill>
                <a:latin typeface="MiSans"/>
                <a:ea typeface="MiSans"/>
              </a:rPr>
              <a:t>源电路、父电路与各子 Cell 三级比对</a:t>
            </a:r>
            <a:endParaRPr lang="en-US" sz="1600" noProof="1"/>
          </a:p>
        </p:txBody>
      </p:sp>
      <p:sp>
        <p:nvSpPr>
          <p:cNvPr id="22" name="check-bar"/>
          <p:cNvSpPr/>
          <p:nvPr/>
        </p:nvSpPr>
        <p:spPr>
          <a:xfrm>
            <a:off x="711200" y="3225800"/>
            <a:ext cx="38100" cy="584200"/>
          </a:xfrm>
          <a:prstGeom prst="rect">
            <a:avLst/>
          </a:prstGeom>
          <a:solidFill>
            <a:srgbClr val="C0652B"/>
          </a:solidFill>
          <a:ln>
            <a:noFill/>
          </a:ln>
        </p:spPr>
      </p:sp>
      <p:sp>
        <p:nvSpPr>
          <p:cNvPr id="23" name="check-text"/>
          <p:cNvSpPr txBox="1"/>
          <p:nvPr/>
        </p:nvSpPr>
        <p:spPr>
          <a:xfrm>
            <a:off x="914400" y="3200400"/>
            <a:ext cx="105664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50" noProof="1" b="1">
                <a:solidFill>
                  <a:srgbClr val="2B2F36"/>
                </a:solidFill>
                <a:latin typeface="MiSans"/>
                <a:ea typeface="MiSans"/>
              </a:rPr>
              <a:t>校验通过条件</a:t>
            </a:r>
            <a:r>
              <a:rPr lang="en-US" sz="1250" noProof="1">
                <a:solidFill>
                  <a:srgbClr val="2B2F36"/>
                </a:solidFill>
                <a:latin typeface="MiSans"/>
                <a:ea typeface="MiSans"/>
              </a:rPr>
              <a:t>：源电路保持不变，且派生父电路与各封装子 Cell 的器件、连接、参数全部一致，才输出 ready_for_sizing = true；任一环节不满足即判失败并回退。</a:t>
            </a:r>
            <a:endParaRPr lang="en-US" sz="1250" noProof="1"/>
          </a:p>
        </p:txBody>
      </p:sp>
      <p:sp>
        <p:nvSpPr>
          <p:cNvPr id="24" name="exc-h"/>
          <p:cNvSpPr txBox="1"/>
          <p:nvPr/>
        </p:nvSpPr>
        <p:spPr>
          <a:xfrm>
            <a:off x="711200" y="4191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6283C"/>
                </a:solidFill>
                <a:latin typeface="MiSans"/>
                <a:ea typeface="MiSans"/>
              </a:rPr>
              <a:t>异常处理与质量保障</a:t>
            </a:r>
            <a:endParaRPr lang="en-US" sz="1300" noProof="1"/>
          </a:p>
        </p:txBody>
      </p:sp>
      <p:sp>
        <p:nvSpPr>
          <p:cNvPr id="25" name="exc1-dot"/>
          <p:cNvSpPr/>
          <p:nvPr/>
        </p:nvSpPr>
        <p:spPr>
          <a:xfrm>
            <a:off x="736600" y="4622800"/>
            <a:ext cx="76200" cy="76200"/>
          </a:xfrm>
          <a:prstGeom prst="rect">
            <a:avLst/>
          </a:prstGeom>
          <a:solidFill>
            <a:srgbClr val="C0652B"/>
          </a:solidFill>
          <a:ln>
            <a:noFill/>
          </a:ln>
        </p:spPr>
      </p:sp>
      <p:sp>
        <p:nvSpPr>
          <p:cNvPr id="26" name="exc1-text"/>
          <p:cNvSpPr txBox="1"/>
          <p:nvPr/>
        </p:nvSpPr>
        <p:spPr>
          <a:xfrm>
            <a:off x="965200" y="4546600"/>
            <a:ext cx="10515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F36"/>
                </a:solidFill>
                <a:latin typeface="MiSans"/>
                <a:ea typeface="MiSans"/>
              </a:rPr>
              <a:t>错误分类——区分 Bench 缺失、仿真启动失败、结果文件缺失或不匹配，分别给出处理路径，避免错误复用工作点</a:t>
            </a:r>
            <a:endParaRPr lang="en-US" sz="1200" noProof="1"/>
          </a:p>
        </p:txBody>
      </p:sp>
      <p:sp>
        <p:nvSpPr>
          <p:cNvPr id="27" name="exc2-dot"/>
          <p:cNvSpPr/>
          <p:nvPr/>
        </p:nvSpPr>
        <p:spPr>
          <a:xfrm>
            <a:off x="736600" y="5029200"/>
            <a:ext cx="76200" cy="76200"/>
          </a:xfrm>
          <a:prstGeom prst="rect">
            <a:avLst/>
          </a:prstGeom>
          <a:solidFill>
            <a:srgbClr val="C0652B"/>
          </a:solidFill>
          <a:ln>
            <a:noFill/>
          </a:ln>
        </p:spPr>
      </p:sp>
      <p:sp>
        <p:nvSpPr>
          <p:cNvPr id="28" name="exc2-text"/>
          <p:cNvSpPr txBox="1"/>
          <p:nvPr/>
        </p:nvSpPr>
        <p:spPr>
          <a:xfrm>
            <a:off x="965200" y="4953000"/>
            <a:ext cx="10515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F36"/>
                </a:solidFill>
                <a:latin typeface="MiSans"/>
                <a:ea typeface="MiSans"/>
              </a:rPr>
              <a:t>发布策略——根电路、功能封装与 VBIAS 子 Cell 暂存生成、整组发布、失败回退，运行失败不破坏已有结果</a:t>
            </a:r>
            <a:endParaRPr lang="en-US" sz="1200" noProof="1"/>
          </a:p>
        </p:txBody>
      </p:sp>
      <p:sp>
        <p:nvSpPr>
          <p:cNvPr id="29" name="exc3-dot"/>
          <p:cNvSpPr/>
          <p:nvPr/>
        </p:nvSpPr>
        <p:spPr>
          <a:xfrm>
            <a:off x="736600" y="5435600"/>
            <a:ext cx="76200" cy="76200"/>
          </a:xfrm>
          <a:prstGeom prst="rect">
            <a:avLst/>
          </a:prstGeom>
          <a:solidFill>
            <a:srgbClr val="C0652B"/>
          </a:solidFill>
          <a:ln>
            <a:noFill/>
          </a:ln>
        </p:spPr>
      </p:sp>
      <p:sp>
        <p:nvSpPr>
          <p:cNvPr id="30" name="exc3-text"/>
          <p:cNvSpPr txBox="1"/>
          <p:nvPr/>
        </p:nvSpPr>
        <p:spPr>
          <a:xfrm>
            <a:off x="965200" y="5359400"/>
            <a:ext cx="10515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F36"/>
                </a:solidFill>
                <a:latin typeface="MiSans"/>
                <a:ea typeface="MiSans"/>
              </a:rPr>
              <a:t>任务拆分与评审——按 Task 拆分推进并完成独立复核；评审发现的电阻识别、候选组合搜索、参数合法性问题已全部修正</a:t>
            </a:r>
            <a:endParaRPr lang="en-US" sz="1200" noProof="1"/>
          </a:p>
        </p:txBody>
      </p:sp>
      <p:sp>
        <p:nvSpPr>
          <p:cNvPr id="31" name="footer-lin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3C3"/>
          </a:solidFill>
          <a:ln>
            <a:noFill/>
          </a:ln>
        </p:spPr>
      </p:sp>
      <p:sp>
        <p:nvSpPr>
          <p:cNvPr id="32" name="footer"/>
          <p:cNvSpPr txBox="1"/>
          <p:nvPr/>
        </p:nvSpPr>
        <p:spPr>
          <a:xfrm>
            <a:off x="711200" y="65532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77725F"/>
                </a:solidFill>
                <a:latin typeface="MiSans"/>
                <a:ea typeface="MiSans"/>
              </a:rPr>
              <a:t>新员工中期答辩 · 周可玮 00981589</a:t>
            </a:r>
            <a:endParaRPr lang="en-US" sz="900" noProof="1"/>
          </a:p>
        </p:txBody>
      </p:sp>
      <p:sp>
        <p:nvSpPr>
          <p:cNvPr id="33" name="page-no"/>
          <p:cNvSpPr txBox="1"/>
          <p:nvPr/>
        </p:nvSpPr>
        <p:spPr>
          <a:xfrm>
            <a:off x="10210800" y="6553200"/>
            <a:ext cx="127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77725F"/>
                </a:solidFill>
                <a:latin typeface="MiSans"/>
                <a:ea typeface="MiSans"/>
              </a:rPr>
              <a:t>10 / 14</a:t>
            </a:r>
            <a:endParaRPr lang="en-US" sz="9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635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77725F"/>
                </a:solidFill>
                <a:latin typeface="MiSans"/>
                <a:ea typeface="MiSans"/>
              </a:rPr>
              <a:t>03 · 重点工作：LDO 电路结构变换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85800" y="635000"/>
            <a:ext cx="10795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6283C"/>
                </a:solidFill>
                <a:latin typeface="思源宋体"/>
                <a:ea typeface="思源宋体"/>
              </a:rPr>
              <a:t>真实电路验证：59 个可处理 MOS，同型 Cascode 实验通过</a:t>
            </a:r>
            <a:endParaRPr lang="en-US" sz="2400" noProof="1"/>
          </a:p>
        </p:txBody>
      </p:sp>
      <p:sp>
        <p:nvSpPr>
          <p:cNvPr id="4" name="tick"/>
          <p:cNvSpPr/>
          <p:nvPr/>
        </p:nvSpPr>
        <p:spPr>
          <a:xfrm>
            <a:off x="711200" y="1193800"/>
            <a:ext cx="431800" cy="38100"/>
          </a:xfrm>
          <a:prstGeom prst="rect">
            <a:avLst/>
          </a:prstGeom>
          <a:solidFill>
            <a:srgbClr val="C0652B"/>
          </a:solidFill>
          <a:ln>
            <a:noFill/>
          </a:ln>
        </p:spPr>
      </p:sp>
      <p:sp>
        <p:nvSpPr>
          <p:cNvPr id="5" name="g1-name"/>
          <p:cNvSpPr txBox="1"/>
          <p:nvPr/>
        </p:nvSpPr>
        <p:spPr>
          <a:xfrm>
            <a:off x="711200" y="1600200"/>
            <a:ext cx="4191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900" noProof="1" b="1">
                <a:solidFill>
                  <a:srgbClr val="16283C"/>
                </a:solidFill>
                <a:latin typeface="思源宋体"/>
                <a:ea typeface="思源宋体"/>
              </a:rPr>
              <a:t>ocldo18to12_200ma_core</a:t>
            </a:r>
            <a:endParaRPr lang="en-US" sz="1900" noProof="1"/>
          </a:p>
        </p:txBody>
      </p:sp>
      <p:sp>
        <p:nvSpPr>
          <p:cNvPr id="6" name="g1-label"/>
          <p:cNvSpPr txBox="1"/>
          <p:nvPr/>
        </p:nvSpPr>
        <p:spPr>
          <a:xfrm>
            <a:off x="711200" y="2006600"/>
            <a:ext cx="406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77725F"/>
                </a:solidFill>
                <a:latin typeface="MiSans"/>
                <a:ea typeface="MiSans"/>
              </a:rPr>
              <a:t>验证对象：真实 Capless LDO 核心电路</a:t>
            </a:r>
            <a:endParaRPr lang="en-US" sz="1050" noProof="1"/>
          </a:p>
        </p:txBody>
      </p:sp>
      <p:sp>
        <p:nvSpPr>
          <p:cNvPr id="7" name="g2-num"/>
          <p:cNvSpPr txBox="1"/>
          <p:nvPr/>
        </p:nvSpPr>
        <p:spPr>
          <a:xfrm>
            <a:off x="5461000" y="1498600"/>
            <a:ext cx="1397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000" noProof="1" b="1">
                <a:solidFill>
                  <a:srgbClr val="C0652B"/>
                </a:solidFill>
                <a:latin typeface="思源宋体"/>
                <a:ea typeface="思源宋体"/>
              </a:rPr>
              <a:t>59</a:t>
            </a:r>
            <a:endParaRPr lang="en-US" sz="4000" noProof="1"/>
          </a:p>
        </p:txBody>
      </p:sp>
      <p:sp>
        <p:nvSpPr>
          <p:cNvPr id="8" name="g2-label"/>
          <p:cNvSpPr txBox="1"/>
          <p:nvPr/>
        </p:nvSpPr>
        <p:spPr>
          <a:xfrm>
            <a:off x="5461000" y="2209800"/>
            <a:ext cx="3048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77725F"/>
                </a:solidFill>
                <a:latin typeface="MiSans"/>
                <a:ea typeface="MiSans"/>
              </a:rPr>
              <a:t>当前层可处理 MOS，取得真实 D/G/S/B 连接与 PDK master 信息</a:t>
            </a:r>
            <a:endParaRPr lang="en-US" sz="1050" noProof="1"/>
          </a:p>
        </p:txBody>
      </p:sp>
      <p:sp>
        <p:nvSpPr>
          <p:cNvPr id="9" name="g3-num"/>
          <p:cNvSpPr txBox="1"/>
          <p:nvPr/>
        </p:nvSpPr>
        <p:spPr>
          <a:xfrm>
            <a:off x="9144000" y="1498600"/>
            <a:ext cx="1397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000" noProof="1" b="1">
                <a:solidFill>
                  <a:srgbClr val="C0652B"/>
                </a:solidFill>
                <a:latin typeface="思源宋体"/>
                <a:ea typeface="思源宋体"/>
              </a:rPr>
              <a:t>0 处</a:t>
            </a:r>
            <a:endParaRPr lang="en-US" sz="4000" noProof="1"/>
          </a:p>
        </p:txBody>
      </p:sp>
      <p:sp>
        <p:nvSpPr>
          <p:cNvPr id="10" name="g3-label"/>
          <p:cNvSpPr txBox="1"/>
          <p:nvPr/>
        </p:nvSpPr>
        <p:spPr>
          <a:xfrm>
            <a:off x="9144000" y="2209800"/>
            <a:ext cx="2336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77725F"/>
                </a:solidFill>
                <a:latin typeface="MiSans"/>
                <a:ea typeface="MiSans"/>
              </a:rPr>
              <a:t>对源电路的修改——校验保证原始电路不被改动</a:t>
            </a:r>
            <a:endParaRPr lang="en-US" sz="1050" noProof="1"/>
          </a:p>
        </p:txBody>
      </p:sp>
      <p:sp>
        <p:nvSpPr>
          <p:cNvPr id="11" name="mid-line"/>
          <p:cNvSpPr/>
          <p:nvPr/>
        </p:nvSpPr>
        <p:spPr>
          <a:xfrm>
            <a:off x="711200" y="2870200"/>
            <a:ext cx="10769600" cy="12700"/>
          </a:xfrm>
          <a:prstGeom prst="rect">
            <a:avLst/>
          </a:prstGeom>
          <a:solidFill>
            <a:srgbClr val="D9D3C3"/>
          </a:solidFill>
          <a:ln>
            <a:noFill/>
          </a:ln>
        </p:spPr>
      </p:sp>
      <p:sp>
        <p:nvSpPr>
          <p:cNvPr id="12" name="fix-h"/>
          <p:cNvSpPr txBox="1"/>
          <p:nvPr/>
        </p:nvSpPr>
        <p:spPr>
          <a:xfrm>
            <a:off x="711200" y="30988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6283C"/>
                </a:solidFill>
                <a:latin typeface="MiSans"/>
                <a:ea typeface="MiSans"/>
              </a:rPr>
              <a:t>联调中定位并修复的问题（按回读网表与服务器日志逐项修正）</a:t>
            </a:r>
            <a:endParaRPr lang="en-US" sz="1300" noProof="1"/>
          </a:p>
        </p:txBody>
      </p:sp>
      <p:sp>
        <p:nvSpPr>
          <p:cNvPr id="13" name="f1-dot"/>
          <p:cNvSpPr/>
          <p:nvPr/>
        </p:nvSpPr>
        <p:spPr>
          <a:xfrm>
            <a:off x="736600" y="3568700"/>
            <a:ext cx="76200" cy="76200"/>
          </a:xfrm>
          <a:prstGeom prst="rect">
            <a:avLst/>
          </a:prstGeom>
          <a:solidFill>
            <a:srgbClr val="C0652B"/>
          </a:solidFill>
          <a:ln>
            <a:noFill/>
          </a:ln>
        </p:spPr>
      </p:sp>
      <p:sp>
        <p:nvSpPr>
          <p:cNvPr id="14" name="f1"/>
          <p:cNvSpPr txBox="1"/>
          <p:nvPr/>
        </p:nvSpPr>
        <p:spPr>
          <a:xfrm>
            <a:off x="965200" y="34925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F36"/>
                </a:solidFill>
                <a:latin typeface="MiSans"/>
                <a:ea typeface="MiSans"/>
              </a:rPr>
              <a:t>CDF 数据获取异常</a:t>
            </a:r>
            <a:endParaRPr lang="en-US" sz="1200" noProof="1"/>
          </a:p>
        </p:txBody>
      </p:sp>
      <p:sp>
        <p:nvSpPr>
          <p:cNvPr id="15" name="f2-dot"/>
          <p:cNvSpPr/>
          <p:nvPr/>
        </p:nvSpPr>
        <p:spPr>
          <a:xfrm>
            <a:off x="736600" y="3949700"/>
            <a:ext cx="76200" cy="76200"/>
          </a:xfrm>
          <a:prstGeom prst="rect">
            <a:avLst/>
          </a:prstGeom>
          <a:solidFill>
            <a:srgbClr val="C0652B"/>
          </a:solidFill>
          <a:ln>
            <a:noFill/>
          </a:ln>
        </p:spPr>
      </p:sp>
      <p:sp>
        <p:nvSpPr>
          <p:cNvPr id="16" name="f2"/>
          <p:cNvSpPr txBox="1"/>
          <p:nvPr/>
        </p:nvSpPr>
        <p:spPr>
          <a:xfrm>
            <a:off x="965200" y="38735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F36"/>
                </a:solidFill>
                <a:latin typeface="MiSans"/>
                <a:ea typeface="MiSans"/>
              </a:rPr>
              <a:t>器件端子物理位置偏差</a:t>
            </a:r>
            <a:endParaRPr lang="en-US" sz="1200" noProof="1"/>
          </a:p>
        </p:txBody>
      </p:sp>
      <p:sp>
        <p:nvSpPr>
          <p:cNvPr id="17" name="f3-dot"/>
          <p:cNvSpPr/>
          <p:nvPr/>
        </p:nvSpPr>
        <p:spPr>
          <a:xfrm>
            <a:off x="736600" y="4330700"/>
            <a:ext cx="76200" cy="76200"/>
          </a:xfrm>
          <a:prstGeom prst="rect">
            <a:avLst/>
          </a:prstGeom>
          <a:solidFill>
            <a:srgbClr val="C0652B"/>
          </a:solidFill>
          <a:ln>
            <a:noFill/>
          </a:ln>
        </p:spPr>
      </p:sp>
      <p:sp>
        <p:nvSpPr>
          <p:cNvPr id="18" name="f3"/>
          <p:cNvSpPr txBox="1"/>
          <p:nvPr/>
        </p:nvSpPr>
        <p:spPr>
          <a:xfrm>
            <a:off x="965200" y="42545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F36"/>
                </a:solidFill>
                <a:latin typeface="MiSans"/>
                <a:ea typeface="MiSans"/>
              </a:rPr>
              <a:t>导线重叠造成误短接</a:t>
            </a:r>
            <a:endParaRPr lang="en-US" sz="1200" noProof="1"/>
          </a:p>
        </p:txBody>
      </p:sp>
      <p:sp>
        <p:nvSpPr>
          <p:cNvPr id="19" name="f4-dot"/>
          <p:cNvSpPr/>
          <p:nvPr/>
        </p:nvSpPr>
        <p:spPr>
          <a:xfrm>
            <a:off x="736600" y="4711700"/>
            <a:ext cx="76200" cy="76200"/>
          </a:xfrm>
          <a:prstGeom prst="rect">
            <a:avLst/>
          </a:prstGeom>
          <a:solidFill>
            <a:srgbClr val="C0652B"/>
          </a:solidFill>
          <a:ln>
            <a:noFill/>
          </a:ln>
        </p:spPr>
      </p:sp>
      <p:sp>
        <p:nvSpPr>
          <p:cNvPr id="20" name="f4"/>
          <p:cNvSpPr txBox="1"/>
          <p:nvPr/>
        </p:nvSpPr>
        <p:spPr>
          <a:xfrm>
            <a:off x="965200" y="46355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F36"/>
                </a:solidFill>
                <a:latin typeface="MiSans"/>
                <a:ea typeface="MiSans"/>
              </a:rPr>
              <a:t>电阻 master 名称匹配失败</a:t>
            </a:r>
            <a:endParaRPr lang="en-US" sz="1200" noProof="1"/>
          </a:p>
        </p:txBody>
      </p:sp>
      <p:sp>
        <p:nvSpPr>
          <p:cNvPr id="21" name="f5-dot"/>
          <p:cNvSpPr/>
          <p:nvPr/>
        </p:nvSpPr>
        <p:spPr>
          <a:xfrm>
            <a:off x="6527800" y="3568700"/>
            <a:ext cx="76200" cy="76200"/>
          </a:xfrm>
          <a:prstGeom prst="rect">
            <a:avLst/>
          </a:prstGeom>
          <a:solidFill>
            <a:srgbClr val="C0652B"/>
          </a:solidFill>
          <a:ln>
            <a:noFill/>
          </a:ln>
        </p:spPr>
      </p:sp>
      <p:sp>
        <p:nvSpPr>
          <p:cNvPr id="22" name="f5"/>
          <p:cNvSpPr txBox="1"/>
          <p:nvPr/>
        </p:nvSpPr>
        <p:spPr>
          <a:xfrm>
            <a:off x="6756400" y="3492500"/>
            <a:ext cx="4724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F36"/>
                </a:solidFill>
                <a:latin typeface="MiSans"/>
                <a:ea typeface="MiSans"/>
              </a:rPr>
              <a:t>工艺关联判断错误</a:t>
            </a:r>
            <a:endParaRPr lang="en-US" sz="1200" noProof="1"/>
          </a:p>
        </p:txBody>
      </p:sp>
      <p:sp>
        <p:nvSpPr>
          <p:cNvPr id="23" name="f6-dot"/>
          <p:cNvSpPr/>
          <p:nvPr/>
        </p:nvSpPr>
        <p:spPr>
          <a:xfrm>
            <a:off x="6527800" y="3949700"/>
            <a:ext cx="76200" cy="76200"/>
          </a:xfrm>
          <a:prstGeom prst="rect">
            <a:avLst/>
          </a:prstGeom>
          <a:solidFill>
            <a:srgbClr val="C0652B"/>
          </a:solidFill>
          <a:ln>
            <a:noFill/>
          </a:ln>
        </p:spPr>
      </p:sp>
      <p:sp>
        <p:nvSpPr>
          <p:cNvPr id="24" name="f6"/>
          <p:cNvSpPr txBox="1"/>
          <p:nvPr/>
        </p:nvSpPr>
        <p:spPr>
          <a:xfrm>
            <a:off x="6756400" y="3873500"/>
            <a:ext cx="4724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F36"/>
                </a:solidFill>
                <a:latin typeface="MiSans"/>
                <a:ea typeface="MiSans"/>
              </a:rPr>
              <a:t>端子符号与字符串表示差异</a:t>
            </a:r>
            <a:endParaRPr lang="en-US" sz="1200" noProof="1"/>
          </a:p>
        </p:txBody>
      </p:sp>
      <p:sp>
        <p:nvSpPr>
          <p:cNvPr id="25" name="f7-dot"/>
          <p:cNvSpPr/>
          <p:nvPr/>
        </p:nvSpPr>
        <p:spPr>
          <a:xfrm>
            <a:off x="6527800" y="4330700"/>
            <a:ext cx="76200" cy="76200"/>
          </a:xfrm>
          <a:prstGeom prst="rect">
            <a:avLst/>
          </a:prstGeom>
          <a:solidFill>
            <a:srgbClr val="C0652B"/>
          </a:solidFill>
          <a:ln>
            <a:noFill/>
          </a:ln>
        </p:spPr>
      </p:sp>
      <p:sp>
        <p:nvSpPr>
          <p:cNvPr id="26" name="f7"/>
          <p:cNvSpPr txBox="1"/>
          <p:nvPr/>
        </p:nvSpPr>
        <p:spPr>
          <a:xfrm>
            <a:off x="6756400" y="4254500"/>
            <a:ext cx="4724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F36"/>
                </a:solidFill>
                <a:latin typeface="MiSans"/>
                <a:ea typeface="MiSans"/>
              </a:rPr>
              <a:t>原 MOS 与 Stack 各级参数回读不一致</a:t>
            </a:r>
            <a:endParaRPr lang="en-US" sz="1200" noProof="1"/>
          </a:p>
        </p:txBody>
      </p:sp>
      <p:sp>
        <p:nvSpPr>
          <p:cNvPr id="27" name="exp-text"/>
          <p:cNvSpPr txBox="1"/>
          <p:nvPr/>
        </p:nvSpPr>
        <p:spPr>
          <a:xfrm>
            <a:off x="711200" y="5029200"/>
            <a:ext cx="10769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F36"/>
                </a:solidFill>
                <a:latin typeface="MiSans"/>
                <a:ea typeface="MiSans"/>
              </a:rPr>
              <a:t>同型 Cascode 实验：成功生成派生电路，回读网表确认串联关系、中间节点、Gate 与 Bulk 连接符合预期</a:t>
            </a:r>
            <a:endParaRPr lang="en-US" sz="1200" noProof="1"/>
          </a:p>
        </p:txBody>
      </p:sp>
      <p:sp>
        <p:nvSpPr>
          <p:cNvPr id="28" name="status-bar"/>
          <p:cNvSpPr/>
          <p:nvPr/>
        </p:nvSpPr>
        <p:spPr>
          <a:xfrm>
            <a:off x="711200" y="5588000"/>
            <a:ext cx="38100" cy="508000"/>
          </a:xfrm>
          <a:prstGeom prst="rect">
            <a:avLst/>
          </a:prstGeom>
          <a:solidFill>
            <a:srgbClr val="C0652B"/>
          </a:solidFill>
          <a:ln>
            <a:noFill/>
          </a:ln>
        </p:spPr>
      </p:sp>
      <p:sp>
        <p:nvSpPr>
          <p:cNvPr id="29" name="status-text"/>
          <p:cNvSpPr txBox="1"/>
          <p:nvPr/>
        </p:nvSpPr>
        <p:spPr>
          <a:xfrm>
            <a:off x="914400" y="55626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 b="1">
                <a:solidFill>
                  <a:srgbClr val="2B2F36"/>
                </a:solidFill>
                <a:latin typeface="MiSans"/>
                <a:ea typeface="MiSans"/>
              </a:rPr>
              <a:t>当前状态</a:t>
            </a:r>
            <a:r>
              <a:rPr lang="en-US" sz="1200" noProof="1">
                <a:solidFill>
                  <a:srgbClr val="2B2F36"/>
                </a:solidFill>
                <a:latin typeface="MiSans"/>
                <a:ea typeface="MiSans"/>
              </a:rPr>
              <a:t>：VBIAS 电路生成的真实电路验证进行中；异型 Cascode 待 PDK / Case 提供允许组合后完成正向验证。</a:t>
            </a:r>
            <a:endParaRPr lang="en-US" sz="1200" noProof="1"/>
          </a:p>
        </p:txBody>
      </p:sp>
      <p:sp>
        <p:nvSpPr>
          <p:cNvPr id="30" name="footer-lin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3C3"/>
          </a:solidFill>
          <a:ln>
            <a:noFill/>
          </a:ln>
        </p:spPr>
      </p:sp>
      <p:sp>
        <p:nvSpPr>
          <p:cNvPr id="31" name="footer"/>
          <p:cNvSpPr txBox="1"/>
          <p:nvPr/>
        </p:nvSpPr>
        <p:spPr>
          <a:xfrm>
            <a:off x="711200" y="65532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77725F"/>
                </a:solidFill>
                <a:latin typeface="MiSans"/>
                <a:ea typeface="MiSans"/>
              </a:rPr>
              <a:t>新员工中期答辩 · 周可玮 00981589</a:t>
            </a:r>
            <a:endParaRPr lang="en-US" sz="900" noProof="1"/>
          </a:p>
        </p:txBody>
      </p:sp>
      <p:sp>
        <p:nvSpPr>
          <p:cNvPr id="32" name="page-no"/>
          <p:cNvSpPr txBox="1"/>
          <p:nvPr/>
        </p:nvSpPr>
        <p:spPr>
          <a:xfrm>
            <a:off x="10210800" y="6553200"/>
            <a:ext cx="127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77725F"/>
                </a:solidFill>
                <a:latin typeface="MiSans"/>
                <a:ea typeface="MiSans"/>
              </a:rPr>
              <a:t>11 / 14</a:t>
            </a:r>
            <a:endParaRPr lang="en-US" sz="9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635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77725F"/>
                </a:solidFill>
                <a:latin typeface="MiSans"/>
                <a:ea typeface="MiSans"/>
              </a:rPr>
              <a:t>04 · 转正进展与下阶段计划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85800" y="635000"/>
            <a:ext cx="10795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6283C"/>
                </a:solidFill>
                <a:latin typeface="思源宋体"/>
                <a:ea typeface="思源宋体"/>
              </a:rPr>
              <a:t>转正必备项：科目二已通过，科目一备考中</a:t>
            </a:r>
            <a:endParaRPr lang="en-US" sz="2400" noProof="1"/>
          </a:p>
        </p:txBody>
      </p:sp>
      <p:sp>
        <p:nvSpPr>
          <p:cNvPr id="4" name="tick"/>
          <p:cNvSpPr/>
          <p:nvPr/>
        </p:nvSpPr>
        <p:spPr>
          <a:xfrm>
            <a:off x="711200" y="1193800"/>
            <a:ext cx="431800" cy="38100"/>
          </a:xfrm>
          <a:prstGeom prst="rect">
            <a:avLst/>
          </a:prstGeom>
          <a:solidFill>
            <a:srgbClr val="C0652B"/>
          </a:solidFill>
          <a:ln>
            <a:noFill/>
          </a:ln>
        </p:spPr>
      </p:sp>
      <p:graphicFrame>
        <p:nvGraphicFramePr>
          <p:cNvPr id="5" name="conv-table"/>
          <p:cNvGraphicFramePr>
            <a:graphicFrameLocks noGrp="1"/>
          </p:cNvGraphicFramePr>
          <p:nvPr/>
        </p:nvGraphicFramePr>
        <p:xfrm>
          <a:off x="711200" y="1498600"/>
          <a:ext cx="10769600" cy="4089400"/>
        </p:xfrm>
        <a:graphic>
          <a:graphicData uri="http://schemas.openxmlformats.org/drawingml/2006/table">
            <a:tbl>
              <a:tblPr/>
              <a:tblGrid>
                <a:gridCol w="2800096"/>
                <a:gridCol w="5384800"/>
                <a:gridCol w="2584704"/>
              </a:tblGrid>
              <a:tr h="40894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 b="1">
                          <a:solidFill>
                            <a:srgbClr val="16283C"/>
                          </a:solidFill>
                          <a:latin typeface="Times New Roman"/>
                          <a:ea typeface="Times New Roman"/>
                        </a:rPr>
                        <a:t>类别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solidFill>
                      <a:srgbClr val="EAE5D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 b="1">
                          <a:solidFill>
                            <a:srgbClr val="16283C"/>
                          </a:solidFill>
                          <a:latin typeface="Times New Roman"/>
                          <a:ea typeface="Times New Roman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solidFill>
                      <a:srgbClr val="EAE5D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 b="1">
                          <a:solidFill>
                            <a:srgbClr val="16283C"/>
                          </a:solidFill>
                          <a:latin typeface="Times New Roman"/>
                          <a:ea typeface="Times New Roman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solidFill>
                      <a:srgbClr val="EAE5D8"/>
                    </a:solidFill>
                  </a:tcPr>
                </a:tc>
              </a:tr>
              <a:tr h="61341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>
                          <a:solidFill>
                            <a:srgbClr val="2B2F36"/>
                          </a:solidFill>
                          <a:latin typeface="Times New Roman"/>
                          <a:ea typeface="Times New Roman"/>
                        </a:rPr>
                        <a:t>可信考试 · 科目二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>
                          <a:solidFill>
                            <a:srgbClr val="2B2F36"/>
                          </a:solidFill>
                          <a:latin typeface="Times New Roman"/>
                          <a:ea typeface="Times New Roman"/>
                        </a:rPr>
                        <a:t>C++ 软件编程知识与应用（工作级）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 b="1">
                          <a:solidFill>
                            <a:srgbClr val="16283C"/>
                          </a:solidFill>
                          <a:latin typeface="Times New Roman"/>
                          <a:ea typeface="Times New Roman"/>
                        </a:rPr>
                        <a:t>已通过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</a:tr>
              <a:tr h="61341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>
                          <a:solidFill>
                            <a:srgbClr val="2B2F36"/>
                          </a:solidFill>
                          <a:latin typeface="Times New Roman"/>
                          <a:ea typeface="Times New Roman"/>
                        </a:rPr>
                        <a:t>可信考试 · 科目一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>
                          <a:solidFill>
                            <a:srgbClr val="2B2F36"/>
                          </a:solidFill>
                          <a:latin typeface="Times New Roman"/>
                          <a:ea typeface="Times New Roman"/>
                        </a:rPr>
                        <a:t>C++ 上机实战（工作级）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 b="1">
                          <a:solidFill>
                            <a:srgbClr val="C0652B"/>
                          </a:solidFill>
                          <a:latin typeface="Times New Roman"/>
                          <a:ea typeface="Times New Roman"/>
                        </a:rPr>
                        <a:t>备考中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</a:tr>
              <a:tr h="61341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>
                          <a:solidFill>
                            <a:srgbClr val="2B2F36"/>
                          </a:solidFill>
                          <a:latin typeface="Times New Roman"/>
                          <a:ea typeface="Times New Roman"/>
                        </a:rPr>
                        <a:t>公司必考课程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>
                          <a:solidFill>
                            <a:srgbClr val="2B2F36"/>
                          </a:solidFill>
                          <a:latin typeface="Times New Roman"/>
                          <a:ea typeface="Times New Roman"/>
                        </a:rPr>
                        <a:t>信息安全与商业秘密保护、消防知识、费用报销、出口管制合规等 10 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 b="1">
                          <a:solidFill>
                            <a:srgbClr val="16283C"/>
                          </a:solidFill>
                          <a:latin typeface="Times New Roman"/>
                          <a:ea typeface="Times New Roman"/>
                        </a:rPr>
                        <a:t>已完成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</a:tr>
              <a:tr h="61341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>
                          <a:solidFill>
                            <a:srgbClr val="2B2F36"/>
                          </a:solidFill>
                          <a:latin typeface="Times New Roman"/>
                          <a:ea typeface="Times New Roman"/>
                        </a:rPr>
                        <a:t>必培集训 · 三营培训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>
                          <a:solidFill>
                            <a:srgbClr val="2B2F36"/>
                          </a:solidFill>
                          <a:latin typeface="Times New Roman"/>
                          <a:ea typeface="Times New Roman"/>
                        </a:rPr>
                        <a:t>研发新员工上岗引导培训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 b="1">
                          <a:solidFill>
                            <a:srgbClr val="16283C"/>
                          </a:solidFill>
                          <a:latin typeface="Times New Roman"/>
                          <a:ea typeface="Times New Roman"/>
                        </a:rPr>
                        <a:t>已完成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</a:tr>
              <a:tr h="61341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>
                          <a:solidFill>
                            <a:srgbClr val="2B2F36"/>
                          </a:solidFill>
                          <a:latin typeface="Times New Roman"/>
                          <a:ea typeface="Times New Roman"/>
                        </a:rPr>
                        <a:t>必培集训 · 半导体质量 C 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>
                          <a:solidFill>
                            <a:srgbClr val="2B2F36"/>
                          </a:solidFill>
                          <a:latin typeface="Times New Roman"/>
                          <a:ea typeface="Times New Roman"/>
                        </a:rPr>
                        <a:t>待部门统一安排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>
                          <a:solidFill>
                            <a:srgbClr val="77725F"/>
                          </a:solidFill>
                          <a:latin typeface="Times New Roman"/>
                          <a:ea typeface="Times New Roman"/>
                        </a:rPr>
                        <a:t>待开展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</a:tr>
              <a:tr h="61341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>
                          <a:solidFill>
                            <a:srgbClr val="2B2F36"/>
                          </a:solidFill>
                          <a:latin typeface="Times New Roman"/>
                          <a:ea typeface="Times New Roman"/>
                        </a:rPr>
                        <a:t>虚拟 LAB · Maau LAB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>
                          <a:solidFill>
                            <a:srgbClr val="2B2F36"/>
                          </a:solidFill>
                          <a:latin typeface="Times New Roman"/>
                          <a:ea typeface="Times New Roman"/>
                        </a:rPr>
                        <a:t>前端 Mapping / Sizing 实验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00" noProof="1" b="1">
                          <a:solidFill>
                            <a:srgbClr val="16283C"/>
                          </a:solidFill>
                          <a:latin typeface="Times New Roman"/>
                          <a:ea typeface="Times New Roman"/>
                        </a:rPr>
                        <a:t>已完成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3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note-bar"/>
          <p:cNvSpPr/>
          <p:nvPr/>
        </p:nvSpPr>
        <p:spPr>
          <a:xfrm>
            <a:off x="711200" y="5791200"/>
            <a:ext cx="38100" cy="304800"/>
          </a:xfrm>
          <a:prstGeom prst="rect">
            <a:avLst/>
          </a:prstGeom>
          <a:solidFill>
            <a:srgbClr val="C0652B"/>
          </a:solidFill>
          <a:ln>
            <a:noFill/>
          </a:ln>
        </p:spPr>
      </p:sp>
      <p:sp>
        <p:nvSpPr>
          <p:cNvPr id="7" name="note-text"/>
          <p:cNvSpPr txBox="1"/>
          <p:nvPr/>
        </p:nvSpPr>
        <p:spPr>
          <a:xfrm>
            <a:off x="914400" y="5791200"/>
            <a:ext cx="10566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2B2F36"/>
                </a:solidFill>
                <a:latin typeface="MiSans"/>
                <a:ea typeface="MiSans"/>
              </a:rPr>
              <a:t>科目一备考</a:t>
            </a:r>
            <a:r>
              <a:rPr lang="en-US" sz="1200" noProof="1">
                <a:solidFill>
                  <a:srgbClr val="2B2F36"/>
                </a:solidFill>
                <a:latin typeface="MiSans"/>
                <a:ea typeface="MiSans"/>
              </a:rPr>
              <a:t>：题库刷题与 C++ OJ 实战练习同步推进，已完成 7 道 OJ 题目并总结所得。</a:t>
            </a:r>
            <a:endParaRPr lang="en-US" sz="1200" noProof="1"/>
          </a:p>
        </p:txBody>
      </p:sp>
      <p:sp>
        <p:nvSpPr>
          <p:cNvPr id="8" name="footer-lin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3C3"/>
          </a:solidFill>
          <a:ln>
            <a:noFill/>
          </a:ln>
        </p:spPr>
      </p:sp>
      <p:sp>
        <p:nvSpPr>
          <p:cNvPr id="9" name="footer"/>
          <p:cNvSpPr txBox="1"/>
          <p:nvPr/>
        </p:nvSpPr>
        <p:spPr>
          <a:xfrm>
            <a:off x="711200" y="65532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77725F"/>
                </a:solidFill>
                <a:latin typeface="MiSans"/>
                <a:ea typeface="MiSans"/>
              </a:rPr>
              <a:t>新员工中期答辩 · 周可玮 00981589</a:t>
            </a:r>
            <a:endParaRPr lang="en-US" sz="900" noProof="1"/>
          </a:p>
        </p:txBody>
      </p:sp>
      <p:sp>
        <p:nvSpPr>
          <p:cNvPr id="10" name="page-no"/>
          <p:cNvSpPr txBox="1"/>
          <p:nvPr/>
        </p:nvSpPr>
        <p:spPr>
          <a:xfrm>
            <a:off x="10210800" y="6553200"/>
            <a:ext cx="127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77725F"/>
                </a:solidFill>
                <a:latin typeface="MiSans"/>
                <a:ea typeface="MiSans"/>
              </a:rPr>
              <a:t>12 / 14</a:t>
            </a:r>
            <a:endParaRPr lang="en-US" sz="9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635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77725F"/>
                </a:solidFill>
                <a:latin typeface="MiSans"/>
                <a:ea typeface="MiSans"/>
              </a:rPr>
              <a:t>04 · 转正进展与下阶段计划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85800" y="635000"/>
            <a:ext cx="10795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6283C"/>
                </a:solidFill>
                <a:latin typeface="思源宋体"/>
                <a:ea typeface="思源宋体"/>
              </a:rPr>
              <a:t>方法沉淀：三条工作原则</a:t>
            </a:r>
            <a:endParaRPr lang="en-US" sz="2400" noProof="1"/>
          </a:p>
        </p:txBody>
      </p:sp>
      <p:sp>
        <p:nvSpPr>
          <p:cNvPr id="4" name="tick"/>
          <p:cNvSpPr/>
          <p:nvPr/>
        </p:nvSpPr>
        <p:spPr>
          <a:xfrm>
            <a:off x="711200" y="1193800"/>
            <a:ext cx="431800" cy="38100"/>
          </a:xfrm>
          <a:prstGeom prst="rect">
            <a:avLst/>
          </a:prstGeom>
          <a:solidFill>
            <a:srgbClr val="C0652B"/>
          </a:solidFill>
          <a:ln>
            <a:noFill/>
          </a:ln>
        </p:spPr>
      </p:sp>
      <p:sp>
        <p:nvSpPr>
          <p:cNvPr id="5" name="m1-num"/>
          <p:cNvSpPr txBox="1"/>
          <p:nvPr/>
        </p:nvSpPr>
        <p:spPr>
          <a:xfrm>
            <a:off x="711200" y="1676400"/>
            <a:ext cx="711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C0652B"/>
                </a:solidFill>
                <a:latin typeface="思源宋体"/>
                <a:ea typeface="思源宋体"/>
              </a:rPr>
              <a:t>01</a:t>
            </a:r>
            <a:endParaRPr lang="en-US" sz="2600" noProof="1"/>
          </a:p>
        </p:txBody>
      </p:sp>
      <p:sp>
        <p:nvSpPr>
          <p:cNvPr id="6" name="m1-title"/>
          <p:cNvSpPr txBox="1"/>
          <p:nvPr/>
        </p:nvSpPr>
        <p:spPr>
          <a:xfrm>
            <a:off x="1574800" y="17272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6283C"/>
                </a:solidFill>
                <a:latin typeface="MiSans"/>
                <a:ea typeface="MiSans"/>
              </a:rPr>
              <a:t>先摸清影响范围，再动代码</a:t>
            </a:r>
            <a:endParaRPr lang="en-US" sz="1500" noProof="1"/>
          </a:p>
        </p:txBody>
      </p:sp>
      <p:sp>
        <p:nvSpPr>
          <p:cNvPr id="7" name="m1-desc"/>
          <p:cNvSpPr txBox="1"/>
          <p:nvPr/>
        </p:nvSpPr>
        <p:spPr>
          <a:xfrm>
            <a:off x="1574800" y="2057400"/>
            <a:ext cx="9906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25F"/>
                </a:solidFill>
                <a:latin typeface="MiSans"/>
                <a:ea typeface="MiSans"/>
              </a:rPr>
              <a:t>曾因只盯着问题描述修改而引入新问题；此后坚持先梳理模块调用链与上下游影响，改动他人代码前先与作者确认实现思路，避免返工。</a:t>
            </a:r>
            <a:endParaRPr lang="en-US" sz="1200" noProof="1"/>
          </a:p>
        </p:txBody>
      </p:sp>
      <p:sp>
        <p:nvSpPr>
          <p:cNvPr id="8" name="m1-line"/>
          <p:cNvSpPr/>
          <p:nvPr/>
        </p:nvSpPr>
        <p:spPr>
          <a:xfrm>
            <a:off x="711200" y="2743200"/>
            <a:ext cx="10769600" cy="12700"/>
          </a:xfrm>
          <a:prstGeom prst="rect">
            <a:avLst/>
          </a:prstGeom>
          <a:solidFill>
            <a:srgbClr val="D9D3C3"/>
          </a:solidFill>
          <a:ln>
            <a:noFill/>
          </a:ln>
        </p:spPr>
      </p:sp>
      <p:sp>
        <p:nvSpPr>
          <p:cNvPr id="9" name="m2-num"/>
          <p:cNvSpPr txBox="1"/>
          <p:nvPr/>
        </p:nvSpPr>
        <p:spPr>
          <a:xfrm>
            <a:off x="711200" y="3073400"/>
            <a:ext cx="711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C0652B"/>
                </a:solidFill>
                <a:latin typeface="思源宋体"/>
                <a:ea typeface="思源宋体"/>
              </a:rPr>
              <a:t>02</a:t>
            </a:r>
            <a:endParaRPr lang="en-US" sz="2600" noProof="1"/>
          </a:p>
        </p:txBody>
      </p:sp>
      <p:sp>
        <p:nvSpPr>
          <p:cNvPr id="10" name="m2-title"/>
          <p:cNvSpPr txBox="1"/>
          <p:nvPr/>
        </p:nvSpPr>
        <p:spPr>
          <a:xfrm>
            <a:off x="1574800" y="31242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6283C"/>
                </a:solidFill>
                <a:latin typeface="MiSans"/>
                <a:ea typeface="MiSans"/>
              </a:rPr>
              <a:t>AI 协同，人工兜底</a:t>
            </a:r>
            <a:endParaRPr lang="en-US" sz="1500" noProof="1"/>
          </a:p>
        </p:txBody>
      </p:sp>
      <p:sp>
        <p:nvSpPr>
          <p:cNvPr id="11" name="m2-desc"/>
          <p:cNvSpPr txBox="1"/>
          <p:nvPr/>
        </p:nvSpPr>
        <p:spPr>
          <a:xfrm>
            <a:off x="1574800" y="3454400"/>
            <a:ext cx="9906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25F"/>
                </a:solidFill>
                <a:latin typeface="MiSans"/>
                <a:ea typeface="MiSans"/>
              </a:rPr>
              <a:t>问题描述越清楚、上下文越足，AI 输出质量越好；AI 生成的命令、器件名与 SKILL 调用，必须结合真实 PDK 与服务器结果核对后再合入。</a:t>
            </a:r>
            <a:endParaRPr lang="en-US" sz="1200" noProof="1"/>
          </a:p>
        </p:txBody>
      </p:sp>
      <p:sp>
        <p:nvSpPr>
          <p:cNvPr id="12" name="m2-line"/>
          <p:cNvSpPr/>
          <p:nvPr/>
        </p:nvSpPr>
        <p:spPr>
          <a:xfrm>
            <a:off x="711200" y="4140200"/>
            <a:ext cx="10769600" cy="12700"/>
          </a:xfrm>
          <a:prstGeom prst="rect">
            <a:avLst/>
          </a:prstGeom>
          <a:solidFill>
            <a:srgbClr val="D9D3C3"/>
          </a:solidFill>
          <a:ln>
            <a:noFill/>
          </a:ln>
        </p:spPr>
      </p:sp>
      <p:sp>
        <p:nvSpPr>
          <p:cNvPr id="13" name="m3-num"/>
          <p:cNvSpPr txBox="1"/>
          <p:nvPr/>
        </p:nvSpPr>
        <p:spPr>
          <a:xfrm>
            <a:off x="711200" y="4470400"/>
            <a:ext cx="711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C0652B"/>
                </a:solidFill>
                <a:latin typeface="思源宋体"/>
                <a:ea typeface="思源宋体"/>
              </a:rPr>
              <a:t>03</a:t>
            </a:r>
            <a:endParaRPr lang="en-US" sz="2600" noProof="1"/>
          </a:p>
        </p:txBody>
      </p:sp>
      <p:sp>
        <p:nvSpPr>
          <p:cNvPr id="14" name="m3-title"/>
          <p:cNvSpPr txBox="1"/>
          <p:nvPr/>
        </p:nvSpPr>
        <p:spPr>
          <a:xfrm>
            <a:off x="1574800" y="45212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6283C"/>
                </a:solidFill>
                <a:latin typeface="MiSans"/>
                <a:ea typeface="MiSans"/>
              </a:rPr>
              <a:t>把排查过程留下来</a:t>
            </a:r>
            <a:endParaRPr lang="en-US" sz="1500" noProof="1"/>
          </a:p>
        </p:txBody>
      </p:sp>
      <p:sp>
        <p:nvSpPr>
          <p:cNvPr id="15" name="m3-desc"/>
          <p:cNvSpPr txBox="1"/>
          <p:nvPr/>
        </p:nvSpPr>
        <p:spPr>
          <a:xfrm>
            <a:off x="1574800" y="4851400"/>
            <a:ext cx="9906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25F"/>
                </a:solidFill>
                <a:latin typeface="MiSans"/>
                <a:ea typeface="MiSans"/>
              </a:rPr>
              <a:t>踩坑点与排查关键路径记录成文，同类问题不再重复投入；整理需求、开发交接与验证文档，明确当前有效方案、历史讨论与待验证事项。</a:t>
            </a:r>
            <a:endParaRPr lang="en-US" sz="1200" noProof="1"/>
          </a:p>
        </p:txBody>
      </p:sp>
      <p:sp>
        <p:nvSpPr>
          <p:cNvPr id="16" name="m3-line"/>
          <p:cNvSpPr/>
          <p:nvPr/>
        </p:nvSpPr>
        <p:spPr>
          <a:xfrm>
            <a:off x="711200" y="5537200"/>
            <a:ext cx="10769600" cy="12700"/>
          </a:xfrm>
          <a:prstGeom prst="rect">
            <a:avLst/>
          </a:prstGeom>
          <a:solidFill>
            <a:srgbClr val="D9D3C3"/>
          </a:solidFill>
          <a:ln>
            <a:noFill/>
          </a:ln>
        </p:spPr>
      </p:sp>
      <p:sp>
        <p:nvSpPr>
          <p:cNvPr id="17" name="footer-lin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3C3"/>
          </a:solidFill>
          <a:ln>
            <a:noFill/>
          </a:ln>
        </p:spPr>
      </p:sp>
      <p:sp>
        <p:nvSpPr>
          <p:cNvPr id="18" name="footer"/>
          <p:cNvSpPr txBox="1"/>
          <p:nvPr/>
        </p:nvSpPr>
        <p:spPr>
          <a:xfrm>
            <a:off x="711200" y="65532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77725F"/>
                </a:solidFill>
                <a:latin typeface="MiSans"/>
                <a:ea typeface="MiSans"/>
              </a:rPr>
              <a:t>新员工中期答辩 · 周可玮 00981589</a:t>
            </a:r>
            <a:endParaRPr lang="en-US" sz="900" noProof="1"/>
          </a:p>
        </p:txBody>
      </p:sp>
      <p:sp>
        <p:nvSpPr>
          <p:cNvPr id="19" name="page-no"/>
          <p:cNvSpPr txBox="1"/>
          <p:nvPr/>
        </p:nvSpPr>
        <p:spPr>
          <a:xfrm>
            <a:off x="10210800" y="6553200"/>
            <a:ext cx="127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77725F"/>
                </a:solidFill>
                <a:latin typeface="MiSans"/>
                <a:ea typeface="MiSans"/>
              </a:rPr>
              <a:t>13 / 14</a:t>
            </a:r>
            <a:endParaRPr lang="en-US" sz="9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635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77725F"/>
                </a:solidFill>
                <a:latin typeface="MiSans"/>
                <a:ea typeface="MiSans"/>
              </a:rPr>
              <a:t>04 · 转正进展与下阶段计划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85800" y="635000"/>
            <a:ext cx="10795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6283C"/>
                </a:solidFill>
                <a:latin typeface="思源宋体"/>
                <a:ea typeface="思源宋体"/>
              </a:rPr>
              <a:t>下阶段计划：完成 VBIAS 验证，接入 LDO 调优主流程</a:t>
            </a:r>
            <a:endParaRPr lang="en-US" sz="2400" noProof="1"/>
          </a:p>
        </p:txBody>
      </p:sp>
      <p:sp>
        <p:nvSpPr>
          <p:cNvPr id="4" name="tick"/>
          <p:cNvSpPr/>
          <p:nvPr/>
        </p:nvSpPr>
        <p:spPr>
          <a:xfrm>
            <a:off x="711200" y="1193800"/>
            <a:ext cx="431800" cy="38100"/>
          </a:xfrm>
          <a:prstGeom prst="rect">
            <a:avLst/>
          </a:prstGeom>
          <a:solidFill>
            <a:srgbClr val="C0652B"/>
          </a:solidFill>
          <a:ln>
            <a:noFill/>
          </a:ln>
        </p:spPr>
      </p:sp>
      <p:sp>
        <p:nvSpPr>
          <p:cNvPr id="5" name="p1-num"/>
          <p:cNvSpPr txBox="1"/>
          <p:nvPr/>
        </p:nvSpPr>
        <p:spPr>
          <a:xfrm>
            <a:off x="711200" y="1676400"/>
            <a:ext cx="355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C0652B"/>
                </a:solidFill>
                <a:latin typeface="思源宋体"/>
                <a:ea typeface="思源宋体"/>
              </a:rPr>
              <a:t>1</a:t>
            </a:r>
            <a:endParaRPr lang="en-US" sz="1800" noProof="1"/>
          </a:p>
        </p:txBody>
      </p:sp>
      <p:sp>
        <p:nvSpPr>
          <p:cNvPr id="6" name="p1-title"/>
          <p:cNvSpPr txBox="1"/>
          <p:nvPr/>
        </p:nvSpPr>
        <p:spPr>
          <a:xfrm>
            <a:off x="1168400" y="1689100"/>
            <a:ext cx="6146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6283C"/>
                </a:solidFill>
                <a:latin typeface="MiSans"/>
                <a:ea typeface="MiSans"/>
              </a:rPr>
              <a:t>完成 VBIAS 真实电路验证</a:t>
            </a:r>
            <a:endParaRPr lang="en-US" sz="1300" noProof="1"/>
          </a:p>
        </p:txBody>
      </p:sp>
      <p:sp>
        <p:nvSpPr>
          <p:cNvPr id="7" name="p1-desc"/>
          <p:cNvSpPr txBox="1"/>
          <p:nvPr/>
        </p:nvSpPr>
        <p:spPr>
          <a:xfrm>
            <a:off x="1168400" y="1968500"/>
            <a:ext cx="6146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77725F"/>
                </a:solidFill>
                <a:latin typeface="MiSans"/>
                <a:ea typeface="MiSans"/>
              </a:rPr>
              <a:t>核对封装内部连接、参数回读、源电路保护与仿真结果</a:t>
            </a:r>
            <a:endParaRPr lang="en-US" sz="1100" noProof="1"/>
          </a:p>
        </p:txBody>
      </p:sp>
      <p:sp>
        <p:nvSpPr>
          <p:cNvPr id="8" name="p1-line"/>
          <p:cNvSpPr/>
          <p:nvPr/>
        </p:nvSpPr>
        <p:spPr>
          <a:xfrm>
            <a:off x="711200" y="2336800"/>
            <a:ext cx="6604000" cy="12700"/>
          </a:xfrm>
          <a:prstGeom prst="rect">
            <a:avLst/>
          </a:prstGeom>
          <a:solidFill>
            <a:srgbClr val="D9D3C3"/>
          </a:solidFill>
          <a:ln>
            <a:noFill/>
          </a:ln>
        </p:spPr>
      </p:sp>
      <p:sp>
        <p:nvSpPr>
          <p:cNvPr id="9" name="p2-num"/>
          <p:cNvSpPr txBox="1"/>
          <p:nvPr/>
        </p:nvSpPr>
        <p:spPr>
          <a:xfrm>
            <a:off x="711200" y="2514600"/>
            <a:ext cx="355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C0652B"/>
                </a:solidFill>
                <a:latin typeface="思源宋体"/>
                <a:ea typeface="思源宋体"/>
              </a:rPr>
              <a:t>2</a:t>
            </a:r>
            <a:endParaRPr lang="en-US" sz="1800" noProof="1"/>
          </a:p>
        </p:txBody>
      </p:sp>
      <p:sp>
        <p:nvSpPr>
          <p:cNvPr id="10" name="p2-title"/>
          <p:cNvSpPr txBox="1"/>
          <p:nvPr/>
        </p:nvSpPr>
        <p:spPr>
          <a:xfrm>
            <a:off x="1168400" y="2527300"/>
            <a:ext cx="6146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6283C"/>
                </a:solidFill>
                <a:latin typeface="MiSans"/>
                <a:ea typeface="MiSans"/>
              </a:rPr>
              <a:t>补充边界场景测试</a:t>
            </a:r>
            <a:endParaRPr lang="en-US" sz="1300" noProof="1"/>
          </a:p>
        </p:txBody>
      </p:sp>
      <p:sp>
        <p:nvSpPr>
          <p:cNvPr id="11" name="p2-desc"/>
          <p:cNvSpPr txBox="1"/>
          <p:nvPr/>
        </p:nvSpPr>
        <p:spPr>
          <a:xfrm>
            <a:off x="1168400" y="2806700"/>
            <a:ext cx="6146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77725F"/>
                </a:solidFill>
                <a:latin typeface="MiSans"/>
                <a:ea typeface="MiSans"/>
              </a:rPr>
              <a:t>不同端子形式、CDF 默认值与参数回调、参数边界与失败回退</a:t>
            </a:r>
            <a:endParaRPr lang="en-US" sz="1100" noProof="1"/>
          </a:p>
        </p:txBody>
      </p:sp>
      <p:sp>
        <p:nvSpPr>
          <p:cNvPr id="12" name="p2-line"/>
          <p:cNvSpPr/>
          <p:nvPr/>
        </p:nvSpPr>
        <p:spPr>
          <a:xfrm>
            <a:off x="711200" y="3175000"/>
            <a:ext cx="6604000" cy="12700"/>
          </a:xfrm>
          <a:prstGeom prst="rect">
            <a:avLst/>
          </a:prstGeom>
          <a:solidFill>
            <a:srgbClr val="D9D3C3"/>
          </a:solidFill>
          <a:ln>
            <a:noFill/>
          </a:ln>
        </p:spPr>
      </p:sp>
      <p:sp>
        <p:nvSpPr>
          <p:cNvPr id="13" name="p3-num"/>
          <p:cNvSpPr txBox="1"/>
          <p:nvPr/>
        </p:nvSpPr>
        <p:spPr>
          <a:xfrm>
            <a:off x="711200" y="3352800"/>
            <a:ext cx="355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C0652B"/>
                </a:solidFill>
                <a:latin typeface="思源宋体"/>
                <a:ea typeface="思源宋体"/>
              </a:rPr>
              <a:t>3</a:t>
            </a:r>
            <a:endParaRPr lang="en-US" sz="1800" noProof="1"/>
          </a:p>
        </p:txBody>
      </p:sp>
      <p:sp>
        <p:nvSpPr>
          <p:cNvPr id="14" name="p3-title"/>
          <p:cNvSpPr txBox="1"/>
          <p:nvPr/>
        </p:nvSpPr>
        <p:spPr>
          <a:xfrm>
            <a:off x="1168400" y="3365500"/>
            <a:ext cx="6146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6283C"/>
                </a:solidFill>
                <a:latin typeface="MiSans"/>
                <a:ea typeface="MiSans"/>
              </a:rPr>
              <a:t>接入 LDO 调优流程</a:t>
            </a:r>
            <a:endParaRPr lang="en-US" sz="1300" noProof="1"/>
          </a:p>
        </p:txBody>
      </p:sp>
      <p:sp>
        <p:nvSpPr>
          <p:cNvPr id="15" name="p3-desc"/>
          <p:cNvSpPr txBox="1"/>
          <p:nvPr/>
        </p:nvSpPr>
        <p:spPr>
          <a:xfrm>
            <a:off x="1168400" y="3644900"/>
            <a:ext cx="6146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77725F"/>
                </a:solidFill>
                <a:latin typeface="MiSans"/>
                <a:ea typeface="MiSans"/>
              </a:rPr>
              <a:t>整理操作文档，明确已验证功能与剩余问题，确认主流程接口</a:t>
            </a:r>
            <a:endParaRPr lang="en-US" sz="1100" noProof="1"/>
          </a:p>
        </p:txBody>
      </p:sp>
      <p:sp>
        <p:nvSpPr>
          <p:cNvPr id="16" name="p3-line"/>
          <p:cNvSpPr/>
          <p:nvPr/>
        </p:nvSpPr>
        <p:spPr>
          <a:xfrm>
            <a:off x="711200" y="4013200"/>
            <a:ext cx="6604000" cy="12700"/>
          </a:xfrm>
          <a:prstGeom prst="rect">
            <a:avLst/>
          </a:prstGeom>
          <a:solidFill>
            <a:srgbClr val="D9D3C3"/>
          </a:solidFill>
          <a:ln>
            <a:noFill/>
          </a:ln>
        </p:spPr>
      </p:sp>
      <p:sp>
        <p:nvSpPr>
          <p:cNvPr id="17" name="p4-num"/>
          <p:cNvSpPr txBox="1"/>
          <p:nvPr/>
        </p:nvSpPr>
        <p:spPr>
          <a:xfrm>
            <a:off x="711200" y="4191000"/>
            <a:ext cx="355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C0652B"/>
                </a:solidFill>
                <a:latin typeface="思源宋体"/>
                <a:ea typeface="思源宋体"/>
              </a:rPr>
              <a:t>4</a:t>
            </a:r>
            <a:endParaRPr lang="en-US" sz="1800" noProof="1"/>
          </a:p>
        </p:txBody>
      </p:sp>
      <p:sp>
        <p:nvSpPr>
          <p:cNvPr id="18" name="p4-title"/>
          <p:cNvSpPr txBox="1"/>
          <p:nvPr/>
        </p:nvSpPr>
        <p:spPr>
          <a:xfrm>
            <a:off x="1168400" y="4203700"/>
            <a:ext cx="6146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6283C"/>
                </a:solidFill>
                <a:latin typeface="MiSans"/>
                <a:ea typeface="MiSans"/>
              </a:rPr>
              <a:t>收口转正必备项</a:t>
            </a:r>
            <a:endParaRPr lang="en-US" sz="1300" noProof="1"/>
          </a:p>
        </p:txBody>
      </p:sp>
      <p:sp>
        <p:nvSpPr>
          <p:cNvPr id="19" name="p4-desc"/>
          <p:cNvSpPr txBox="1"/>
          <p:nvPr/>
        </p:nvSpPr>
        <p:spPr>
          <a:xfrm>
            <a:off x="1168400" y="4483100"/>
            <a:ext cx="6146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77725F"/>
                </a:solidFill>
                <a:latin typeface="MiSans"/>
                <a:ea typeface="MiSans"/>
              </a:rPr>
              <a:t>完成软件开发科目一考试，跟进半导体质量 C 培安排</a:t>
            </a:r>
            <a:endParaRPr lang="en-US" sz="1100" noProof="1"/>
          </a:p>
        </p:txBody>
      </p:sp>
      <p:sp>
        <p:nvSpPr>
          <p:cNvPr id="20" name="p4-line"/>
          <p:cNvSpPr/>
          <p:nvPr/>
        </p:nvSpPr>
        <p:spPr>
          <a:xfrm>
            <a:off x="711200" y="4851400"/>
            <a:ext cx="6604000" cy="12700"/>
          </a:xfrm>
          <a:prstGeom prst="rect">
            <a:avLst/>
          </a:prstGeom>
          <a:solidFill>
            <a:srgbClr val="D9D3C3"/>
          </a:solidFill>
          <a:ln>
            <a:noFill/>
          </a:ln>
        </p:spPr>
      </p:sp>
      <p:sp>
        <p:nvSpPr>
          <p:cNvPr id="21" name="thx-line"/>
          <p:cNvSpPr/>
          <p:nvPr/>
        </p:nvSpPr>
        <p:spPr>
          <a:xfrm>
            <a:off x="7874000" y="1676400"/>
            <a:ext cx="3606800" cy="12700"/>
          </a:xfrm>
          <a:prstGeom prst="rect">
            <a:avLst/>
          </a:prstGeom>
          <a:solidFill>
            <a:srgbClr val="D9D3C3"/>
          </a:solidFill>
          <a:ln>
            <a:noFill/>
          </a:ln>
        </p:spPr>
      </p:sp>
      <p:sp>
        <p:nvSpPr>
          <p:cNvPr id="22" name="thx-label"/>
          <p:cNvSpPr txBox="1"/>
          <p:nvPr/>
        </p:nvSpPr>
        <p:spPr>
          <a:xfrm>
            <a:off x="7874000" y="1879600"/>
            <a:ext cx="127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300" kern="0">
                <a:solidFill>
                  <a:srgbClr val="77725F"/>
                </a:solidFill>
                <a:latin typeface="MiSans"/>
                <a:ea typeface="MiSans"/>
              </a:rPr>
              <a:t>致谢</a:t>
            </a:r>
            <a:endParaRPr lang="en-US" sz="1000" noProof="1"/>
          </a:p>
        </p:txBody>
      </p:sp>
      <p:sp>
        <p:nvSpPr>
          <p:cNvPr id="23" name="thx-big"/>
          <p:cNvSpPr txBox="1"/>
          <p:nvPr/>
        </p:nvSpPr>
        <p:spPr>
          <a:xfrm>
            <a:off x="7848600" y="2184400"/>
            <a:ext cx="36322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800" noProof="1" b="1">
                <a:solidFill>
                  <a:srgbClr val="16283C"/>
                </a:solidFill>
                <a:latin typeface="思源宋体"/>
                <a:ea typeface="思源宋体"/>
              </a:rPr>
              <a:t>谢　谢</a:t>
            </a:r>
            <a:endParaRPr lang="en-US" sz="3800" noProof="1"/>
          </a:p>
        </p:txBody>
      </p:sp>
      <p:sp>
        <p:nvSpPr>
          <p:cNvPr id="24" name="thx-body"/>
          <p:cNvSpPr txBox="1"/>
          <p:nvPr/>
        </p:nvSpPr>
        <p:spPr>
          <a:xfrm>
            <a:off x="7874000" y="3048000"/>
            <a:ext cx="3606800" cy="132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200" noProof="1">
                <a:solidFill>
                  <a:srgbClr val="2B2F36"/>
                </a:solidFill>
                <a:latin typeface="MiSans"/>
                <a:ea typeface="MiSans"/>
              </a:rPr>
              <a:t>感谢导师路家林、主管张子昌以及部门同事入职以来的指导与帮助，恳请各位评委批评指正。</a:t>
            </a:r>
            <a:endParaRPr lang="en-US" sz="1200" noProof="1"/>
          </a:p>
        </p:txBody>
      </p:sp>
      <p:sp>
        <p:nvSpPr>
          <p:cNvPr id="25" name="footer-lin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3C3"/>
          </a:solidFill>
          <a:ln>
            <a:noFill/>
          </a:ln>
        </p:spPr>
      </p:sp>
      <p:sp>
        <p:nvSpPr>
          <p:cNvPr id="26" name="footer"/>
          <p:cNvSpPr txBox="1"/>
          <p:nvPr/>
        </p:nvSpPr>
        <p:spPr>
          <a:xfrm>
            <a:off x="711200" y="65532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77725F"/>
                </a:solidFill>
                <a:latin typeface="MiSans"/>
                <a:ea typeface="MiSans"/>
              </a:rPr>
              <a:t>新员工中期答辩 · 周可玮 00981589</a:t>
            </a:r>
            <a:endParaRPr lang="en-US" sz="900" noProof="1"/>
          </a:p>
        </p:txBody>
      </p:sp>
      <p:sp>
        <p:nvSpPr>
          <p:cNvPr id="27" name="page-no"/>
          <p:cNvSpPr txBox="1"/>
          <p:nvPr/>
        </p:nvSpPr>
        <p:spPr>
          <a:xfrm>
            <a:off x="10210800" y="6553200"/>
            <a:ext cx="127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77725F"/>
                </a:solidFill>
                <a:latin typeface="MiSans"/>
                <a:ea typeface="MiSans"/>
              </a:rPr>
              <a:t>14 / 14</a:t>
            </a:r>
            <a:endParaRPr lang="en-US" sz="9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14</Slides>
</Properties>
</file>

<file path=docProps/core.xml><?xml version="1.0" encoding="utf-8"?>
<cp:coreProperties xmlns:dc="http://purl.org/dc/elements/1.1/" xmlns:cp="http://schemas.openxmlformats.org/package/2006/metadata/core-properties">
  <dc:title>中期答辩_周可玮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