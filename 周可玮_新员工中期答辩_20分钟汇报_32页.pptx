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429b5ceb4435a" /><Relationship Type="http://schemas.openxmlformats.org/officeDocument/2006/relationships/extended-properties" Target="/docProps/app.xml" Id="R4283b429dc214aa8" /><Relationship Type="http://schemas.openxmlformats.org/officeDocument/2006/relationships/officeDocument" Target="/ppt/presentation.xml" Id="R14644e6dc6a6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cd38c752a4456"/>
  </p:sldMasterIdLst>
  <p:notesMasterIdLst>
    <p:notesMasterId xmlns:r="http://schemas.openxmlformats.org/officeDocument/2006/relationships" r:id="R697beb6d5e614c60"/>
  </p:notesMasterIdLst>
  <p:sldIdLst>
    <p:sldId xmlns:r="http://schemas.openxmlformats.org/officeDocument/2006/relationships" id="256" r:id="Rd2155bd9b41e491c"/>
    <p:sldId xmlns:r="http://schemas.openxmlformats.org/officeDocument/2006/relationships" id="257" r:id="R9312156e8e7f4692"/>
    <p:sldId xmlns:r="http://schemas.openxmlformats.org/officeDocument/2006/relationships" id="258" r:id="R6272b5f27de345ce"/>
    <p:sldId xmlns:r="http://schemas.openxmlformats.org/officeDocument/2006/relationships" id="259" r:id="R6177a190db22444f"/>
    <p:sldId xmlns:r="http://schemas.openxmlformats.org/officeDocument/2006/relationships" id="260" r:id="R93d4d956fd6e4583"/>
    <p:sldId xmlns:r="http://schemas.openxmlformats.org/officeDocument/2006/relationships" id="261" r:id="R44a2220e39bd4e70"/>
    <p:sldId xmlns:r="http://schemas.openxmlformats.org/officeDocument/2006/relationships" id="262" r:id="R114d3fd484dd4c1f"/>
    <p:sldId xmlns:r="http://schemas.openxmlformats.org/officeDocument/2006/relationships" id="263" r:id="R8d5f1dc80c0e4de0"/>
    <p:sldId xmlns:r="http://schemas.openxmlformats.org/officeDocument/2006/relationships" id="264" r:id="R78b319dcc55d49c1"/>
    <p:sldId xmlns:r="http://schemas.openxmlformats.org/officeDocument/2006/relationships" id="265" r:id="R892745c73fbf4fd2"/>
    <p:sldId xmlns:r="http://schemas.openxmlformats.org/officeDocument/2006/relationships" id="266" r:id="R86c6016bfa074365"/>
    <p:sldId xmlns:r="http://schemas.openxmlformats.org/officeDocument/2006/relationships" id="267" r:id="Rdf9d5f8a9b724b84"/>
    <p:sldId xmlns:r="http://schemas.openxmlformats.org/officeDocument/2006/relationships" id="268" r:id="Ref2315e2872448bc"/>
    <p:sldId xmlns:r="http://schemas.openxmlformats.org/officeDocument/2006/relationships" id="269" r:id="R01c469b4767545fb"/>
    <p:sldId xmlns:r="http://schemas.openxmlformats.org/officeDocument/2006/relationships" id="270" r:id="R9b853d36b6a24e6f"/>
    <p:sldId xmlns:r="http://schemas.openxmlformats.org/officeDocument/2006/relationships" id="271" r:id="R06e51d341e8649a4"/>
    <p:sldId xmlns:r="http://schemas.openxmlformats.org/officeDocument/2006/relationships" id="272" r:id="Rf9ec1d9d185f459c"/>
    <p:sldId xmlns:r="http://schemas.openxmlformats.org/officeDocument/2006/relationships" id="273" r:id="R4dbef67ef82943a1"/>
    <p:sldId xmlns:r="http://schemas.openxmlformats.org/officeDocument/2006/relationships" id="274" r:id="Rc9e3e0fb12dc40d9"/>
    <p:sldId xmlns:r="http://schemas.openxmlformats.org/officeDocument/2006/relationships" id="275" r:id="R5a753f36cbcb442c"/>
    <p:sldId xmlns:r="http://schemas.openxmlformats.org/officeDocument/2006/relationships" id="276" r:id="R7240e171a9ee42ea"/>
    <p:sldId xmlns:r="http://schemas.openxmlformats.org/officeDocument/2006/relationships" id="277" r:id="Ra601090561604c21"/>
    <p:sldId xmlns:r="http://schemas.openxmlformats.org/officeDocument/2006/relationships" id="278" r:id="Rebd4d920583846f5"/>
    <p:sldId xmlns:r="http://schemas.openxmlformats.org/officeDocument/2006/relationships" id="279" r:id="Rbb0782509b75430b"/>
    <p:sldId xmlns:r="http://schemas.openxmlformats.org/officeDocument/2006/relationships" id="280" r:id="Rffef956d4e2a4681"/>
    <p:sldId xmlns:r="http://schemas.openxmlformats.org/officeDocument/2006/relationships" id="281" r:id="R82d02b5088e848dd"/>
    <p:sldId xmlns:r="http://schemas.openxmlformats.org/officeDocument/2006/relationships" id="282" r:id="R3a4b4bb4c80445ba"/>
    <p:sldId xmlns:r="http://schemas.openxmlformats.org/officeDocument/2006/relationships" id="283" r:id="Ra3cf41f54b02468b"/>
    <p:sldId xmlns:r="http://schemas.openxmlformats.org/officeDocument/2006/relationships" id="284" r:id="R33c074170ef14760"/>
    <p:sldId xmlns:r="http://schemas.openxmlformats.org/officeDocument/2006/relationships" id="285" r:id="R86e36c7ee9c646d7"/>
    <p:sldId xmlns:r="http://schemas.openxmlformats.org/officeDocument/2006/relationships" id="286" r:id="R6413a8f816e84bfc"/>
    <p:sldId xmlns:r="http://schemas.openxmlformats.org/officeDocument/2006/relationships" id="287" r:id="Ra94a43096d7f42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bec2ae5a034ec9" /><Relationship Type="http://schemas.openxmlformats.org/officeDocument/2006/relationships/slideMaster" Target="/ppt/slideMasters/slideMaster1.xml" Id="R32dcd38c752a4456" /><Relationship Type="http://schemas.openxmlformats.org/officeDocument/2006/relationships/notesMaster" Target="/ppt/notesMasters/notesMaster1.xml" Id="R697beb6d5e614c60" /><Relationship Type="http://schemas.openxmlformats.org/officeDocument/2006/relationships/presProps" Target="/ppt/presProps.xml" Id="R7a85efa1f91e4c79" /><Relationship Type="http://schemas.openxmlformats.org/officeDocument/2006/relationships/tableStyles" Target="/ppt/tableStyles.xml" Id="R842e63ea7eb0404c" /><Relationship Type="http://schemas.openxmlformats.org/officeDocument/2006/relationships/slide" Target="/ppt/slides/slide1.xml" Id="Rd2155bd9b41e491c" /><Relationship Type="http://schemas.openxmlformats.org/officeDocument/2006/relationships/slide" Target="/ppt/slides/slide2.xml" Id="R9312156e8e7f4692" /><Relationship Type="http://schemas.openxmlformats.org/officeDocument/2006/relationships/slide" Target="/ppt/slides/slide3.xml" Id="R6272b5f27de345ce" /><Relationship Type="http://schemas.openxmlformats.org/officeDocument/2006/relationships/slide" Target="/ppt/slides/slide4.xml" Id="R6177a190db22444f" /><Relationship Type="http://schemas.openxmlformats.org/officeDocument/2006/relationships/slide" Target="/ppt/slides/slide5.xml" Id="R93d4d956fd6e4583" /><Relationship Type="http://schemas.openxmlformats.org/officeDocument/2006/relationships/slide" Target="/ppt/slides/slide6.xml" Id="R44a2220e39bd4e70" /><Relationship Type="http://schemas.openxmlformats.org/officeDocument/2006/relationships/slide" Target="/ppt/slides/slide7.xml" Id="R114d3fd484dd4c1f" /><Relationship Type="http://schemas.openxmlformats.org/officeDocument/2006/relationships/slide" Target="/ppt/slides/slide8.xml" Id="R8d5f1dc80c0e4de0" /><Relationship Type="http://schemas.openxmlformats.org/officeDocument/2006/relationships/slide" Target="/ppt/slides/slide9.xml" Id="R78b319dcc55d49c1" /><Relationship Type="http://schemas.openxmlformats.org/officeDocument/2006/relationships/slide" Target="/ppt/slides/slide10.xml" Id="R892745c73fbf4fd2" /><Relationship Type="http://schemas.openxmlformats.org/officeDocument/2006/relationships/slide" Target="/ppt/slides/slide11.xml" Id="R86c6016bfa074365" /><Relationship Type="http://schemas.openxmlformats.org/officeDocument/2006/relationships/slide" Target="/ppt/slides/slide12.xml" Id="Rdf9d5f8a9b724b84" /><Relationship Type="http://schemas.openxmlformats.org/officeDocument/2006/relationships/slide" Target="/ppt/slides/slide13.xml" Id="Ref2315e2872448bc" /><Relationship Type="http://schemas.openxmlformats.org/officeDocument/2006/relationships/slide" Target="/ppt/slides/slide14.xml" Id="R01c469b4767545fb" /><Relationship Type="http://schemas.openxmlformats.org/officeDocument/2006/relationships/slide" Target="/ppt/slides/slide15.xml" Id="R9b853d36b6a24e6f" /><Relationship Type="http://schemas.openxmlformats.org/officeDocument/2006/relationships/slide" Target="/ppt/slides/slide16.xml" Id="R06e51d341e8649a4" /><Relationship Type="http://schemas.openxmlformats.org/officeDocument/2006/relationships/slide" Target="/ppt/slides/slide17.xml" Id="Rf9ec1d9d185f459c" /><Relationship Type="http://schemas.openxmlformats.org/officeDocument/2006/relationships/slide" Target="/ppt/slides/slide18.xml" Id="R4dbef67ef82943a1" /><Relationship Type="http://schemas.openxmlformats.org/officeDocument/2006/relationships/slide" Target="/ppt/slides/slide19.xml" Id="Rc9e3e0fb12dc40d9" /><Relationship Type="http://schemas.openxmlformats.org/officeDocument/2006/relationships/slide" Target="/ppt/slides/slide20.xml" Id="R5a753f36cbcb442c" /><Relationship Type="http://schemas.openxmlformats.org/officeDocument/2006/relationships/slide" Target="/ppt/slides/slide21.xml" Id="R7240e171a9ee42ea" /><Relationship Type="http://schemas.openxmlformats.org/officeDocument/2006/relationships/slide" Target="/ppt/slides/slide22.xml" Id="Ra601090561604c21" /><Relationship Type="http://schemas.openxmlformats.org/officeDocument/2006/relationships/slide" Target="/ppt/slides/slide23.xml" Id="Rebd4d920583846f5" /><Relationship Type="http://schemas.openxmlformats.org/officeDocument/2006/relationships/slide" Target="/ppt/slides/slide24.xml" Id="Rbb0782509b75430b" /><Relationship Type="http://schemas.openxmlformats.org/officeDocument/2006/relationships/slide" Target="/ppt/slides/slide25.xml" Id="Rffef956d4e2a4681" /><Relationship Type="http://schemas.openxmlformats.org/officeDocument/2006/relationships/slide" Target="/ppt/slides/slide26.xml" Id="R82d02b5088e848dd" /><Relationship Type="http://schemas.openxmlformats.org/officeDocument/2006/relationships/slide" Target="/ppt/slides/slide27.xml" Id="R3a4b4bb4c80445ba" /><Relationship Type="http://schemas.openxmlformats.org/officeDocument/2006/relationships/slide" Target="/ppt/slides/slide28.xml" Id="Ra3cf41f54b02468b" /><Relationship Type="http://schemas.openxmlformats.org/officeDocument/2006/relationships/slide" Target="/ppt/slides/slide29.xml" Id="R33c074170ef14760" /><Relationship Type="http://schemas.openxmlformats.org/officeDocument/2006/relationships/slide" Target="/ppt/slides/slide30.xml" Id="R86e36c7ee9c646d7" /><Relationship Type="http://schemas.openxmlformats.org/officeDocument/2006/relationships/slide" Target="/ppt/slides/slide31.xml" Id="R6413a8f816e84bfc" /><Relationship Type="http://schemas.openxmlformats.org/officeDocument/2006/relationships/slide" Target="/ppt/slides/slide32.xml" Id="Ra94a43096d7f42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f56bcc240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2723261a049bc" /><Relationship Type="http://schemas.openxmlformats.org/officeDocument/2006/relationships/notesMaster" Target="/ppt/notesMasters/notesMaster1.xml" Id="Rfbe1083d16ce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1cd7875ba444c" /><Relationship Type="http://schemas.openxmlformats.org/officeDocument/2006/relationships/notesMaster" Target="/ppt/notesMasters/notesMaster1.xml" Id="R7456934da6904e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dc848546b4f12" /><Relationship Type="http://schemas.openxmlformats.org/officeDocument/2006/relationships/notesMaster" Target="/ppt/notesMasters/notesMaster1.xml" Id="R1a8af517ec0345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032ef90d994f54" /><Relationship Type="http://schemas.openxmlformats.org/officeDocument/2006/relationships/notesMaster" Target="/ppt/notesMasters/notesMaster1.xml" Id="R77e2325a80274e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7891c831044eb" /><Relationship Type="http://schemas.openxmlformats.org/officeDocument/2006/relationships/notesMaster" Target="/ppt/notesMasters/notesMaster1.xml" Id="R86ecba4850fa43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f8d4aa41164675" /><Relationship Type="http://schemas.openxmlformats.org/officeDocument/2006/relationships/notesMaster" Target="/ppt/notesMasters/notesMaster1.xml" Id="Ra55ba6f8b398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00621904ff4a59" /><Relationship Type="http://schemas.openxmlformats.org/officeDocument/2006/relationships/notesMaster" Target="/ppt/notesMasters/notesMaster1.xml" Id="R2bbd00db23fd44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7b67fd2b414493" /><Relationship Type="http://schemas.openxmlformats.org/officeDocument/2006/relationships/notesMaster" Target="/ppt/notesMasters/notesMaster1.xml" Id="Ra476f9fa6e3248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46107462f74f08" /><Relationship Type="http://schemas.openxmlformats.org/officeDocument/2006/relationships/notesMaster" Target="/ppt/notesMasters/notesMaster1.xml" Id="R15318422ec9645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e3f5d87d5d4648" /><Relationship Type="http://schemas.openxmlformats.org/officeDocument/2006/relationships/notesMaster" Target="/ppt/notesMasters/notesMaster1.xml" Id="R6623ee95eedc46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2aa696aa5c4150" /><Relationship Type="http://schemas.openxmlformats.org/officeDocument/2006/relationships/notesMaster" Target="/ppt/notesMasters/notesMaster1.xml" Id="R686bfeb946c448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dd588466bb4397" /><Relationship Type="http://schemas.openxmlformats.org/officeDocument/2006/relationships/notesMaster" Target="/ppt/notesMasters/notesMaster1.xml" Id="R287077cce49541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31bf1a44ea4228" /><Relationship Type="http://schemas.openxmlformats.org/officeDocument/2006/relationships/notesMaster" Target="/ppt/notesMasters/notesMaster1.xml" Id="Rb2ddeb1b506548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f7c34b25ac40a3" /><Relationship Type="http://schemas.openxmlformats.org/officeDocument/2006/relationships/notesMaster" Target="/ppt/notesMasters/notesMaster1.xml" Id="R187e02c7fb1c45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a9c76f58aa44aa" /><Relationship Type="http://schemas.openxmlformats.org/officeDocument/2006/relationships/notesMaster" Target="/ppt/notesMasters/notesMaster1.xml" Id="R1adfbf1bd88b43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3918bbb2294d5b" /><Relationship Type="http://schemas.openxmlformats.org/officeDocument/2006/relationships/notesMaster" Target="/ppt/notesMasters/notesMaster1.xml" Id="R71d7b7e52e0b49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e2459b3ff14f41" /><Relationship Type="http://schemas.openxmlformats.org/officeDocument/2006/relationships/notesMaster" Target="/ppt/notesMasters/notesMaster1.xml" Id="Raa0bf148c28641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ed6c1cd66e419d" /><Relationship Type="http://schemas.openxmlformats.org/officeDocument/2006/relationships/notesMaster" Target="/ppt/notesMasters/notesMaster1.xml" Id="Rc30cb36253b445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fb15ad8c1f4f36" /><Relationship Type="http://schemas.openxmlformats.org/officeDocument/2006/relationships/notesMaster" Target="/ppt/notesMasters/notesMaster1.xml" Id="Ra0b335c146c442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6f87229c3e434f" /><Relationship Type="http://schemas.openxmlformats.org/officeDocument/2006/relationships/notesMaster" Target="/ppt/notesMasters/notesMaster1.xml" Id="R23ed2ea493ce47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862d8aa03e497a" /><Relationship Type="http://schemas.openxmlformats.org/officeDocument/2006/relationships/notesMaster" Target="/ppt/notesMasters/notesMaster1.xml" Id="Rc16113904a6d4c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ce57662c7a44cb" /><Relationship Type="http://schemas.openxmlformats.org/officeDocument/2006/relationships/notesMaster" Target="/ppt/notesMasters/notesMaster1.xml" Id="R4ca8e0ae09b649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3709a8ed4140b6" /><Relationship Type="http://schemas.openxmlformats.org/officeDocument/2006/relationships/notesMaster" Target="/ppt/notesMasters/notesMaster1.xml" Id="R95946b37c9374d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6586b3517a4bde" /><Relationship Type="http://schemas.openxmlformats.org/officeDocument/2006/relationships/notesMaster" Target="/ppt/notesMasters/notesMaster1.xml" Id="R39df523dcf9f43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67a386f1b04f89" /><Relationship Type="http://schemas.openxmlformats.org/officeDocument/2006/relationships/notesMaster" Target="/ppt/notesMasters/notesMaster1.xml" Id="R03b78c2f50ef4a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ef5ecff0554d18" /><Relationship Type="http://schemas.openxmlformats.org/officeDocument/2006/relationships/notesMaster" Target="/ppt/notesMasters/notesMaster1.xml" Id="R30ec33be89fb4f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89a67a9da045d2" /><Relationship Type="http://schemas.openxmlformats.org/officeDocument/2006/relationships/notesMaster" Target="/ppt/notesMasters/notesMaster1.xml" Id="R587cd0b6022145a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3121414eee4fbc" /><Relationship Type="http://schemas.openxmlformats.org/officeDocument/2006/relationships/notesMaster" Target="/ppt/notesMasters/notesMaster1.xml" Id="R578faa2688b04c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9fd866b733482e" /><Relationship Type="http://schemas.openxmlformats.org/officeDocument/2006/relationships/notesMaster" Target="/ppt/notesMasters/notesMaster1.xml" Id="R829b1ca934944f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a877ccacf74456" /><Relationship Type="http://schemas.openxmlformats.org/officeDocument/2006/relationships/notesMaster" Target="/ppt/notesMasters/notesMaster1.xml" Id="R030e0c06bd7f46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66720130e7842b5" /><Relationship Type="http://schemas.openxmlformats.org/officeDocument/2006/relationships/notesMaster" Target="/ppt/notesMasters/notesMaster1.xml" Id="R96e47ecafaf846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b38b4d4f6ea40e5" /><Relationship Type="http://schemas.openxmlformats.org/officeDocument/2006/relationships/notesMaster" Target="/ppt/notesMasters/notesMaster1.xml" Id="R914533cceb61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25 秒</a:t>
            </a:r>
          </a:p>
          <a:p xmlns:a="http://schemas.openxmlformats.org/drawingml/2006/main">
            <a:r>
              <a:t>各位主管、导师好，我是周可玮。今天汇报入职以来的阶段工作，主要包括业务学习与问题修复、LDO结构变换开发，以及工作方法的改进。汇报以截至10月10日的十份周报为范围。我会把已经完成的开发、已经取得的真实电路验证记录，以及仍需继续验证的部分分别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>这段时间的工作可以用三个有具体来源的范围来概括。首先，周报涉及五个不同的DTS编号，我参与了定位、修改及验证推进，这个数字不是五个全部闭环。其次，围绕LDO整理并开发四类结构变换的核心逻辑，后续持续推进真实环境验证。第三，在一例真实Capless LDO核心电路中识别出了当前层五十九个可处理MOS。这个数字说明了真实电路读取能力的覆盖对象，不代表五十九个器件都逐一做过变换。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材料来源：第2—10份周报；DTS按编号去重。工作范围截至2026年10月10日。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</a:t>
            </a:r>
          </a:p>
          <a:p xmlns:a="http://schemas.openxmlformats.org/drawingml/2006/main">
            <a:r>
              <a:t>今天按照四个部分展开。先简要介绍学习和业务融入，再通过具体问题说明工程实践，主要篇幅放在LDO结构变换和真实环境联调，最后说明反思及下一步计划。正文按二十分钟准备，后面八页是备查内容，可在交流时按问题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材料来源：汇报结构。工作范围截至2026年10月10日。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>回顾这十份周报，工作推进分为四个阶段。最初重点是建立开发环境和理解业务，能够完成基础实验和构建运行。之后通过实际问题单熟悉模块之间的调用关系，同时开始调研结构变换。第六到第八周主要推进方案、核心代码和真实电路实验。最后两份周报中，重点转向PDK适配、自动偏置方案和真实环境问题处理。整个过程让我逐渐认识到，开发工作既包括实现功能，也包括把输入、生成结果和失败处理核对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>基础学习主要围绕上岗和实际任务展开。第一周完成了十一项入职考试，以及二十四项课程和讲座学习，两个数字分别对应不同类别。第二周完成Mapping和Sizing虚拟Lab，帮助我理解工具操作与电路仿真的关系。第六周周报明确记录通过软件科目二，科目一仍在学习。三营培训及Maau Lab在第七周的必备项中记录为已完成。后续学习不是脱离工作另起一条线，而是随着问题定位和LDO需求补充C++、模拟电路与工具使用知识。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材料来源：第1、2、6、7、10份周报。工作范围截至2026年10月10日。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>在业务学习上，我主要沿着真实操作和报错路径阅读代码。Mapping帮助我理解界面配置如何影响目标电路及生成文件。Sizing和Opt的学习重点是调用、任务执行以及相关输入输出。处理Design compiler的FloorPlan问题时，我开始关注加载状态和用户操作时序。对于jeme参数调优，我梳理了运行链路与报错排查脚本。这些学习帮助我把业务现象和代码行为对应起来，但这里不把阅读和梳理表述为已经负责或改造了整个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材料来源：第2—5份周报。工作范围截至2026年10月10日。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前期问题处理主要集中在这四类场景。目标改名后Mapping失败这一项，第三周记录了根因定位、代码修改以及构建验证。StdCell和FloorPlan的问题在第四周记录了修复，但同一份周报的下一步计划仍包含验证和合入，因此我在这里保留它们的具体记录状态。多reference lib问题在第五周推进，第六周同一编号还涉及Generate Pin恢复默认目标及端口不匹配的问题。问题单总体涉及五个编号，明细放在附录，没有把不同阶段的记录直接合并成全部闭环。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材料来源：第2—6份周报。工作范围截至2026年10月10日。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>这个案例最能说明我早期的问题定位过程。触发条件是未解析电路并修改目标电路名称，随后Mapping失败。排查后确认缺少相应JSON文件。完成代码修改以后，我通过编译构建和功能验证确认该场景得到解决。这一过程让我认识到，界面上看起来只是名称变化，实际上还会影响后续所需文件及其使用关系。以后遇到相似问题，我会先把操作输入、生成文件和调用路径串起来，而不是只盯着报错位置。周报没有详细记录具体代码差异，所以这里不扩展未记录的实现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材料来源：第3份周报·问题定位与处理。工作范围截至2026年10月10日。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这两个问题的共同点是，它们都和特定状态有关。StdCell的问题出现在首次输入，FloorPlan的问题则发生在加载尚未完成时继续操作。通过这些问题，我开始在排查时主动区分首次状态、正常状态和状态切换过程。这里列出的后续验证关注，是基于问题复盘提出的检查范围，不是声称这些组合都已经有完整回归记录。它们提醒我，界面问题不能只验证一次正常操作，要把触发条件和临界时序保留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材料来源：第4份周报；“后续验证关注”为复盘建议。工作范围截至2026年10月10日。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第六周的一次返工是对我很直接的提醒。当时只围绕问题描述改了表面的逻辑，没有完整梳理模块调用和上下游影响，修改以后引入了新问题。复盘后，我认识到第一遍处理时就应把影响范围弄清楚，不能等出问题再补检查。另外，修改别人负责的模块时，应及时向原作者确认实现思路和历史考虑。后续在LDO任务中，我更注意把任务拆开复核，补充边界检查并保留已有输出。这是工作方法上的改进方向，并不意味着所有回归场景已经覆盖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材料来源：第6份周报·本周小结。工作范围截至2026年10月10日。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LDO这部分工作的目标，是围绕既有真实电路生成结构变体，并且能够检查变换是否按预期执行。输入包括电路、器件连接和当前PDK信息；操作包括器件选择、结构变换、连续修改以及撤销恢复；输出包括派生电路和封装后的功能单元。对我而言，这不是只把器件放进原理图，还要能确认连接、参数和源电路保护情况。后续才是在这些结果可靠的基础上接入调优流程。因此本次答辩主要汇报结构生成和验证进展，不将其表述为已经取得电路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材料来源：第6—10份周报。工作范围截至2026年10月10日。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65 秒</a:t>
            </a:r>
          </a:p>
          <a:p xmlns:a="http://schemas.openxmlformats.org/drawingml/2006/main">
            <a:r>
              <a:t>四类结构变换在需求推进过程中逐步明确。同型Cascode使用相同型号的MOS，异型Cascode使用同极性但不同型号的MOS。电阻变换需要特别说明：最终规则是保留原MOS，在Source路径中串联真实PDK电阻，并不是把原MOS替换掉。MOS Stack则要求各级共用原Gate，并保留原器件参数和Bulk连接。各类型之间不仅有拓扑区别，还涉及器件候选、参数合法性和生成后的回读核对。核心逻辑已推进完成，但真实环境覆盖程度需要按类型分别说明。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材料来源：第9—10份周报及原始照片。工作范围截至2026年10月10日。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>在这项需求中，我的工作主要覆盖四个方面。首先是梳理需求，把不清楚的器件、连接、参数和Bias规则整理出来并沟通确认。第二是落实核心变换、封装和校验相关代码。第三是接入Cadence、SKILL和真实PDK信息，使程序能够读取实际电路。第四是通过回读与日志检查生成结果，处理真实环境中的差异。这些工作并不是一次性从头做到尾，而是在方案、代码和真实结果之间反复核对。方案讨论和接口确认离不开导师及相关开发同事的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材料来源：第5—10份周报。工作范围截至2026年10月10日。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第八周取得了一个比较明确的结果：能够读取真实Capless LDO核心电路，并识别出当前层五十九个可处理MOS。读取内容不仅是器件名称，还包括D、G、S、B真实连接和PDK master，以及后续生成和显示需要的网表、目录与坐标。这一步为器件选择和变换提供了实际输入。这里要说明范围：五十九是该次读取识别出的当前层可处理数量，不是对所有层级、所有器件或所有变换场景的覆盖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材料来源：第8份周报·Virtuoso接入与真实电路验证；照片023—033。工作范围截至2026年10月10日。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结构封装解决的是派生电路如何清楚呈现和持续修改的问题。每个变换区域生成独立子Cell，核心电路中只保留封装实例，同一区域连续修改时尽量合并到同一个封装，避免器件在原理图里重复堆放。与此配套，生成和发布需要考虑一组相关Cell之间的一致性。第十周完善了暂存生成、整组发布及失败回退流程。这些机制用于降低部分生成成功、部分失败带来的结果不一致风险，最新完整流程仍需结合真实环境继续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材料来源：第8、10份周报；最新完整流程仍在复验。工作范围截至2026年10月10日。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我的验证思路是同时保留期望结构和实际生成后的回读结果。源电路需要确认没有被修改；期望结构给出变换后的核对基准；派生父电路检查封装实例及接口；子Cell进一步检查内部器件、连接和参数。周报中的设计是只有多级一致性检查通过，才输出可以进入后续Sizing的状态。但是，结构和参数正确不等于电气性能达到要求。因此后续还要分别检查工作点和仿真结果，不能用网表一致性代替电路性能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材料来源：第8、10份周报。工作范围截至2026年10月10日。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>当前可以明确讲出的真实验证成果，是第八周记录的同型Cascode实验。当时已生成派生电路，在Virtuoso中打开原理图，并通过回读确认两个器件的串联关系、中间节点、Gate和Bulk连接符合预期，也确认原始电路没有修改。与此同时，我不会把这次实验扩大为所有最新代码和全部变换均通过。后续封装实现发生了调整，还要重新复验；其他类型和候选器件组合需要补充覆盖；自动VBIAS截至第十周仍未完成验证。这一边界是后续计划排序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材料来源：第8、10份周报及原始照片。工作范围截至2026年10月10日。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PDK扫描这部分工作的重点，是减少对固定器件名称和预先配对表的依赖。程序从当前电路关联的工艺读取器件库、端子以及CDF参数，再根据极性、电压域、Bulk和可靠性等条件筛选合法候选，同时处理参数范围与量化。真实环境联调也暴露了很多输入差异，例如工艺关联判断、CDF数据访问方式、端子的符号和字符串表示，以及MOS参数识别。这些问题让我认识到，算法逻辑正确只是基础，必须把实际PDK给出的信息准确转换为程序可以使用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>自动VBIAS的目标是为Cascode生成独立的偏置单元，NMOS与PMOS分别采用相应模板。器件依据真实PDK选择，参数通过直流工作点求解，方案不需要外部参考电流，也不直接复用原电路Bias支路。这里的关键进展包括模板方案、候选组合搜索、参数合法性检查以及工作点接口的异常处理。当前需要明确的限制是：截至第十周，VBIAS生成及仿真验证尚未完成。我目前能汇报的是方案和相关开发、联调进展，不能把它表述成已经在真实电路中完整验证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材料来源：第9—10份周报；外部参考电流表述按第10份原始照片核对。工作范围截至2026年10月10日。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真实环境联调中，大量问题并不直接表现为变换规则错误，而是出在数据和工具接口上。首先是环境加载和命令兼容，要保证程序真正按预期执行。其次是CDF数据与端子表示，程序处理的类型和真实环境返回的形式可能不同。还有参数回读不一致，尤其是原MOS和Stack各级属性的保留。最后是错误Corner、浮点溢出和旧输出恢复等异常场景。我的处理方式是结合运行日志、真实器件信息和回读结果逐项定位，而不是只看界面是否生成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对当前阶段的判断可以归纳为四项。需求和核心代码已经取得较明确的进展；真实电路读取以及一次同型Cascode验证已有周报记录；PDK和自动VBIAS相关能力持续开发联调，实际生成和仿真验证仍是重点；调优主流程接入则属于后续工作。这里采用截至十月十日的状态，避免用未来计划替代当前成果。对下一阶段而言，最重要的不是继续增加功能名称，而是把最新版本的真实结果、失败场景和接口边界逐项核对到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>除了具体功能，这段时间更重要的成长是工作方法的变化。我逐渐习惯把问题现象、调用链和生成文件联系起来，遇到不确定的地方主动向导师和模块同事确认。AI工具帮助我阅读代码、整理方案、生成初稿以及分析日志，但它提出的命令、器件名和调用方式仍需要人工理解，并在真实环境中核对。我也看到自身需要继续加强的部分：修改的完整性、边界验证，以及C++和模拟电路基础。后续希望把这些经验沉淀成可复用的检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材料来源：第3—10份周报·小结及导师沟通记录。工作范围截至2026年10月10日。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>下一阶段我准备按依赖关系和验收结果推进。第一优先级是VBIAS的真实电路生成和仿真，把连接、参数与工作点结果核对清楚。第二是补齐结构变换的边界和失败场景，持续检查源电路保护和回退效果。第三是整理操作文档，明确已经验证的范围与已知限制，再推进调优流程接口。个人学习方面继续准备科目一并加强C++和模拟电路知识。这些是基于最后一份周报归纳的计划，完成标准应体现在可核对的结果上，而不只是一句功能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材料来源：第10份周报·下周计划；优先级及验收依据为本次归纳。工作范围截至2026年10月10日。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</a:t>
            </a:r>
          </a:p>
          <a:p xmlns:a="http://schemas.openxmlformats.org/drawingml/2006/main">
            <a:r>
              <a:t>以上是我的中期汇报。接下来我会继续提高独立解决问题的能力，重点把需求、影响范围和真实验证做完整，也把排查过程中的经验留下来。感谢导师及同事在业务、方案和问题定位上的帮助。请各位主管、导师提出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材料来源：阶段反思与后续目标。工作范围截至2026年10月10日。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问题单数量与闭环状态。第5周写到手头4个问题单在新版本上验证并走单，但没有逐一给出最终状态，因此不能将这句话机械套用到所有5个编号。第2周和第3周使用不同编号，当前材料没有足够依据将二者认定为同一问题单。准确的系统闭环、合入时间及评审记录应以对应系统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材料来源：第2—6份周报；编号去重共5个。工作范围截至2026年10月10日。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十份周报并非十个严格等长的自然周，最后一期为9月28日至10月10日，第九期沿用原文9月20日至9月24日。该页用于回溯工作顺序，不将按周累计的学习数量重复相加。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材料来源：第1—10份周报；沿用周报原始周期。工作范围截至2026年10月10日。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四类变换的区别时，先讲连接与器件规则，再讲真实验证范围。第8周曾将异型正向验证依赖描述为PDK或Case提供合法组合；第9周进一步推进动态候选扫描，不宜仍把预登记配对表说成当前必需条件。具体可用器件组合仍要基于当前PDK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是一套判断验证范围的方法，不表示所有层级均已完成。可以用来回答为什么生成原理图还不足以证明功能完整可用。每一层解决的问题不同，应分别给出对应依据。当前真实同型Cascode记录主要支持生成、连接回读和源电路保护，自动VBIAS的完整实际生成和仿真仍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材料来源：第8—10份周报；验证层级为归纳。工作范围截至2026年10月10日。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先明确这是当前方案，再介绍尚待完成的真实验证。若被问到是否已经求得满足指标的最终参数，应回答截至最后一份周报尚未完成VBIAS验证，没有依据承诺完整电路的性能。外部参考电流问题，以第十份原始照片的跨行完整句子为准：不需要提供外部参考电流，不直接复用原电路Bias支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材料来源：第9—10份周报。工作范围截至2026年10月10日。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个人贡献时，围绕具体工作动作和记录举例，不将团队支持隐去，也不把项目整体成果都归于个人。AI工具用于提高信息整理与代码理解效率，但周报没有提供统一的工时基线，不能给出节省多少百分比的量化结论。建议讲清一个实际排查或验证例子，证明自己对问题和结果的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材料来源：第3—10份周报；不延伸为整项目独立负责。工作范围截至2026年10月10日。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周的转正必备项将科目一和科目二合并列为正在学习，但第6周明确写通过科目二。本页采用更具体的第6周记录，不将泛化模板文字解释为通过状态被撤销。半导体质量C培的最后明确记录来自第7周，后续材料没有更新，正式答辩前如有新进展可以据实际情况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材料来源：第1、2、6、7、10份周报。工作范围截至2026年10月10日。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被问到后续怎样判断完成时，可按结构、异常和仿真接口三个方面回答。结构需要多级回读一致并保护源电路；异常需要明确失败原因且不破坏已有结果；仿真与接口需要确认结果属于当前运行，并能交给后续流程使用。以上为计划验收依据，不是已经具备的全量验证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材料来源：第8—10份周报；验收依据为后续建议。工作范围截至2026年10月10日。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09965709d4d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4ead4662c41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941883d3543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8db1af23a49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b9708e7c24d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3d3ac6929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5C689-D2DD-4E6B-867A-C681ABC7A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F923C2-97D3-45DB-A3E0-47D33A5E1C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1EF7C8-E2C3-436D-B0E9-242D90931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C20DB0-C365-4447-AF1A-BBFFE8640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56D0DC-BCB2-4D80-AA55-14AFCA48DB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138972-E3C5-4F01-BE85-794BA6234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4FDE04-B391-46BF-89B8-B1602EE43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C13E41-84B8-456A-9E4C-782B702012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68A3F-FBC0-421B-9BF6-64617B581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0DEC8B-0B0B-405F-91BC-E300643114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0dfe1c51ae47fb" /><Relationship Type="http://schemas.openxmlformats.org/officeDocument/2006/relationships/slideLayout" Target="/ppt/slideLayouts/slideLayout1.xml" Id="Rb0fb740954c04052" /><Relationship Type="http://schemas.openxmlformats.org/officeDocument/2006/relationships/slideLayout" Target="/ppt/slideLayouts/slideLayout2.xml" Id="R204dfa9737c146e1" /><Relationship Type="http://schemas.openxmlformats.org/officeDocument/2006/relationships/slideLayout" Target="/ppt/slideLayouts/slideLayout3.xml" Id="R61ab37b1fb2b426a" /><Relationship Type="http://schemas.openxmlformats.org/officeDocument/2006/relationships/slideLayout" Target="/ppt/slideLayouts/slideLayout4.xml" Id="R251f317dfc2f41de" /><Relationship Type="http://schemas.openxmlformats.org/officeDocument/2006/relationships/slideLayout" Target="/ppt/slideLayouts/slideLayout5.xml" Id="R9ec459fad4cc4398" /><Relationship Type="http://schemas.openxmlformats.org/officeDocument/2006/relationships/slideLayout" Target="/ppt/slideLayouts/slideLayout6.xml" Id="Rf67337079fcd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fb740954c04052"/>
    <p:sldLayoutId xmlns:r="http://schemas.openxmlformats.org/officeDocument/2006/relationships" id="2147483650" r:id="R204dfa9737c146e1"/>
    <p:sldLayoutId xmlns:r="http://schemas.openxmlformats.org/officeDocument/2006/relationships" id="2147483651" r:id="R61ab37b1fb2b426a"/>
    <p:sldLayoutId xmlns:r="http://schemas.openxmlformats.org/officeDocument/2006/relationships" id="2147483652" r:id="R251f317dfc2f41de"/>
    <p:sldLayoutId xmlns:r="http://schemas.openxmlformats.org/officeDocument/2006/relationships" id="2147483653" r:id="R9ec459fad4cc4398"/>
    <p:sldLayoutId xmlns:r="http://schemas.openxmlformats.org/officeDocument/2006/relationships" id="2147483654" r:id="Rf67337079fcd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1b80cde2946db" /><Relationship Type="http://schemas.openxmlformats.org/officeDocument/2006/relationships/notesSlide" Target="/ppt/notesSlides/notesSlide1.xml" Id="R93a0e64c042b40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453fd7e6345b3" /><Relationship Type="http://schemas.openxmlformats.org/officeDocument/2006/relationships/notesSlide" Target="/ppt/notesSlides/notesSlide2.xml" Id="R34ece86bc9e348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ca90c7ad045c0" /><Relationship Type="http://schemas.openxmlformats.org/officeDocument/2006/relationships/notesSlide" Target="/ppt/notesSlides/notesSlide3.xml" Id="Rdae3b7bc5c4a48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5449d30864384" /><Relationship Type="http://schemas.openxmlformats.org/officeDocument/2006/relationships/notesSlide" Target="/ppt/notesSlides/notesSlide4.xml" Id="R46a312734218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fbd05e26c42ce" /><Relationship Type="http://schemas.openxmlformats.org/officeDocument/2006/relationships/notesSlide" Target="/ppt/notesSlides/notesSlide5.xml" Id="R0956fb6eac4848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92c7ba9dd466a" /><Relationship Type="http://schemas.openxmlformats.org/officeDocument/2006/relationships/notesSlide" Target="/ppt/notesSlides/notesSlide6.xml" Id="R776394430bda4e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2a7d72acf449f" /><Relationship Type="http://schemas.openxmlformats.org/officeDocument/2006/relationships/notesSlide" Target="/ppt/notesSlides/notesSlide7.xml" Id="Rc6a43ec280e2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2ce6edc724249" /><Relationship Type="http://schemas.openxmlformats.org/officeDocument/2006/relationships/notesSlide" Target="/ppt/notesSlides/notesSlide8.xml" Id="R299e4881ed4f4c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37d218e2a4dd5" /><Relationship Type="http://schemas.openxmlformats.org/officeDocument/2006/relationships/notesSlide" Target="/ppt/notesSlides/notesSlide9.xml" Id="R3f0d2a4663ce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0191f119f4b6b" /><Relationship Type="http://schemas.openxmlformats.org/officeDocument/2006/relationships/notesSlide" Target="/ppt/notesSlides/notesSlide10.xml" Id="R19db645950e940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3545e147b4bd4" /><Relationship Type="http://schemas.openxmlformats.org/officeDocument/2006/relationships/notesSlide" Target="/ppt/notesSlides/notesSlide11.xml" Id="Rb0bf0b44140f48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9490a691f4437" /><Relationship Type="http://schemas.openxmlformats.org/officeDocument/2006/relationships/notesSlide" Target="/ppt/notesSlides/notesSlide12.xml" Id="R4f0472b25cd549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1dd8700304d3a" /><Relationship Type="http://schemas.openxmlformats.org/officeDocument/2006/relationships/notesSlide" Target="/ppt/notesSlides/notesSlide13.xml" Id="R3f6b38de8bcf40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f9fcc1dcf4508" /><Relationship Type="http://schemas.openxmlformats.org/officeDocument/2006/relationships/notesSlide" Target="/ppt/notesSlides/notesSlide14.xml" Id="R7e7b37b7fa264f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57a6077ec408c" /><Relationship Type="http://schemas.openxmlformats.org/officeDocument/2006/relationships/notesSlide" Target="/ppt/notesSlides/notesSlide15.xml" Id="Rf7ef2550fd9f44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e15c551634a42" /><Relationship Type="http://schemas.openxmlformats.org/officeDocument/2006/relationships/notesSlide" Target="/ppt/notesSlides/notesSlide16.xml" Id="R014320c82c8d4a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bab0d29e24877" /><Relationship Type="http://schemas.openxmlformats.org/officeDocument/2006/relationships/notesSlide" Target="/ppt/notesSlides/notesSlide17.xml" Id="R6e38e817a58f48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4f7c8695a4d1c" /><Relationship Type="http://schemas.openxmlformats.org/officeDocument/2006/relationships/notesSlide" Target="/ppt/notesSlides/notesSlide18.xml" Id="R7c2dbfbd25554a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7708f4def4070" /><Relationship Type="http://schemas.openxmlformats.org/officeDocument/2006/relationships/notesSlide" Target="/ppt/notesSlides/notesSlide19.xml" Id="R472122f0055f43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8127c650e46aa" /><Relationship Type="http://schemas.openxmlformats.org/officeDocument/2006/relationships/notesSlide" Target="/ppt/notesSlides/notesSlide20.xml" Id="Rc0ad1047c6c247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24aecc27849e1" /><Relationship Type="http://schemas.openxmlformats.org/officeDocument/2006/relationships/notesSlide" Target="/ppt/notesSlides/notesSlide21.xml" Id="R791c802f621045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b7a96cf6a4d76" /><Relationship Type="http://schemas.openxmlformats.org/officeDocument/2006/relationships/notesSlide" Target="/ppt/notesSlides/notesSlide22.xml" Id="R4fc53a4fe4d04e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e157bea134f3d" /><Relationship Type="http://schemas.openxmlformats.org/officeDocument/2006/relationships/notesSlide" Target="/ppt/notesSlides/notesSlide23.xml" Id="Rb4e469c46c6e4e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3bd241f334908" /><Relationship Type="http://schemas.openxmlformats.org/officeDocument/2006/relationships/notesSlide" Target="/ppt/notesSlides/notesSlide24.xml" Id="R53bcbabbd9e940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a177ad93c4303" /><Relationship Type="http://schemas.openxmlformats.org/officeDocument/2006/relationships/notesSlide" Target="/ppt/notesSlides/notesSlide25.xml" Id="R9943604bc09a4c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4d7a98f034252" /><Relationship Type="http://schemas.openxmlformats.org/officeDocument/2006/relationships/notesSlide" Target="/ppt/notesSlides/notesSlide26.xml" Id="R5e90eb810f7c4c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3cb4199184e19" /><Relationship Type="http://schemas.openxmlformats.org/officeDocument/2006/relationships/notesSlide" Target="/ppt/notesSlides/notesSlide27.xml" Id="R50a8737cd99e47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cc9c891bf48a5" /><Relationship Type="http://schemas.openxmlformats.org/officeDocument/2006/relationships/notesSlide" Target="/ppt/notesSlides/notesSlide28.xml" Id="R75db4475483f41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cdecd46a24088" /><Relationship Type="http://schemas.openxmlformats.org/officeDocument/2006/relationships/notesSlide" Target="/ppt/notesSlides/notesSlide29.xml" Id="R9b23d313107442a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1eb2c545c4849" /><Relationship Type="http://schemas.openxmlformats.org/officeDocument/2006/relationships/notesSlide" Target="/ppt/notesSlides/notesSlide30.xml" Id="Reb2c04aa1e5844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49c7e42d34b04" /><Relationship Type="http://schemas.openxmlformats.org/officeDocument/2006/relationships/notesSlide" Target="/ppt/notesSlides/notesSlide31.xml" Id="R0e23ae41fc7544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4135ada9e4603" /><Relationship Type="http://schemas.openxmlformats.org/officeDocument/2006/relationships/notesSlide" Target="/ppt/notesSlides/notesSlide32.xml" Id="R05a10ee93ce64b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物理设计工具部">
            <a:extLst xmlns:a="http://schemas.openxmlformats.org/drawingml/2006/main">
              <a:ext uri="{FF2B5EF4-FFF2-40B4-BE49-F238E27FC236}">
                <a16:creationId xmlns:a16="http://schemas.microsoft.com/office/drawing/2014/main" id="{53A0F97B-9D15-4B50-B5AB-50226B76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rPr>
              <a:t>物理设计工具部</a:t>
            </a:r>
          </a:p>
        </p:txBody>
      </p:sp>
      <p:sp>
        <p:nvSpPr>
          <p:cNvPr id="2" name="新员工中期答辩">
            <a:extLst xmlns:a="http://schemas.openxmlformats.org/drawingml/2006/main">
              <a:ext uri="{FF2B5EF4-FFF2-40B4-BE49-F238E27FC236}">
                <a16:creationId xmlns:a16="http://schemas.microsoft.com/office/drawing/2014/main" id="{BA753C60-F02E-423E-926F-AF395513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新员工中期答辩</a:t>
            </a:r>
          </a:p>
        </p:txBody>
      </p:sp>
      <p:sp>
        <p:nvSpPr>
          <p:cNvPr id="3" name="MAAU 业务实践与 LDO 结构变换开发">
            <a:extLst xmlns:a="http://schemas.openxmlformats.org/drawingml/2006/main">
              <a:ext uri="{FF2B5EF4-FFF2-40B4-BE49-F238E27FC236}">
                <a16:creationId xmlns:a16="http://schemas.microsoft.com/office/drawing/2014/main" id="{B38C5BE6-3459-43F2-B3FA-C2AD29C1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rPr>
              <a:t>MAAU 业务实践与 LDO 结构变换开发</a:t>
            </a:r>
          </a:p>
        </p:txBody>
      </p:sp>
      <p:sp>
        <p:nvSpPr>
          <p:cNvPr id="4" name="周可玮">
            <a:extLst xmlns:a="http://schemas.openxmlformats.org/drawingml/2006/main">
              <a:ext uri="{FF2B5EF4-FFF2-40B4-BE49-F238E27FC236}">
                <a16:creationId xmlns:a16="http://schemas.microsoft.com/office/drawing/2014/main" id="{FAF61A48-9257-4888-B34B-5B2721A9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周可玮</a:t>
            </a:r>
          </a:p>
        </p:txBody>
      </p:sp>
      <p:sp>
        <p:nvSpPr>
          <p:cNvPr id="5" name="导师：路家林     直接主管：张子昌">
            <a:extLst xmlns:a="http://schemas.openxmlformats.org/drawingml/2006/main">
              <a:ext uri="{FF2B5EF4-FFF2-40B4-BE49-F238E27FC236}">
                <a16:creationId xmlns:a16="http://schemas.microsoft.com/office/drawing/2014/main" id="{C1B15606-71C4-48F0-A2F0-495A868C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rPr>
              <a:t>导师：路家林     直接主管：张子昌</a:t>
            </a:r>
          </a:p>
        </p:txBody>
      </p:sp>
      <p:sp>
        <p:nvSpPr>
          <p:cNvPr id="6" name="工作回顾  2026.07.27 — 2026.10.10">
            <a:extLst xmlns:a="http://schemas.openxmlformats.org/drawingml/2006/main">
              <a:ext uri="{FF2B5EF4-FFF2-40B4-BE49-F238E27FC236}">
                <a16:creationId xmlns:a16="http://schemas.microsoft.com/office/drawing/2014/main" id="{5891A3F0-EB61-4BE1-A207-0E93B19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6CCD9"/>
                </a:solidFill>
                <a:latin typeface="Arial Unicode MS"/>
                <a:ea typeface="Arial Unicode MS"/>
                <a:cs typeface="Arial Unicode MS"/>
              </a:rPr>
              <a:t>工作回顾  2026.07.27 — 2026.10.10</a:t>
            </a:r>
          </a:p>
        </p:txBody>
      </p:sp>
    </p:spTree>
    <p:extLst>
      <p:ext uri="{BB962C8B-B14F-4D97-AF65-F5344CB8AC3E}">
        <p14:creationId xmlns:p14="http://schemas.microsoft.com/office/powerpoint/2010/main" val="671251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阶段工作概览">
            <a:extLst xmlns:a="http://schemas.openxmlformats.org/drawingml/2006/main">
              <a:ext uri="{FF2B5EF4-FFF2-40B4-BE49-F238E27FC236}">
                <a16:creationId xmlns:a16="http://schemas.microsoft.com/office/drawing/2014/main" id="{4875266A-4A1B-4FF9-9F68-864D52AD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阶段工作概览</a:t>
            </a:r>
          </a:p>
        </p:txBody>
      </p:sp>
      <p:sp>
        <p:nvSpPr>
          <p:cNvPr id="2" name="第2—10份周报；DTS按编号去重">
            <a:extLst xmlns:a="http://schemas.openxmlformats.org/drawingml/2006/main">
              <a:ext uri="{FF2B5EF4-FFF2-40B4-BE49-F238E27FC236}">
                <a16:creationId xmlns:a16="http://schemas.microsoft.com/office/drawing/2014/main" id="{0152BA88-C19E-413A-9617-D14F2DF8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第2—10份周报；DTS按编号去重</a:t>
            </a:r>
          </a:p>
        </p:txBody>
      </p:sp>
      <p:sp>
        <p:nvSpPr>
          <p:cNvPr id="3" name="02 / 24">
            <a:extLst xmlns:a="http://schemas.openxmlformats.org/drawingml/2006/main">
              <a:ext uri="{FF2B5EF4-FFF2-40B4-BE49-F238E27FC236}">
                <a16:creationId xmlns:a16="http://schemas.microsoft.com/office/drawing/2014/main" id="{2DC193BD-98DC-45F9-B382-C44825B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02 / 24</a:t>
            </a:r>
          </a:p>
        </p:txBody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A5821E98-CF86-4D67-A290-B8873E4C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" name="个 DTS 编号">
            <a:extLst xmlns:a="http://schemas.openxmlformats.org/drawingml/2006/main">
              <a:ext uri="{FF2B5EF4-FFF2-40B4-BE49-F238E27FC236}">
                <a16:creationId xmlns:a16="http://schemas.microsoft.com/office/drawing/2014/main" id="{0E68E9AC-E0D4-4508-A8F2-18ACB498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个 DTS 编号</a:t>
            </a:r>
          </a:p>
        </p:txBody>
      </p:sp>
      <p:sp>
        <p:nvSpPr>
          <p:cNvPr id="6" name="覆盖 Mapping、StdCell&#10;和 FloorPlan 等场景">
            <a:extLst xmlns:a="http://schemas.openxmlformats.org/drawingml/2006/main">
              <a:ext uri="{FF2B5EF4-FFF2-40B4-BE49-F238E27FC236}">
                <a16:creationId xmlns:a16="http://schemas.microsoft.com/office/drawing/2014/main" id="{BA1F6B21-6B6C-4F7B-8991-C9CE0C75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3086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覆盖 Mapping、StdCell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和 FloorPlan 等场景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69BB0B06-9505-4873-A9C2-105DF59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" name="类结构变换">
            <a:extLst xmlns:a="http://schemas.openxmlformats.org/drawingml/2006/main">
              <a:ext uri="{FF2B5EF4-FFF2-40B4-BE49-F238E27FC236}">
                <a16:creationId xmlns:a16="http://schemas.microsoft.com/office/drawing/2014/main" id="{3436D3F5-5467-4809-B1CD-912315F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0400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类结构变换</a:t>
            </a:r>
          </a:p>
        </p:txBody>
      </p:sp>
      <p:sp>
        <p:nvSpPr>
          <p:cNvPr id="9" name="完成核心逻辑，持续推进真实环境验证">
            <a:extLst xmlns:a="http://schemas.openxmlformats.org/drawingml/2006/main">
              <a:ext uri="{FF2B5EF4-FFF2-40B4-BE49-F238E27FC236}">
                <a16:creationId xmlns:a16="http://schemas.microsoft.com/office/drawing/2014/main" id="{88B142C8-8EE1-4843-AC23-1160737D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38575"/>
            <a:ext cx="3086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完成核心逻辑，持续推进真实环境验证</a:t>
            </a:r>
          </a:p>
        </p:txBody>
      </p:sp>
      <p:sp>
        <p:nvSpPr>
          <p:cNvPr id="10" name="59">
            <a:extLst xmlns:a="http://schemas.openxmlformats.org/drawingml/2006/main">
              <a:ext uri="{FF2B5EF4-FFF2-40B4-BE49-F238E27FC236}">
                <a16:creationId xmlns:a16="http://schemas.microsoft.com/office/drawing/2014/main" id="{1FF259E9-3BBC-40DD-9E88-EE907168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59</a:t>
            </a:r>
          </a:p>
        </p:txBody>
      </p:sp>
      <p:sp>
        <p:nvSpPr>
          <p:cNvPr id="11" name="个可处理 MOS">
            <a:extLst xmlns:a="http://schemas.openxmlformats.org/drawingml/2006/main">
              <a:ext uri="{FF2B5EF4-FFF2-40B4-BE49-F238E27FC236}">
                <a16:creationId xmlns:a16="http://schemas.microsoft.com/office/drawing/2014/main" id="{68179448-48B1-4344-AB50-AD8CE934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个可处理 MOS</a:t>
            </a:r>
          </a:p>
        </p:txBody>
      </p:sp>
      <p:sp>
        <p:nvSpPr>
          <p:cNvPr id="12" name="来自一例真实 LDO 核心电路的当前层识别">
            <a:extLst xmlns:a="http://schemas.openxmlformats.org/drawingml/2006/main">
              <a:ext uri="{FF2B5EF4-FFF2-40B4-BE49-F238E27FC236}">
                <a16:creationId xmlns:a16="http://schemas.microsoft.com/office/drawing/2014/main" id="{9064798B-A172-4726-985C-FA472E0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38575"/>
            <a:ext cx="3086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来自一例真实 LDO 核心电路的当前层识别</a:t>
            </a:r>
          </a:p>
        </p:txBody>
      </p:sp>
      <p:sp>
        <p:nvSpPr>
          <p:cNvPr id="13" name="工作重点逐步转向：需求澄清、功能开发、真实电路联调与结果核对">
            <a:extLst xmlns:a="http://schemas.openxmlformats.org/drawingml/2006/main">
              <a:ext uri="{FF2B5EF4-FFF2-40B4-BE49-F238E27FC236}">
                <a16:creationId xmlns:a16="http://schemas.microsoft.com/office/drawing/2014/main" id="{ECED0DF9-A311-4685-9C49-A82DEE99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工作重点逐步转向：需求澄清、功能开发、真实电路联调与结果核对</a:t>
            </a:r>
          </a:p>
        </p:txBody>
      </p:sp>
    </p:spTree>
    <p:extLst>
      <p:ext uri="{BB962C8B-B14F-4D97-AF65-F5344CB8AC3E}">
        <p14:creationId xmlns:p14="http://schemas.microsoft.com/office/powerpoint/2010/main" val="1034449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汇报安排">
            <a:extLst xmlns:a="http://schemas.openxmlformats.org/drawingml/2006/main">
              <a:ext uri="{FF2B5EF4-FFF2-40B4-BE49-F238E27FC236}">
                <a16:creationId xmlns:a16="http://schemas.microsoft.com/office/drawing/2014/main" id="{DA669914-5562-431A-95F6-E157CF7D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汇报安排</a:t>
            </a:r>
          </a:p>
        </p:txBody>
      </p:sp>
      <p:sp>
        <p:nvSpPr>
          <p:cNvPr id="2" name="汇报结构">
            <a:extLst xmlns:a="http://schemas.openxmlformats.org/drawingml/2006/main">
              <a:ext uri="{FF2B5EF4-FFF2-40B4-BE49-F238E27FC236}">
                <a16:creationId xmlns:a16="http://schemas.microsoft.com/office/drawing/2014/main" id="{6DE52807-E1F7-442C-9EDA-1734E3E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汇报结构</a:t>
            </a:r>
          </a:p>
        </p:txBody>
      </p:sp>
      <p:sp>
        <p:nvSpPr>
          <p:cNvPr id="3" name="03 / 24">
            <a:extLst xmlns:a="http://schemas.openxmlformats.org/drawingml/2006/main">
              <a:ext uri="{FF2B5EF4-FFF2-40B4-BE49-F238E27FC236}">
                <a16:creationId xmlns:a16="http://schemas.microsoft.com/office/drawing/2014/main" id="{DF62642B-2CCC-4AC1-BEE0-6401DB7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03 / 24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EFF71795-9660-4DFD-A209-66D4159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业务学习与岗位融入">
            <a:extLst xmlns:a="http://schemas.openxmlformats.org/drawingml/2006/main">
              <a:ext uri="{FF2B5EF4-FFF2-40B4-BE49-F238E27FC236}">
                <a16:creationId xmlns:a16="http://schemas.microsoft.com/office/drawing/2014/main" id="{5A9E6C54-E15C-4C1E-906C-C98B665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47825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业务学习与岗位融入</a:t>
            </a:r>
          </a:p>
        </p:txBody>
      </p:sp>
      <p:sp>
        <p:nvSpPr>
          <p:cNvPr id="6" name="4 分钟">
            <a:extLst xmlns:a="http://schemas.openxmlformats.org/drawingml/2006/main">
              <a:ext uri="{FF2B5EF4-FFF2-40B4-BE49-F238E27FC236}">
                <a16:creationId xmlns:a16="http://schemas.microsoft.com/office/drawing/2014/main" id="{5E37DF01-2C52-43BF-83C7-3BD3FAAA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8592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4 分钟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AAE1A8B-7586-47DB-B2DC-D84A0D6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MAAU 问题定位与修复">
            <a:extLst xmlns:a="http://schemas.openxmlformats.org/drawingml/2006/main">
              <a:ext uri="{FF2B5EF4-FFF2-40B4-BE49-F238E27FC236}">
                <a16:creationId xmlns:a16="http://schemas.microsoft.com/office/drawing/2014/main" id="{E454BADA-6552-4FF6-B384-BAABB12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MAAU 问题定位与修复</a:t>
            </a:r>
          </a:p>
        </p:txBody>
      </p:sp>
      <p:sp>
        <p:nvSpPr>
          <p:cNvPr id="9" name="4 分钟">
            <a:extLst xmlns:a="http://schemas.openxmlformats.org/drawingml/2006/main">
              <a:ext uri="{FF2B5EF4-FFF2-40B4-BE49-F238E27FC236}">
                <a16:creationId xmlns:a16="http://schemas.microsoft.com/office/drawing/2014/main" id="{99B74015-2D8F-4336-A37D-42B79112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4 分钟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C0164BAB-36A9-4A39-B861-847795D1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LDO 结构变换与联调">
            <a:extLst xmlns:a="http://schemas.openxmlformats.org/drawingml/2006/main">
              <a:ext uri="{FF2B5EF4-FFF2-40B4-BE49-F238E27FC236}">
                <a16:creationId xmlns:a16="http://schemas.microsoft.com/office/drawing/2014/main" id="{2E2BCB7D-7EEA-4CFB-BC22-EF2ED9F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48075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LDO 结构变换与联调</a:t>
            </a:r>
          </a:p>
        </p:txBody>
      </p:sp>
      <p:sp>
        <p:nvSpPr>
          <p:cNvPr id="12" name="10 分钟">
            <a:extLst xmlns:a="http://schemas.openxmlformats.org/drawingml/2006/main">
              <a:ext uri="{FF2B5EF4-FFF2-40B4-BE49-F238E27FC236}">
                <a16:creationId xmlns:a16="http://schemas.microsoft.com/office/drawing/2014/main" id="{1885E075-B360-4B6B-9F32-507F681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8617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10 分钟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C185046B-C21F-4BCD-A49A-073C0B7C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0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成长反思与后续计划">
            <a:extLst xmlns:a="http://schemas.openxmlformats.org/drawingml/2006/main">
              <a:ext uri="{FF2B5EF4-FFF2-40B4-BE49-F238E27FC236}">
                <a16:creationId xmlns:a16="http://schemas.microsoft.com/office/drawing/2014/main" id="{A9E75997-9827-463A-959F-D6FFEA2F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482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成长反思与后续计划</a:t>
            </a:r>
          </a:p>
        </p:txBody>
      </p:sp>
      <p:sp>
        <p:nvSpPr>
          <p:cNvPr id="15" name="2 分钟">
            <a:extLst xmlns:a="http://schemas.openxmlformats.org/drawingml/2006/main">
              <a:ext uri="{FF2B5EF4-FFF2-40B4-BE49-F238E27FC236}">
                <a16:creationId xmlns:a16="http://schemas.microsoft.com/office/drawing/2014/main" id="{CC883B2A-1D48-46B1-8BCB-6028437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2 分钟</a:t>
            </a:r>
          </a:p>
        </p:txBody>
      </p:sp>
      <p:sp>
        <p:nvSpPr>
          <p:cNvPr id="16" name="正文汇报约 20 分钟；技术细节放在备查页，支持 25 分钟交流">
            <a:extLst xmlns:a="http://schemas.openxmlformats.org/drawingml/2006/main">
              <a:ext uri="{FF2B5EF4-FFF2-40B4-BE49-F238E27FC236}">
                <a16:creationId xmlns:a16="http://schemas.microsoft.com/office/drawing/2014/main" id="{6C544264-9F08-4D5E-A7E4-FCD98247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正文汇报约 20 分钟；技术细节放在备查页，支持 25 分钟交流</a:t>
            </a:r>
          </a:p>
        </p:txBody>
      </p:sp>
    </p:spTree>
    <p:extLst>
      <p:ext uri="{BB962C8B-B14F-4D97-AF65-F5344CB8AC3E}">
        <p14:creationId xmlns:p14="http://schemas.microsoft.com/office/powerpoint/2010/main" val="239299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工作推进的四个阶段">
            <a:extLst xmlns:a="http://schemas.openxmlformats.org/drawingml/2006/main">
              <a:ext uri="{FF2B5EF4-FFF2-40B4-BE49-F238E27FC236}">
                <a16:creationId xmlns:a16="http://schemas.microsoft.com/office/drawing/2014/main" id="{BEC324CF-A6C9-4FF0-AD6D-08E5FE0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工作推进的四个阶段</a:t>
            </a:r>
          </a:p>
        </p:txBody>
      </p:sp>
      <p:sp>
        <p:nvSpPr>
          <p:cNvPr id="2" name="第1—10份周报">
            <a:extLst xmlns:a="http://schemas.openxmlformats.org/drawingml/2006/main">
              <a:ext uri="{FF2B5EF4-FFF2-40B4-BE49-F238E27FC236}">
                <a16:creationId xmlns:a16="http://schemas.microsoft.com/office/drawing/2014/main" id="{EBCC0CD0-4C5F-4095-A10B-A5ECC082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第1—10份周报</a:t>
            </a:r>
          </a:p>
        </p:txBody>
      </p:sp>
      <p:sp>
        <p:nvSpPr>
          <p:cNvPr id="3" name="04 / 24">
            <a:extLst xmlns:a="http://schemas.openxmlformats.org/drawingml/2006/main">
              <a:ext uri="{FF2B5EF4-FFF2-40B4-BE49-F238E27FC236}">
                <a16:creationId xmlns:a16="http://schemas.microsoft.com/office/drawing/2014/main" id="{F0BF2EF1-9199-42B5-B7A9-1ED4A1D6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04 / 24</a:t>
            </a:r>
          </a:p>
        </p:txBody>
      </p:sp>
      <p:sp>
        <p:nvSpPr>
          <p:cNvPr id="4" name="第1—2周">
            <a:extLst xmlns:a="http://schemas.openxmlformats.org/drawingml/2006/main">
              <a:ext uri="{FF2B5EF4-FFF2-40B4-BE49-F238E27FC236}">
                <a16:creationId xmlns:a16="http://schemas.microsoft.com/office/drawing/2014/main" id="{2743CAC1-274E-4A23-BFB4-94B567DE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第1—2周</a:t>
            </a:r>
          </a:p>
        </p:txBody>
      </p:sp>
      <p:sp>
        <p:nvSpPr>
          <p:cNvPr id="5" name="环境与业务入门">
            <a:extLst xmlns:a="http://schemas.openxmlformats.org/drawingml/2006/main">
              <a:ext uri="{FF2B5EF4-FFF2-40B4-BE49-F238E27FC236}">
                <a16:creationId xmlns:a16="http://schemas.microsoft.com/office/drawing/2014/main" id="{FBCC9E67-0FA7-4384-9EB0-992FC3D0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环境与业务入门</a:t>
            </a:r>
          </a:p>
        </p:txBody>
      </p:sp>
      <p:sp>
        <p:nvSpPr>
          <p:cNvPr id="6" name="完成环境与 Lab&#10;跑通提交与构建&#10;验证程序运行">
            <a:extLst xmlns:a="http://schemas.openxmlformats.org/drawingml/2006/main">
              <a:ext uri="{FF2B5EF4-FFF2-40B4-BE49-F238E27FC236}">
                <a16:creationId xmlns:a16="http://schemas.microsoft.com/office/drawing/2014/main" id="{95830329-6DAC-4FD0-91CA-99E3A02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完成环境与 Lab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跑通提交与构建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验证程序运行</a:t>
            </a:r>
          </a:p>
        </p:txBody>
      </p:sp>
      <p:sp>
        <p:nvSpPr>
          <p:cNvPr id="7" name="第3—5周">
            <a:extLst xmlns:a="http://schemas.openxmlformats.org/drawingml/2006/main">
              <a:ext uri="{FF2B5EF4-FFF2-40B4-BE49-F238E27FC236}">
                <a16:creationId xmlns:a16="http://schemas.microsoft.com/office/drawing/2014/main" id="{BD91D96C-6CEE-4DE8-8BF0-6E69F30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第3—5周</a:t>
            </a:r>
          </a:p>
        </p:txBody>
      </p:sp>
      <p:sp>
        <p:nvSpPr>
          <p:cNvPr id="8" name="问题修复&#10;需求调研">
            <a:extLst xmlns:a="http://schemas.openxmlformats.org/drawingml/2006/main">
              <a:ext uri="{FF2B5EF4-FFF2-40B4-BE49-F238E27FC236}">
                <a16:creationId xmlns:a16="http://schemas.microsoft.com/office/drawing/2014/main" id="{F236331D-2880-4800-B9F7-F6BA8E7E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问题修复</a:t>
            </a:r>
          </a:p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需求调研</a:t>
            </a:r>
          </a:p>
        </p:txBody>
      </p:sp>
      <p:sp>
        <p:nvSpPr>
          <p:cNvPr id="9" name="处理 Mapping 问题&#10;调研结构变换需求">
            <a:extLst xmlns:a="http://schemas.openxmlformats.org/drawingml/2006/main">
              <a:ext uri="{FF2B5EF4-FFF2-40B4-BE49-F238E27FC236}">
                <a16:creationId xmlns:a16="http://schemas.microsoft.com/office/drawing/2014/main" id="{18FCB7B2-D27A-4CC5-863F-A83B154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处理 Mapping 问题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调研结构变换需求</a:t>
            </a:r>
          </a:p>
        </p:txBody>
      </p:sp>
      <p:sp>
        <p:nvSpPr>
          <p:cNvPr id="10" name="第6—8周">
            <a:extLst xmlns:a="http://schemas.openxmlformats.org/drawingml/2006/main">
              <a:ext uri="{FF2B5EF4-FFF2-40B4-BE49-F238E27FC236}">
                <a16:creationId xmlns:a16="http://schemas.microsoft.com/office/drawing/2014/main" id="{57770EBE-91FF-467E-9342-5804C6A1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第6—8周</a:t>
            </a:r>
          </a:p>
        </p:txBody>
      </p:sp>
      <p:sp>
        <p:nvSpPr>
          <p:cNvPr id="11" name="方案与&#10;核心功能开发">
            <a:extLst xmlns:a="http://schemas.openxmlformats.org/drawingml/2006/main">
              <a:ext uri="{FF2B5EF4-FFF2-40B4-BE49-F238E27FC236}">
                <a16:creationId xmlns:a16="http://schemas.microsoft.com/office/drawing/2014/main" id="{198B3B09-695E-4CC4-B0E2-AE45B77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方案与</a:t>
            </a:r>
          </a:p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核心功能开发</a:t>
            </a:r>
          </a:p>
        </p:txBody>
      </p:sp>
      <p:sp>
        <p:nvSpPr>
          <p:cNvPr id="12" name="完成方案串讲&#10;开发核心逻辑&#10;验证同型 Cascode">
            <a:extLst xmlns:a="http://schemas.openxmlformats.org/drawingml/2006/main">
              <a:ext uri="{FF2B5EF4-FFF2-40B4-BE49-F238E27FC236}">
                <a16:creationId xmlns:a16="http://schemas.microsoft.com/office/drawing/2014/main" id="{04A80ACD-6386-4E0A-958F-524807CE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完成方案串讲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开发核心逻辑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验证同型 Cascode</a:t>
            </a:r>
          </a:p>
        </p:txBody>
      </p:sp>
      <p:sp>
        <p:nvSpPr>
          <p:cNvPr id="13" name="第9—10周">
            <a:extLst xmlns:a="http://schemas.openxmlformats.org/drawingml/2006/main">
              <a:ext uri="{FF2B5EF4-FFF2-40B4-BE49-F238E27FC236}">
                <a16:creationId xmlns:a16="http://schemas.microsoft.com/office/drawing/2014/main" id="{CF860D95-32C8-4699-A1AC-61DC0B6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第9—10周</a:t>
            </a:r>
          </a:p>
        </p:txBody>
      </p:sp>
      <p:sp>
        <p:nvSpPr>
          <p:cNvPr id="14" name="自动偏置&#10;真实环境联调">
            <a:extLst xmlns:a="http://schemas.openxmlformats.org/drawingml/2006/main">
              <a:ext uri="{FF2B5EF4-FFF2-40B4-BE49-F238E27FC236}">
                <a16:creationId xmlns:a16="http://schemas.microsoft.com/office/drawing/2014/main" id="{94E4B29A-54FC-48B5-B189-6309690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自动偏置</a:t>
            </a:r>
          </a:p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真实环境联调</a:t>
            </a:r>
          </a:p>
        </p:txBody>
      </p:sp>
      <p:sp>
        <p:nvSpPr>
          <p:cNvPr id="15" name="完善 PDK 扫描&#10;梳理 VBIAS 方案&#10;回读与异常联调">
            <a:extLst xmlns:a="http://schemas.openxmlformats.org/drawingml/2006/main">
              <a:ext uri="{FF2B5EF4-FFF2-40B4-BE49-F238E27FC236}">
                <a16:creationId xmlns:a16="http://schemas.microsoft.com/office/drawing/2014/main" id="{D6ED914B-6DE1-4D40-B01A-2FBFBA7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完善 PDK 扫描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梳理 VBIAS 方案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回读与异常联调</a:t>
            </a:r>
          </a:p>
        </p:txBody>
      </p:sp>
    </p:spTree>
    <p:extLst>
      <p:ext uri="{BB962C8B-B14F-4D97-AF65-F5344CB8AC3E}">
        <p14:creationId xmlns:p14="http://schemas.microsoft.com/office/powerpoint/2010/main" val="2143186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基础学习与上岗准备">
            <a:extLst xmlns:a="http://schemas.openxmlformats.org/drawingml/2006/main">
              <a:ext uri="{FF2B5EF4-FFF2-40B4-BE49-F238E27FC236}">
                <a16:creationId xmlns:a16="http://schemas.microsoft.com/office/drawing/2014/main" id="{1DAA7551-6DE0-4697-9763-F2F3D116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基础学习与上岗准备</a:t>
            </a:r>
          </a:p>
        </p:txBody>
      </p:sp>
      <p:sp>
        <p:nvSpPr>
          <p:cNvPr id="2" name="第1、2、6、7、10份周报">
            <a:extLst xmlns:a="http://schemas.openxmlformats.org/drawingml/2006/main">
              <a:ext uri="{FF2B5EF4-FFF2-40B4-BE49-F238E27FC236}">
                <a16:creationId xmlns:a16="http://schemas.microsoft.com/office/drawing/2014/main" id="{8DAEB5A7-8BCE-400F-A19F-716E52D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第1、2、6、7、10份周报</a:t>
            </a:r>
          </a:p>
        </p:txBody>
      </p:sp>
      <p:sp>
        <p:nvSpPr>
          <p:cNvPr id="3" name="05 / 24">
            <a:extLst xmlns:a="http://schemas.openxmlformats.org/drawingml/2006/main">
              <a:ext uri="{FF2B5EF4-FFF2-40B4-BE49-F238E27FC236}">
                <a16:creationId xmlns:a16="http://schemas.microsoft.com/office/drawing/2014/main" id="{5FE1E4B9-5A5E-4CFC-88C4-C46B59D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05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4C620-4534-4F14-A004-A5A1D4DD355E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38625"/>
                <a:gridCol w="4257675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学习事项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周报中的完成情况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对工作的支撑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新员工课程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第1周：11项考试、24项课程及讲座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了解规范、权限和日常工作要求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MAAU 虚拟 Lab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 Mapping、Sizing 实验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熟悉主要操作及电路仿真流程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软件能力认证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第6周记录：科目二通过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补充编程知识与工程规范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科目一、C++、模拟电路知识持续学习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结合具体任务补齐知识短板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649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围绕实际业务建立代码理解">
            <a:extLst xmlns:a="http://schemas.openxmlformats.org/drawingml/2006/main">
              <a:ext uri="{FF2B5EF4-FFF2-40B4-BE49-F238E27FC236}">
                <a16:creationId xmlns:a16="http://schemas.microsoft.com/office/drawing/2014/main" id="{E02F6C79-59B6-4602-BA42-99C4CD4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围绕实际业务建立代码理解</a:t>
            </a:r>
          </a:p>
        </p:txBody>
      </p:sp>
      <p:sp>
        <p:nvSpPr>
          <p:cNvPr id="2" name="第2—5份周报">
            <a:extLst xmlns:a="http://schemas.openxmlformats.org/drawingml/2006/main">
              <a:ext uri="{FF2B5EF4-FFF2-40B4-BE49-F238E27FC236}">
                <a16:creationId xmlns:a16="http://schemas.microsoft.com/office/drawing/2014/main" id="{13B6ADD8-AA01-40B2-A35E-BE738EE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第2—5份周报</a:t>
            </a:r>
          </a:p>
        </p:txBody>
      </p:sp>
      <p:sp>
        <p:nvSpPr>
          <p:cNvPr id="3" name="06 / 24">
            <a:extLst xmlns:a="http://schemas.openxmlformats.org/drawingml/2006/main">
              <a:ext uri="{FF2B5EF4-FFF2-40B4-BE49-F238E27FC236}">
                <a16:creationId xmlns:a16="http://schemas.microsoft.com/office/drawing/2014/main" id="{0094721D-D420-455D-A2B8-F05B870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06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4FF39-743C-40F1-BC6A-3B6561B781D5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476750"/>
                <a:gridCol w="4257675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学习与实践内容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形成的认识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Mapping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虚拟 Lab、调用链、目标电路与生成文件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界面配置需要正确传递到后续数据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Sizing / Opt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梳理调用及任务执行流程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理解任务启动与输入输出的关系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Design compiler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FloorPlan 加载与切换问题处理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关注状态切换和操作时序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jeme 参数调优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熟悉运行链路和报错排查脚本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沿实际执行路径定位问题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827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AU 问题处理覆盖多个操作场景">
            <a:extLst xmlns:a="http://schemas.openxmlformats.org/drawingml/2006/main">
              <a:ext uri="{FF2B5EF4-FFF2-40B4-BE49-F238E27FC236}">
                <a16:creationId xmlns:a16="http://schemas.microsoft.com/office/drawing/2014/main" id="{4333E5DC-0BAE-497C-AA2F-9400693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MAAU 问题处理覆盖多个操作场景</a:t>
            </a:r>
          </a:p>
        </p:txBody>
      </p:sp>
      <p:sp>
        <p:nvSpPr>
          <p:cNvPr id="2" name="第2—6份周报">
            <a:extLst xmlns:a="http://schemas.openxmlformats.org/drawingml/2006/main">
              <a:ext uri="{FF2B5EF4-FFF2-40B4-BE49-F238E27FC236}">
                <a16:creationId xmlns:a16="http://schemas.microsoft.com/office/drawing/2014/main" id="{31533F60-5B70-4155-94B2-930B39D4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第2—6份周报</a:t>
            </a:r>
          </a:p>
        </p:txBody>
      </p:sp>
      <p:sp>
        <p:nvSpPr>
          <p:cNvPr id="3" name="07 / 24">
            <a:extLst xmlns:a="http://schemas.openxmlformats.org/drawingml/2006/main">
              <a:ext uri="{FF2B5EF4-FFF2-40B4-BE49-F238E27FC236}">
                <a16:creationId xmlns:a16="http://schemas.microsoft.com/office/drawing/2014/main" id="{0051E9C3-3FED-4337-B732-15550D4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07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C643-3315-4A79-BACF-6F405ECAFFDA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476750"/>
                <a:gridCol w="278130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典型场景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主要处理内容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目标电路改名后 Mapping 失败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定位缺少对应 JSON 文件，修改并构建验证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第3周记录验证解决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StdCell 首次输入联想异常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修复首次输入无法得到预期联想结果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第4周记录修复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FloorPlan 未加载完成即操作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处理切换 tx/rx 或更新 cds Path 时弹窗失败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第4周记录修复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 reference lib / Generate Pin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处理多库 Mapping 及目标恢复、端口问题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第5—6周持续推进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问题单最终走单状态以系统记录为准；各编号与周报记录见备查页 25">
            <a:extLst xmlns:a="http://schemas.openxmlformats.org/drawingml/2006/main">
              <a:ext uri="{FF2B5EF4-FFF2-40B4-BE49-F238E27FC236}">
                <a16:creationId xmlns:a16="http://schemas.microsoft.com/office/drawing/2014/main" id="{25869B31-E7D7-4043-9FF5-BA260942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问题单最终走单状态以系统记录为准；各编号与周报记录见备查页 25</a:t>
            </a:r>
          </a:p>
        </p:txBody>
      </p:sp>
    </p:spTree>
    <p:extLst>
      <p:ext uri="{BB962C8B-B14F-4D97-AF65-F5344CB8AC3E}">
        <p14:creationId xmlns:p14="http://schemas.microsoft.com/office/powerpoint/2010/main" val="813483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典型案例：目标电路改名后 Mapping 失败">
            <a:extLst xmlns:a="http://schemas.openxmlformats.org/drawingml/2006/main">
              <a:ext uri="{FF2B5EF4-FFF2-40B4-BE49-F238E27FC236}">
                <a16:creationId xmlns:a16="http://schemas.microsoft.com/office/drawing/2014/main" id="{E0E13570-1790-4F9E-B867-7C0E155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典型案例：目标电路改名后 Mapping 失败</a:t>
            </a:r>
          </a:p>
        </p:txBody>
      </p:sp>
      <p:sp>
        <p:nvSpPr>
          <p:cNvPr id="2" name="第3份周报·问题定位与处理">
            <a:extLst xmlns:a="http://schemas.openxmlformats.org/drawingml/2006/main">
              <a:ext uri="{FF2B5EF4-FFF2-40B4-BE49-F238E27FC236}">
                <a16:creationId xmlns:a16="http://schemas.microsoft.com/office/drawing/2014/main" id="{7E258877-D926-437F-8970-76AE0EF8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第3份周报·问题定位与处理</a:t>
            </a:r>
          </a:p>
        </p:txBody>
      </p:sp>
      <p:sp>
        <p:nvSpPr>
          <p:cNvPr id="3" name="08 / 24">
            <a:extLst xmlns:a="http://schemas.openxmlformats.org/drawingml/2006/main">
              <a:ext uri="{FF2B5EF4-FFF2-40B4-BE49-F238E27FC236}">
                <a16:creationId xmlns:a16="http://schemas.microsoft.com/office/drawing/2014/main" id="{BC8B9525-179C-48B3-8F0C-21913CD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08 / 24</a:t>
            </a:r>
          </a:p>
        </p:txBody>
      </p:sp>
      <p:sp>
        <p:nvSpPr>
          <p:cNvPr id="4" name="DTS2026060270314">
            <a:extLst xmlns:a="http://schemas.openxmlformats.org/drawingml/2006/main">
              <a:ext uri="{FF2B5EF4-FFF2-40B4-BE49-F238E27FC236}">
                <a16:creationId xmlns:a16="http://schemas.microsoft.com/office/drawing/2014/main" id="{60BF75D2-22D0-4F4F-A8FA-5B277DA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DTS2026060270314</a:t>
            </a:r>
          </a:p>
        </p:txBody>
      </p:sp>
      <p:sp>
        <p:nvSpPr>
          <p:cNvPr id="5" name="问题现象与生成文件之间存在关联">
            <a:extLst xmlns:a="http://schemas.openxmlformats.org/drawingml/2006/main">
              <a:ext uri="{FF2B5EF4-FFF2-40B4-BE49-F238E27FC236}">
                <a16:creationId xmlns:a16="http://schemas.microsoft.com/office/drawing/2014/main" id="{42BB3A54-D471-4712-8EBD-A512CCF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问题现象与生成文件之间存在关联</a:t>
            </a:r>
          </a:p>
        </p:txBody>
      </p:sp>
      <p:sp>
        <p:nvSpPr>
          <p:cNvPr id="6" name="现象">
            <a:extLst xmlns:a="http://schemas.openxmlformats.org/drawingml/2006/main">
              <a:ext uri="{FF2B5EF4-FFF2-40B4-BE49-F238E27FC236}">
                <a16:creationId xmlns:a16="http://schemas.microsoft.com/office/drawing/2014/main" id="{62573547-F2F0-4B1D-9C7D-C92FB3F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336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现象</a:t>
            </a:r>
          </a:p>
        </p:txBody>
      </p:sp>
      <p:sp>
        <p:nvSpPr>
          <p:cNvPr id="7" name="未解析电路、修改目标名称后，Mapping 失败">
            <a:extLst xmlns:a="http://schemas.openxmlformats.org/drawingml/2006/main">
              <a:ext uri="{FF2B5EF4-FFF2-40B4-BE49-F238E27FC236}">
                <a16:creationId xmlns:a16="http://schemas.microsoft.com/office/drawing/2014/main" id="{DC3F4763-B43B-4705-8927-B2428BBF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33675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未解析电路、修改目标名称后，Mapping 失败</a:t>
            </a:r>
          </a:p>
        </p:txBody>
      </p:sp>
      <p:sp>
        <p:nvSpPr>
          <p:cNvPr id="8" name="定位">
            <a:extLst xmlns:a="http://schemas.openxmlformats.org/drawingml/2006/main">
              <a:ext uri="{FF2B5EF4-FFF2-40B4-BE49-F238E27FC236}">
                <a16:creationId xmlns:a16="http://schemas.microsoft.com/office/drawing/2014/main" id="{A6ED1862-A76F-4407-95EF-3E9BD0E7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定位</a:t>
            </a:r>
          </a:p>
        </p:txBody>
      </p:sp>
      <p:sp>
        <p:nvSpPr>
          <p:cNvPr id="9" name="确认缺少相应 JSON 文件">
            <a:extLst xmlns:a="http://schemas.openxmlformats.org/drawingml/2006/main">
              <a:ext uri="{FF2B5EF4-FFF2-40B4-BE49-F238E27FC236}">
                <a16:creationId xmlns:a16="http://schemas.microsoft.com/office/drawing/2014/main" id="{9B505F9C-94BA-44E1-AC38-F2FE5EC7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62325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确认缺少相应 JSON 文件</a:t>
            </a:r>
          </a:p>
        </p:txBody>
      </p:sp>
      <p:sp>
        <p:nvSpPr>
          <p:cNvPr id="10" name="处理">
            <a:extLst xmlns:a="http://schemas.openxmlformats.org/drawingml/2006/main">
              <a:ext uri="{FF2B5EF4-FFF2-40B4-BE49-F238E27FC236}">
                <a16:creationId xmlns:a16="http://schemas.microsoft.com/office/drawing/2014/main" id="{E7D8C539-65DC-4C22-A173-3FD78F8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909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处理</a:t>
            </a:r>
          </a:p>
        </p:txBody>
      </p:sp>
      <p:sp>
        <p:nvSpPr>
          <p:cNvPr id="11" name="修改相关代码，并完成编译构建">
            <a:extLst xmlns:a="http://schemas.openxmlformats.org/drawingml/2006/main">
              <a:ext uri="{FF2B5EF4-FFF2-40B4-BE49-F238E27FC236}">
                <a16:creationId xmlns:a16="http://schemas.microsoft.com/office/drawing/2014/main" id="{B0A507A2-AA8E-4D24-B834-FE36F351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90975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修改相关代码，并完成编译构建</a:t>
            </a:r>
          </a:p>
        </p:txBody>
      </p:sp>
      <p:sp>
        <p:nvSpPr>
          <p:cNvPr id="12" name="验证">
            <a:extLst xmlns:a="http://schemas.openxmlformats.org/drawingml/2006/main">
              <a:ext uri="{FF2B5EF4-FFF2-40B4-BE49-F238E27FC236}">
                <a16:creationId xmlns:a16="http://schemas.microsoft.com/office/drawing/2014/main" id="{16AB1124-4F24-4FF0-BA12-6C210BC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13" name="第3周周报记录：验证后问题解决">
            <a:extLst xmlns:a="http://schemas.openxmlformats.org/drawingml/2006/main">
              <a:ext uri="{FF2B5EF4-FFF2-40B4-BE49-F238E27FC236}">
                <a16:creationId xmlns:a16="http://schemas.microsoft.com/office/drawing/2014/main" id="{28B09272-FBA0-43C6-B8D9-F444483A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19625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第3周周报记录：验证后问题解决</a:t>
            </a:r>
          </a:p>
        </p:txBody>
      </p:sp>
      <p:sp>
        <p:nvSpPr>
          <p:cNvPr id="14" name="经验：先检查配置、生成文件和后续使用路径的对应关系">
            <a:extLst xmlns:a="http://schemas.openxmlformats.org/drawingml/2006/main">
              <a:ext uri="{FF2B5EF4-FFF2-40B4-BE49-F238E27FC236}">
                <a16:creationId xmlns:a16="http://schemas.microsoft.com/office/drawing/2014/main" id="{65F96EDF-1958-43BD-8148-9362BCF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734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经验：先检查配置、生成文件和后续使用路径的对应关系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494407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交互问题需要同时关注首次状态与操作时序">
            <a:extLst xmlns:a="http://schemas.openxmlformats.org/drawingml/2006/main">
              <a:ext uri="{FF2B5EF4-FFF2-40B4-BE49-F238E27FC236}">
                <a16:creationId xmlns:a16="http://schemas.microsoft.com/office/drawing/2014/main" id="{C3A64EDA-B4C0-4BB5-AAB3-40DBC2E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交互问题需要同时关注首次状态与操作时序</a:t>
            </a:r>
          </a:p>
        </p:txBody>
      </p:sp>
      <p:sp>
        <p:nvSpPr>
          <p:cNvPr id="2" name="第4份周报；“后续验证关注”为复盘建议">
            <a:extLst xmlns:a="http://schemas.openxmlformats.org/drawingml/2006/main">
              <a:ext uri="{FF2B5EF4-FFF2-40B4-BE49-F238E27FC236}">
                <a16:creationId xmlns:a16="http://schemas.microsoft.com/office/drawing/2014/main" id="{A03C8F1E-26FB-48B2-AE04-CF86CC4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第4份周报；“后续验证关注”为复盘建议</a:t>
            </a:r>
          </a:p>
        </p:txBody>
      </p:sp>
      <p:sp>
        <p:nvSpPr>
          <p:cNvPr id="3" name="09 / 24">
            <a:extLst xmlns:a="http://schemas.openxmlformats.org/drawingml/2006/main">
              <a:ext uri="{FF2B5EF4-FFF2-40B4-BE49-F238E27FC236}">
                <a16:creationId xmlns:a16="http://schemas.microsoft.com/office/drawing/2014/main" id="{78CF1304-F8D2-4EC7-B076-049B822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09 / 24</a:t>
            </a:r>
          </a:p>
        </p:txBody>
      </p:sp>
      <p:sp>
        <p:nvSpPr>
          <p:cNvPr id="4" name="StdCell 首次输入">
            <a:extLst xmlns:a="http://schemas.openxmlformats.org/drawingml/2006/main">
              <a:ext uri="{FF2B5EF4-FFF2-40B4-BE49-F238E27FC236}">
                <a16:creationId xmlns:a16="http://schemas.microsoft.com/office/drawing/2014/main" id="{365A862E-B2DB-43AC-A976-DA14710F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StdCell 首次输入</a:t>
            </a:r>
          </a:p>
        </p:txBody>
      </p:sp>
      <p:sp>
        <p:nvSpPr>
          <p:cNvPr id="5" name="FloorPlan 加载过程">
            <a:extLst xmlns:a="http://schemas.openxmlformats.org/drawingml/2006/main">
              <a:ext uri="{FF2B5EF4-FFF2-40B4-BE49-F238E27FC236}">
                <a16:creationId xmlns:a16="http://schemas.microsoft.com/office/drawing/2014/main" id="{251DDCA8-CF27-4921-8B71-B21E4706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FloorPlan 加载过程</a:t>
            </a:r>
          </a:p>
        </p:txBody>
      </p:sp>
      <p:sp>
        <p:nvSpPr>
          <p:cNvPr id="6" name="触发场景">
            <a:extLst xmlns:a="http://schemas.openxmlformats.org/drawingml/2006/main">
              <a:ext uri="{FF2B5EF4-FFF2-40B4-BE49-F238E27FC236}">
                <a16:creationId xmlns:a16="http://schemas.microsoft.com/office/drawing/2014/main" id="{25D99AF0-14A4-43E7-BFCF-E69736E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触发场景</a:t>
            </a:r>
          </a:p>
        </p:txBody>
      </p:sp>
      <p:sp>
        <p:nvSpPr>
          <p:cNvPr id="7" name="配置 Target StdCell 时首次输入字符串">
            <a:extLst xmlns:a="http://schemas.openxmlformats.org/drawingml/2006/main">
              <a:ext uri="{FF2B5EF4-FFF2-40B4-BE49-F238E27FC236}">
                <a16:creationId xmlns:a16="http://schemas.microsoft.com/office/drawing/2014/main" id="{212653F0-9349-4001-80CF-795AA33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配置 Target StdCell 时首次输入字符串</a:t>
            </a:r>
          </a:p>
        </p:txBody>
      </p:sp>
      <p:sp>
        <p:nvSpPr>
          <p:cNvPr id="8" name="处理内容">
            <a:extLst xmlns:a="http://schemas.openxmlformats.org/drawingml/2006/main">
              <a:ext uri="{FF2B5EF4-FFF2-40B4-BE49-F238E27FC236}">
                <a16:creationId xmlns:a16="http://schemas.microsoft.com/office/drawing/2014/main" id="{CDDFDC24-F45D-4299-97F2-88B7C1D6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处理内容</a:t>
            </a:r>
          </a:p>
        </p:txBody>
      </p:sp>
      <p:sp>
        <p:nvSpPr>
          <p:cNvPr id="9" name="修复不能联想预期结果的问题">
            <a:extLst xmlns:a="http://schemas.openxmlformats.org/drawingml/2006/main">
              <a:ext uri="{FF2B5EF4-FFF2-40B4-BE49-F238E27FC236}">
                <a16:creationId xmlns:a16="http://schemas.microsoft.com/office/drawing/2014/main" id="{210BA7C1-F278-45B4-BD5B-42605B97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修复不能联想预期结果的问题</a:t>
            </a:r>
          </a:p>
        </p:txBody>
      </p:sp>
      <p:sp>
        <p:nvSpPr>
          <p:cNvPr id="10" name="后续验证关注">
            <a:extLst xmlns:a="http://schemas.openxmlformats.org/drawingml/2006/main">
              <a:ext uri="{FF2B5EF4-FFF2-40B4-BE49-F238E27FC236}">
                <a16:creationId xmlns:a16="http://schemas.microsoft.com/office/drawing/2014/main" id="{94FE22E7-390A-41D1-AA1D-779264A3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后续验证关注</a:t>
            </a:r>
          </a:p>
        </p:txBody>
      </p:sp>
      <p:sp>
        <p:nvSpPr>
          <p:cNvPr id="11" name="首次输入、再次输入及目标切换">
            <a:extLst xmlns:a="http://schemas.openxmlformats.org/drawingml/2006/main">
              <a:ext uri="{FF2B5EF4-FFF2-40B4-BE49-F238E27FC236}">
                <a16:creationId xmlns:a16="http://schemas.microsoft.com/office/drawing/2014/main" id="{E8F53171-5EC3-4DC0-B01D-ABD1A298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首次输入、再次输入及目标切换</a:t>
            </a:r>
          </a:p>
        </p:txBody>
      </p:sp>
      <p:sp>
        <p:nvSpPr>
          <p:cNvPr id="12" name="触发场景">
            <a:extLst xmlns:a="http://schemas.openxmlformats.org/drawingml/2006/main">
              <a:ext uri="{FF2B5EF4-FFF2-40B4-BE49-F238E27FC236}">
                <a16:creationId xmlns:a16="http://schemas.microsoft.com/office/drawing/2014/main" id="{734BE0C5-AF15-4C8D-B577-9199F44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触发场景</a:t>
            </a:r>
          </a:p>
        </p:txBody>
      </p:sp>
      <p:sp>
        <p:nvSpPr>
          <p:cNvPr id="13" name="电路尚未 Loading 完成即继续操作">
            <a:extLst xmlns:a="http://schemas.openxmlformats.org/drawingml/2006/main">
              <a:ext uri="{FF2B5EF4-FFF2-40B4-BE49-F238E27FC236}">
                <a16:creationId xmlns:a16="http://schemas.microsoft.com/office/drawing/2014/main" id="{D4EDFA20-9500-491C-BEB4-6CF0B48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电路尚未 Loading 完成即继续操作</a:t>
            </a:r>
          </a:p>
        </p:txBody>
      </p:sp>
      <p:sp>
        <p:nvSpPr>
          <p:cNvPr id="14" name="处理内容">
            <a:extLst xmlns:a="http://schemas.openxmlformats.org/drawingml/2006/main">
              <a:ext uri="{FF2B5EF4-FFF2-40B4-BE49-F238E27FC236}">
                <a16:creationId xmlns:a16="http://schemas.microsoft.com/office/drawing/2014/main" id="{C242BD0B-67BD-4AD8-AD88-4F250231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处理内容</a:t>
            </a:r>
          </a:p>
        </p:txBody>
      </p:sp>
      <p:sp>
        <p:nvSpPr>
          <p:cNvPr id="15" name="处理切换 tx/rx 或更新 cds Path 后弹窗失败">
            <a:extLst xmlns:a="http://schemas.openxmlformats.org/drawingml/2006/main">
              <a:ext uri="{FF2B5EF4-FFF2-40B4-BE49-F238E27FC236}">
                <a16:creationId xmlns:a16="http://schemas.microsoft.com/office/drawing/2014/main" id="{ABDA26C1-A97F-4DDC-A85D-DDBD373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处理切换 tx/rx 或更新 cds Path 后弹窗失败</a:t>
            </a:r>
          </a:p>
        </p:txBody>
      </p:sp>
      <p:sp>
        <p:nvSpPr>
          <p:cNvPr id="16" name="后续验证关注">
            <a:extLst xmlns:a="http://schemas.openxmlformats.org/drawingml/2006/main">
              <a:ext uri="{FF2B5EF4-FFF2-40B4-BE49-F238E27FC236}">
                <a16:creationId xmlns:a16="http://schemas.microsoft.com/office/drawing/2014/main" id="{061659FE-64D8-447C-88E9-DECED88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后续验证关注</a:t>
            </a:r>
          </a:p>
        </p:txBody>
      </p:sp>
      <p:sp>
        <p:nvSpPr>
          <p:cNvPr id="17" name="加载中、加载完成和重复操作">
            <a:extLst xmlns:a="http://schemas.openxmlformats.org/drawingml/2006/main">
              <a:ext uri="{FF2B5EF4-FFF2-40B4-BE49-F238E27FC236}">
                <a16:creationId xmlns:a16="http://schemas.microsoft.com/office/drawing/2014/main" id="{2555EB79-AE2D-4991-8409-F1393E6C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加载中、加载完成和重复操作</a:t>
            </a:r>
          </a:p>
        </p:txBody>
      </p:sp>
    </p:spTree>
    <p:extLst>
      <p:ext uri="{BB962C8B-B14F-4D97-AF65-F5344CB8AC3E}">
        <p14:creationId xmlns:p14="http://schemas.microsoft.com/office/powerpoint/2010/main" val="26814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一次返工让我更重视修改的影响范围">
            <a:extLst xmlns:a="http://schemas.openxmlformats.org/drawingml/2006/main">
              <a:ext uri="{FF2B5EF4-FFF2-40B4-BE49-F238E27FC236}">
                <a16:creationId xmlns:a16="http://schemas.microsoft.com/office/drawing/2014/main" id="{61BAF822-56BE-4E1E-84E0-3ECAC2AA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一次返工让我更重视修改的影响范围</a:t>
            </a:r>
          </a:p>
        </p:txBody>
      </p:sp>
      <p:sp>
        <p:nvSpPr>
          <p:cNvPr id="2" name="第6份周报·本周小结">
            <a:extLst xmlns:a="http://schemas.openxmlformats.org/drawingml/2006/main">
              <a:ext uri="{FF2B5EF4-FFF2-40B4-BE49-F238E27FC236}">
                <a16:creationId xmlns:a16="http://schemas.microsoft.com/office/drawing/2014/main" id="{F990A170-98E4-4710-AA5B-6E713CCE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第6份周报·本周小结</a:t>
            </a:r>
          </a:p>
        </p:txBody>
      </p:sp>
      <p:sp>
        <p:nvSpPr>
          <p:cNvPr id="3" name="10 / 24">
            <a:extLst xmlns:a="http://schemas.openxmlformats.org/drawingml/2006/main">
              <a:ext uri="{FF2B5EF4-FFF2-40B4-BE49-F238E27FC236}">
                <a16:creationId xmlns:a16="http://schemas.microsoft.com/office/drawing/2014/main" id="{C0E79934-57A8-4583-BC4C-50194E68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10 / 24</a:t>
            </a:r>
          </a:p>
        </p:txBody>
      </p:sp>
      <p:sp>
        <p:nvSpPr>
          <p:cNvPr id="4" name="只修复眼前现象，可能把问题带到下游。">
            <a:extLst xmlns:a="http://schemas.openxmlformats.org/drawingml/2006/main">
              <a:ext uri="{FF2B5EF4-FFF2-40B4-BE49-F238E27FC236}">
                <a16:creationId xmlns:a16="http://schemas.microsoft.com/office/drawing/2014/main" id="{8BD20CE9-0123-4B94-8755-ACDCB09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108108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只修复眼前现象，可能把问题带到下游。</a:t>
            </a:r>
          </a:p>
        </p:txBody>
      </p:sp>
      <p:sp>
        <p:nvSpPr>
          <p:cNvPr id="5" name="第6周暴露的问题">
            <a:extLst xmlns:a="http://schemas.openxmlformats.org/drawingml/2006/main">
              <a:ext uri="{FF2B5EF4-FFF2-40B4-BE49-F238E27FC236}">
                <a16:creationId xmlns:a16="http://schemas.microsoft.com/office/drawing/2014/main" id="{DA07ED48-E296-4C6A-9033-F96C335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第6周暴露的问题</a:t>
            </a:r>
          </a:p>
        </p:txBody>
      </p:sp>
      <p:sp>
        <p:nvSpPr>
          <p:cNvPr id="6" name="后续采用的改进方向">
            <a:extLst xmlns:a="http://schemas.openxmlformats.org/drawingml/2006/main">
              <a:ext uri="{FF2B5EF4-FFF2-40B4-BE49-F238E27FC236}">
                <a16:creationId xmlns:a16="http://schemas.microsoft.com/office/drawing/2014/main" id="{173F9817-39C7-4B62-9098-B18F6B8F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91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后续采用的改进方向</a:t>
            </a:r>
          </a:p>
        </p:txBody>
      </p:sp>
      <p:sp>
        <p:nvSpPr>
          <p:cNvPr id="7" name="1  只围绕问题描述修改表面逻辑">
            <a:extLst xmlns:a="http://schemas.openxmlformats.org/drawingml/2006/main">
              <a:ext uri="{FF2B5EF4-FFF2-40B4-BE49-F238E27FC236}">
                <a16:creationId xmlns:a16="http://schemas.microsoft.com/office/drawing/2014/main" id="{11227975-2F91-4D2D-B566-AFEDCE9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4829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1  只围绕问题描述修改表面逻辑</a:t>
            </a:r>
          </a:p>
        </p:txBody>
      </p:sp>
      <p:sp>
        <p:nvSpPr>
          <p:cNvPr id="8" name="2  没有完整检查模块调用和上下游影响">
            <a:extLst xmlns:a="http://schemas.openxmlformats.org/drawingml/2006/main">
              <a:ext uri="{FF2B5EF4-FFF2-40B4-BE49-F238E27FC236}">
                <a16:creationId xmlns:a16="http://schemas.microsoft.com/office/drawing/2014/main" id="{BF03D0A7-1A17-46B8-96EA-17C2180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4829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2  没有完整检查模块调用和上下游影响</a:t>
            </a:r>
          </a:p>
        </p:txBody>
      </p:sp>
      <p:sp>
        <p:nvSpPr>
          <p:cNvPr id="9" name="3  修改后引入了新问题">
            <a:extLst xmlns:a="http://schemas.openxmlformats.org/drawingml/2006/main">
              <a:ext uri="{FF2B5EF4-FFF2-40B4-BE49-F238E27FC236}">
                <a16:creationId xmlns:a16="http://schemas.microsoft.com/office/drawing/2014/main" id="{BA9C4AA5-0477-4589-A8CC-319355D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4829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3  修改后引入了新问题</a:t>
            </a:r>
          </a:p>
        </p:txBody>
      </p:sp>
      <p:sp>
        <p:nvSpPr>
          <p:cNvPr id="10" name="1  修改前先梳理调用与数据流转">
            <a:extLst xmlns:a="http://schemas.openxmlformats.org/drawingml/2006/main">
              <a:ext uri="{FF2B5EF4-FFF2-40B4-BE49-F238E27FC236}">
                <a16:creationId xmlns:a16="http://schemas.microsoft.com/office/drawing/2014/main" id="{F4C9D165-26DE-45EE-836A-C35FD22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1  修改前先梳理调用与数据流转</a:t>
            </a:r>
          </a:p>
        </p:txBody>
      </p:sp>
      <p:sp>
        <p:nvSpPr>
          <p:cNvPr id="11" name="2  与原模块开发者确认设计意图">
            <a:extLst xmlns:a="http://schemas.openxmlformats.org/drawingml/2006/main">
              <a:ext uri="{FF2B5EF4-FFF2-40B4-BE49-F238E27FC236}">
                <a16:creationId xmlns:a16="http://schemas.microsoft.com/office/drawing/2014/main" id="{3BBAF0A6-B109-474B-B4DB-0E13458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2  与原模块开发者确认设计意图</a:t>
            </a:r>
          </a:p>
        </p:txBody>
      </p:sp>
      <p:sp>
        <p:nvSpPr>
          <p:cNvPr id="12" name="3  把相邻场景和异常路径纳入验证">
            <a:extLst xmlns:a="http://schemas.openxmlformats.org/drawingml/2006/main">
              <a:ext uri="{FF2B5EF4-FFF2-40B4-BE49-F238E27FC236}">
                <a16:creationId xmlns:a16="http://schemas.microsoft.com/office/drawing/2014/main" id="{D17E70CB-F9BA-4E46-8F41-C0071D98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3  把相邻场景和异常路径纳入验证</a:t>
            </a:r>
          </a:p>
        </p:txBody>
      </p:sp>
    </p:spTree>
    <p:extLst>
      <p:ext uri="{BB962C8B-B14F-4D97-AF65-F5344CB8AC3E}">
        <p14:creationId xmlns:p14="http://schemas.microsoft.com/office/powerpoint/2010/main" val="1082900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DO 结构变换需求">
            <a:extLst xmlns:a="http://schemas.openxmlformats.org/drawingml/2006/main">
              <a:ext uri="{FF2B5EF4-FFF2-40B4-BE49-F238E27FC236}">
                <a16:creationId xmlns:a16="http://schemas.microsoft.com/office/drawing/2014/main" id="{18007B13-B9C9-4374-AFFF-AF828037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LDO 结构变换需求</a:t>
            </a:r>
          </a:p>
        </p:txBody>
      </p:sp>
      <p:sp>
        <p:nvSpPr>
          <p:cNvPr id="2" name="第6—10份周报">
            <a:extLst xmlns:a="http://schemas.openxmlformats.org/drawingml/2006/main">
              <a:ext uri="{FF2B5EF4-FFF2-40B4-BE49-F238E27FC236}">
                <a16:creationId xmlns:a16="http://schemas.microsoft.com/office/drawing/2014/main" id="{0C9CD969-8057-498A-BB08-2F48AC6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第6—10份周报</a:t>
            </a:r>
          </a:p>
        </p:txBody>
      </p:sp>
      <p:sp>
        <p:nvSpPr>
          <p:cNvPr id="3" name="11 / 24">
            <a:extLst xmlns:a="http://schemas.openxmlformats.org/drawingml/2006/main">
              <a:ext uri="{FF2B5EF4-FFF2-40B4-BE49-F238E27FC236}">
                <a16:creationId xmlns:a16="http://schemas.microsoft.com/office/drawing/2014/main" id="{FDB48794-9732-4A77-88DA-D90D0E6A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11 / 24</a:t>
            </a:r>
          </a:p>
        </p:txBody>
      </p:sp>
      <p:sp>
        <p:nvSpPr>
          <p:cNvPr id="4" name="围绕既有电路，生成可检查的结构变体">
            <a:extLst xmlns:a="http://schemas.openxmlformats.org/drawingml/2006/main">
              <a:ext uri="{FF2B5EF4-FFF2-40B4-BE49-F238E27FC236}">
                <a16:creationId xmlns:a16="http://schemas.microsoft.com/office/drawing/2014/main" id="{582CEE92-5D87-410B-A4FD-045EA185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围绕既有电路，生成可检查的结构变体</a:t>
            </a:r>
          </a:p>
        </p:txBody>
      </p:sp>
      <p:sp>
        <p:nvSpPr>
          <p:cNvPr id="5" name="输入">
            <a:extLst xmlns:a="http://schemas.openxmlformats.org/drawingml/2006/main">
              <a:ext uri="{FF2B5EF4-FFF2-40B4-BE49-F238E27FC236}">
                <a16:creationId xmlns:a16="http://schemas.microsoft.com/office/drawing/2014/main" id="{5DF05652-C9A9-407C-834D-03E8CDD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真实 Virtuoso 电路、器件及当前 PDK 信息">
            <a:extLst xmlns:a="http://schemas.openxmlformats.org/drawingml/2006/main">
              <a:ext uri="{FF2B5EF4-FFF2-40B4-BE49-F238E27FC236}">
                <a16:creationId xmlns:a16="http://schemas.microsoft.com/office/drawing/2014/main" id="{CD9487B0-2A92-4DA9-8B50-905EA569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真实 Virtuoso 电路、器件及当前 PDK 信息</a:t>
            </a:r>
          </a:p>
        </p:txBody>
      </p:sp>
      <p:sp>
        <p:nvSpPr>
          <p:cNvPr id="7" name="操作">
            <a:extLst xmlns:a="http://schemas.openxmlformats.org/drawingml/2006/main">
              <a:ext uri="{FF2B5EF4-FFF2-40B4-BE49-F238E27FC236}">
                <a16:creationId xmlns:a16="http://schemas.microsoft.com/office/drawing/2014/main" id="{B3018426-270A-4F78-AD20-25E617D9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操作</a:t>
            </a:r>
          </a:p>
        </p:txBody>
      </p:sp>
      <p:sp>
        <p:nvSpPr>
          <p:cNvPr id="8" name="选择 MOS、执行结构变换、连续修改、撤销与恢复">
            <a:extLst xmlns:a="http://schemas.openxmlformats.org/drawingml/2006/main">
              <a:ext uri="{FF2B5EF4-FFF2-40B4-BE49-F238E27FC236}">
                <a16:creationId xmlns:a16="http://schemas.microsoft.com/office/drawing/2014/main" id="{806E6433-38C5-4D86-9FB2-1E412A6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2427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选择 MOS、执行结构变换、连续修改、撤销与恢复</a:t>
            </a:r>
          </a:p>
        </p:txBody>
      </p:sp>
      <p:sp>
        <p:nvSpPr>
          <p:cNvPr id="9" name="输出">
            <a:extLst xmlns:a="http://schemas.openxmlformats.org/drawingml/2006/main">
              <a:ext uri="{FF2B5EF4-FFF2-40B4-BE49-F238E27FC236}">
                <a16:creationId xmlns:a16="http://schemas.microsoft.com/office/drawing/2014/main" id="{A1FF6E8C-AD7F-4062-90A4-A6E8FB2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输出</a:t>
            </a:r>
          </a:p>
        </p:txBody>
      </p:sp>
      <p:sp>
        <p:nvSpPr>
          <p:cNvPr id="10" name="派生电路、功能封装及可核对的网表和参数">
            <a:extLst xmlns:a="http://schemas.openxmlformats.org/drawingml/2006/main">
              <a:ext uri="{FF2B5EF4-FFF2-40B4-BE49-F238E27FC236}">
                <a16:creationId xmlns:a16="http://schemas.microsoft.com/office/drawing/2014/main" id="{5167B698-F09A-4CEC-B682-AE95DE5C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339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派生电路、功能封装及可核对的网表和参数</a:t>
            </a:r>
          </a:p>
        </p:txBody>
      </p:sp>
      <p:sp>
        <p:nvSpPr>
          <p:cNvPr id="11" name="下一步目标：在结果校验基础上接入 LDO 调优流程">
            <a:extLst xmlns:a="http://schemas.openxmlformats.org/drawingml/2006/main">
              <a:ext uri="{FF2B5EF4-FFF2-40B4-BE49-F238E27FC236}">
                <a16:creationId xmlns:a16="http://schemas.microsoft.com/office/drawing/2014/main" id="{354C862B-EE73-4BE6-AB55-E2839C0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0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下一步目标：在结果校验基础上接入 LDO 调优流程</a:t>
            </a:r>
          </a:p>
        </p:txBody>
      </p:sp>
    </p:spTree>
    <p:extLst>
      <p:ext uri="{BB962C8B-B14F-4D97-AF65-F5344CB8AC3E}">
        <p14:creationId xmlns:p14="http://schemas.microsoft.com/office/powerpoint/2010/main" val="783736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类结构变换的当前规则">
            <a:extLst xmlns:a="http://schemas.openxmlformats.org/drawingml/2006/main">
              <a:ext uri="{FF2B5EF4-FFF2-40B4-BE49-F238E27FC236}">
                <a16:creationId xmlns:a16="http://schemas.microsoft.com/office/drawing/2014/main" id="{3B4A3F36-EFB5-4B9C-83E0-2BFB3CB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四类结构变换的当前规则</a:t>
            </a:r>
          </a:p>
        </p:txBody>
      </p:sp>
      <p:sp>
        <p:nvSpPr>
          <p:cNvPr id="2" name="第9—10份周报及原始照片">
            <a:extLst xmlns:a="http://schemas.openxmlformats.org/drawingml/2006/main">
              <a:ext uri="{FF2B5EF4-FFF2-40B4-BE49-F238E27FC236}">
                <a16:creationId xmlns:a16="http://schemas.microsoft.com/office/drawing/2014/main" id="{7500948F-EF36-432E-8E5B-B8A1CD83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第9—10份周报及原始照片</a:t>
            </a:r>
          </a:p>
        </p:txBody>
      </p:sp>
      <p:sp>
        <p:nvSpPr>
          <p:cNvPr id="3" name="12 / 24">
            <a:extLst xmlns:a="http://schemas.openxmlformats.org/drawingml/2006/main">
              <a:ext uri="{FF2B5EF4-FFF2-40B4-BE49-F238E27FC236}">
                <a16:creationId xmlns:a16="http://schemas.microsoft.com/office/drawing/2014/main" id="{BC36BD78-8AEE-4FFE-A860-E416F032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12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581F-AE67-4A24-8639-A8678C81C647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143500"/>
                <a:gridCol w="306705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变换类型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同型 Cascode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新增相同型号、相同极性的 MOS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连接规则与独立偏置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异型 Cascode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新增同极性、不同型号的 MOS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合法器件候选与组合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MOS 串联电阻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保留原 MOS，在 Source 路径串联电阻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真实电阻与阻值约束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多级 MOS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各级共用原 Gate，继承参数及 Bulk 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参数保留与多级连接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采用第9—10份周报的有效规则；早期“替换电阻”表述已澄清">
            <a:extLst xmlns:a="http://schemas.openxmlformats.org/drawingml/2006/main">
              <a:ext uri="{FF2B5EF4-FFF2-40B4-BE49-F238E27FC236}">
                <a16:creationId xmlns:a16="http://schemas.microsoft.com/office/drawing/2014/main" id="{60046F88-C179-4F03-95DD-A8F1501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采用第9—10份周报的有效规则；早期“替换电阻”表述已澄清</a:t>
            </a:r>
          </a:p>
        </p:txBody>
      </p:sp>
    </p:spTree>
    <p:extLst>
      <p:ext uri="{BB962C8B-B14F-4D97-AF65-F5344CB8AC3E}">
        <p14:creationId xmlns:p14="http://schemas.microsoft.com/office/powerpoint/2010/main" val="1128337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我的工作覆盖需求、实现与联调">
            <a:extLst xmlns:a="http://schemas.openxmlformats.org/drawingml/2006/main">
              <a:ext uri="{FF2B5EF4-FFF2-40B4-BE49-F238E27FC236}">
                <a16:creationId xmlns:a16="http://schemas.microsoft.com/office/drawing/2014/main" id="{A97210E3-0ED8-4521-9008-E2853B93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我的工作覆盖需求、实现与联调</a:t>
            </a:r>
          </a:p>
        </p:txBody>
      </p:sp>
      <p:sp>
        <p:nvSpPr>
          <p:cNvPr id="2" name="第5—10份周报">
            <a:extLst xmlns:a="http://schemas.openxmlformats.org/drawingml/2006/main">
              <a:ext uri="{FF2B5EF4-FFF2-40B4-BE49-F238E27FC236}">
                <a16:creationId xmlns:a16="http://schemas.microsoft.com/office/drawing/2014/main" id="{448D8E0F-5885-41A5-A709-7CF5065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第5—10份周报</a:t>
            </a:r>
          </a:p>
        </p:txBody>
      </p:sp>
      <p:sp>
        <p:nvSpPr>
          <p:cNvPr id="3" name="13 / 24">
            <a:extLst xmlns:a="http://schemas.openxmlformats.org/drawingml/2006/main">
              <a:ext uri="{FF2B5EF4-FFF2-40B4-BE49-F238E27FC236}">
                <a16:creationId xmlns:a16="http://schemas.microsoft.com/office/drawing/2014/main" id="{AF5F748D-FE7A-4650-931C-4C9A4A68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13 / 24</a:t>
            </a:r>
          </a:p>
        </p:txBody>
      </p:sp>
      <p:sp>
        <p:nvSpPr>
          <p:cNvPr id="4" name="需求澄清">
            <a:extLst xmlns:a="http://schemas.openxmlformats.org/drawingml/2006/main">
              <a:ext uri="{FF2B5EF4-FFF2-40B4-BE49-F238E27FC236}">
                <a16:creationId xmlns:a16="http://schemas.microsoft.com/office/drawing/2014/main" id="{8DEEBD0C-42C9-4F13-86E6-597343A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需求澄清</a:t>
            </a:r>
          </a:p>
        </p:txBody>
      </p:sp>
      <p:sp>
        <p:nvSpPr>
          <p:cNvPr id="5" name="明确规则">
            <a:extLst xmlns:a="http://schemas.openxmlformats.org/drawingml/2006/main">
              <a:ext uri="{FF2B5EF4-FFF2-40B4-BE49-F238E27FC236}">
                <a16:creationId xmlns:a16="http://schemas.microsoft.com/office/drawing/2014/main" id="{7CDC05E0-F06D-4531-8B43-285AA19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明确规则</a:t>
            </a:r>
          </a:p>
        </p:txBody>
      </p:sp>
      <p:sp>
        <p:nvSpPr>
          <p:cNvPr id="6" name="变换与器件选择&#10;参数与 Bias 规则&#10;操作流程">
            <a:extLst xmlns:a="http://schemas.openxmlformats.org/drawingml/2006/main">
              <a:ext uri="{FF2B5EF4-FFF2-40B4-BE49-F238E27FC236}">
                <a16:creationId xmlns:a16="http://schemas.microsoft.com/office/drawing/2014/main" id="{041FF61F-74CE-41F3-9A78-83BC884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变换与器件选择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参数与 Bias 规则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操作流程</a:t>
            </a:r>
          </a:p>
        </p:txBody>
      </p:sp>
      <p:sp>
        <p:nvSpPr>
          <p:cNvPr id="7" name="代码开发">
            <a:extLst xmlns:a="http://schemas.openxmlformats.org/drawingml/2006/main">
              <a:ext uri="{FF2B5EF4-FFF2-40B4-BE49-F238E27FC236}">
                <a16:creationId xmlns:a16="http://schemas.microsoft.com/office/drawing/2014/main" id="{9638CB8D-8D74-469B-BC73-81E219E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代码开发</a:t>
            </a:r>
          </a:p>
        </p:txBody>
      </p:sp>
      <p:sp>
        <p:nvSpPr>
          <p:cNvPr id="8" name="实现功能">
            <a:extLst xmlns:a="http://schemas.openxmlformats.org/drawingml/2006/main">
              <a:ext uri="{FF2B5EF4-FFF2-40B4-BE49-F238E27FC236}">
                <a16:creationId xmlns:a16="http://schemas.microsoft.com/office/drawing/2014/main" id="{C3CCB7F8-8307-4928-8C97-53907F5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实现功能</a:t>
            </a:r>
          </a:p>
        </p:txBody>
      </p:sp>
      <p:sp>
        <p:nvSpPr>
          <p:cNvPr id="9" name="核心变换与封装&#10;PDK 扫描&#10;异常处理">
            <a:extLst xmlns:a="http://schemas.openxmlformats.org/drawingml/2006/main">
              <a:ext uri="{FF2B5EF4-FFF2-40B4-BE49-F238E27FC236}">
                <a16:creationId xmlns:a16="http://schemas.microsoft.com/office/drawing/2014/main" id="{5A8263B9-FDDA-4B05-801C-5929D058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核心变换与封装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PDK 扫描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异常处理</a:t>
            </a:r>
          </a:p>
        </p:txBody>
      </p:sp>
      <p:sp>
        <p:nvSpPr>
          <p:cNvPr id="10" name="工具接入">
            <a:extLst xmlns:a="http://schemas.openxmlformats.org/drawingml/2006/main">
              <a:ext uri="{FF2B5EF4-FFF2-40B4-BE49-F238E27FC236}">
                <a16:creationId xmlns:a16="http://schemas.microsoft.com/office/drawing/2014/main" id="{5074634E-1100-49F6-908B-1FCF336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工具接入</a:t>
            </a:r>
          </a:p>
        </p:txBody>
      </p:sp>
      <p:sp>
        <p:nvSpPr>
          <p:cNvPr id="11" name="接入工具">
            <a:extLst xmlns:a="http://schemas.openxmlformats.org/drawingml/2006/main">
              <a:ext uri="{FF2B5EF4-FFF2-40B4-BE49-F238E27FC236}">
                <a16:creationId xmlns:a16="http://schemas.microsoft.com/office/drawing/2014/main" id="{2458AF35-7607-406E-96F7-6486793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接入工具</a:t>
            </a:r>
          </a:p>
        </p:txBody>
      </p:sp>
      <p:sp>
        <p:nvSpPr>
          <p:cNvPr id="12" name="Cadence / SKILL&#10;真实器件目录&#10;端子与 CDF">
            <a:extLst xmlns:a="http://schemas.openxmlformats.org/drawingml/2006/main">
              <a:ext uri="{FF2B5EF4-FFF2-40B4-BE49-F238E27FC236}">
                <a16:creationId xmlns:a16="http://schemas.microsoft.com/office/drawing/2014/main" id="{6EC193EF-03B8-4499-AB83-08BA57A8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Cadence / SKILL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真实器件目录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端子与 CDF</a:t>
            </a:r>
          </a:p>
        </p:txBody>
      </p:sp>
      <p:sp>
        <p:nvSpPr>
          <p:cNvPr id="13" name="结果核对">
            <a:extLst xmlns:a="http://schemas.openxmlformats.org/drawingml/2006/main">
              <a:ext uri="{FF2B5EF4-FFF2-40B4-BE49-F238E27FC236}">
                <a16:creationId xmlns:a16="http://schemas.microsoft.com/office/drawing/2014/main" id="{14C2481C-082E-465C-B1FF-32769D8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结果核对</a:t>
            </a:r>
          </a:p>
        </p:txBody>
      </p:sp>
      <p:sp>
        <p:nvSpPr>
          <p:cNvPr id="14" name="核对结果">
            <a:extLst xmlns:a="http://schemas.openxmlformats.org/drawingml/2006/main">
              <a:ext uri="{FF2B5EF4-FFF2-40B4-BE49-F238E27FC236}">
                <a16:creationId xmlns:a16="http://schemas.microsoft.com/office/drawing/2014/main" id="{03E30CC1-CCF3-4482-B225-05B3A70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447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核对结果</a:t>
            </a:r>
          </a:p>
        </p:txBody>
      </p:sp>
      <p:sp>
        <p:nvSpPr>
          <p:cNvPr id="15" name="源电路保护&#10;网表与参数回读&#10;失败回退">
            <a:extLst xmlns:a="http://schemas.openxmlformats.org/drawingml/2006/main">
              <a:ext uri="{FF2B5EF4-FFF2-40B4-BE49-F238E27FC236}">
                <a16:creationId xmlns:a16="http://schemas.microsoft.com/office/drawing/2014/main" id="{524EF265-27D8-4D22-8374-3B01945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362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源电路保护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网表与参数回读</a:t>
            </a:r>
          </a:p>
          <a:p xmlns:a="http://schemas.openxmlformats.org/drawingml/2006/main">
            <a:pPr algn="l">
              <a:def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失败回退</a:t>
            </a:r>
          </a:p>
        </p:txBody>
      </p:sp>
    </p:spTree>
    <p:extLst>
      <p:ext uri="{BB962C8B-B14F-4D97-AF65-F5344CB8AC3E}">
        <p14:creationId xmlns:p14="http://schemas.microsoft.com/office/powerpoint/2010/main" val="1534968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真实电路读取已取得明确结果">
            <a:extLst xmlns:a="http://schemas.openxmlformats.org/drawingml/2006/main">
              <a:ext uri="{FF2B5EF4-FFF2-40B4-BE49-F238E27FC236}">
                <a16:creationId xmlns:a16="http://schemas.microsoft.com/office/drawing/2014/main" id="{A9762C5B-6937-48A1-A856-A1B0D11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真实电路读取已取得明确结果</a:t>
            </a:r>
          </a:p>
        </p:txBody>
      </p:sp>
      <p:sp>
        <p:nvSpPr>
          <p:cNvPr id="2" name="第8份周报·Virtuoso接入与真实电路验证；照片023—033">
            <a:extLst xmlns:a="http://schemas.openxmlformats.org/drawingml/2006/main">
              <a:ext uri="{FF2B5EF4-FFF2-40B4-BE49-F238E27FC236}">
                <a16:creationId xmlns:a16="http://schemas.microsoft.com/office/drawing/2014/main" id="{47E8FD31-876F-4072-8B5C-1CD35471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第8份周报·Virtuoso接入与真实电路验证；照片023—033</a:t>
            </a:r>
          </a:p>
        </p:txBody>
      </p:sp>
      <p:sp>
        <p:nvSpPr>
          <p:cNvPr id="3" name="14 / 24">
            <a:extLst xmlns:a="http://schemas.openxmlformats.org/drawingml/2006/main">
              <a:ext uri="{FF2B5EF4-FFF2-40B4-BE49-F238E27FC236}">
                <a16:creationId xmlns:a16="http://schemas.microsoft.com/office/drawing/2014/main" id="{D9894A45-75CD-419F-BEB5-17E2729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14 / 24</a:t>
            </a:r>
          </a:p>
        </p:txBody>
      </p:sp>
      <p:sp>
        <p:nvSpPr>
          <p:cNvPr id="4" name="59">
            <a:extLst xmlns:a="http://schemas.openxmlformats.org/drawingml/2006/main">
              <a:ext uri="{FF2B5EF4-FFF2-40B4-BE49-F238E27FC236}">
                <a16:creationId xmlns:a16="http://schemas.microsoft.com/office/drawing/2014/main" id="{2B97EABC-8B33-40BF-823D-9C3AB46E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67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8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59</a:t>
            </a:r>
          </a:p>
        </p:txBody>
      </p:sp>
      <p:sp>
        <p:nvSpPr>
          <p:cNvPr id="5" name="个当前层可处理 MOS">
            <a:extLst xmlns:a="http://schemas.openxmlformats.org/drawingml/2006/main">
              <a:ext uri="{FF2B5EF4-FFF2-40B4-BE49-F238E27FC236}">
                <a16:creationId xmlns:a16="http://schemas.microsoft.com/office/drawing/2014/main" id="{95C16909-681E-4DAF-87C2-F8951FEC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个当前层可处理 MOS</a:t>
            </a:r>
          </a:p>
        </p:txBody>
      </p:sp>
      <p:sp>
        <p:nvSpPr>
          <p:cNvPr id="6" name="Capless LDO 核心电路">
            <a:extLst xmlns:a="http://schemas.openxmlformats.org/drawingml/2006/main">
              <a:ext uri="{FF2B5EF4-FFF2-40B4-BE49-F238E27FC236}">
                <a16:creationId xmlns:a16="http://schemas.microsoft.com/office/drawing/2014/main" id="{C221B4E9-9064-47F7-A4A6-65926B50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4029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Capless LDO 核心电路</a:t>
            </a:r>
          </a:p>
        </p:txBody>
      </p:sp>
      <p:sp>
        <p:nvSpPr>
          <p:cNvPr id="7" name="读取对象">
            <a:extLst xmlns:a="http://schemas.openxmlformats.org/drawingml/2006/main">
              <a:ext uri="{FF2B5EF4-FFF2-40B4-BE49-F238E27FC236}">
                <a16:creationId xmlns:a16="http://schemas.microsoft.com/office/drawing/2014/main" id="{486CCBEB-B0A0-4A68-A9EB-29403C1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621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读取对象</a:t>
            </a:r>
          </a:p>
        </p:txBody>
      </p:sp>
      <p:sp>
        <p:nvSpPr>
          <p:cNvPr id="8" name="ocldo18to12_200ma_core">
            <a:extLst xmlns:a="http://schemas.openxmlformats.org/drawingml/2006/main">
              <a:ext uri="{FF2B5EF4-FFF2-40B4-BE49-F238E27FC236}">
                <a16:creationId xmlns:a16="http://schemas.microsoft.com/office/drawing/2014/main" id="{71D7A07A-EEC8-41AC-A47B-6DCB545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ocldo18to12_200ma_core</a:t>
            </a:r>
          </a:p>
        </p:txBody>
      </p:sp>
      <p:sp>
        <p:nvSpPr>
          <p:cNvPr id="9" name="获取信息">
            <a:extLst xmlns:a="http://schemas.openxmlformats.org/drawingml/2006/main">
              <a:ext uri="{FF2B5EF4-FFF2-40B4-BE49-F238E27FC236}">
                <a16:creationId xmlns:a16="http://schemas.microsoft.com/office/drawing/2014/main" id="{EC74AB5D-1817-4D63-BE2F-FE73186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获取信息</a:t>
            </a:r>
          </a:p>
        </p:txBody>
      </p:sp>
      <p:sp>
        <p:nvSpPr>
          <p:cNvPr id="10" name="真实 D / G / S / B 连接与 PDK master">
            <a:extLst xmlns:a="http://schemas.openxmlformats.org/drawingml/2006/main">
              <a:ext uri="{FF2B5EF4-FFF2-40B4-BE49-F238E27FC236}">
                <a16:creationId xmlns:a16="http://schemas.microsoft.com/office/drawing/2014/main" id="{D7E10505-CB14-45F4-8CEE-85EC9D2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813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真实 D / G / S / B 连接与 PDK master</a:t>
            </a:r>
          </a:p>
        </p:txBody>
      </p:sp>
      <p:sp>
        <p:nvSpPr>
          <p:cNvPr id="11" name="辅助信息">
            <a:extLst xmlns:a="http://schemas.openxmlformats.org/drawingml/2006/main">
              <a:ext uri="{FF2B5EF4-FFF2-40B4-BE49-F238E27FC236}">
                <a16:creationId xmlns:a16="http://schemas.microsoft.com/office/drawing/2014/main" id="{E4E0786C-0522-46DF-9F0B-65B1046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814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辅助信息</a:t>
            </a:r>
          </a:p>
        </p:txBody>
      </p:sp>
      <p:sp>
        <p:nvSpPr>
          <p:cNvPr id="12" name="核心网表、器件目录、器件坐标与 MOS 清单">
            <a:extLst xmlns:a="http://schemas.openxmlformats.org/drawingml/2006/main">
              <a:ext uri="{FF2B5EF4-FFF2-40B4-BE49-F238E27FC236}">
                <a16:creationId xmlns:a16="http://schemas.microsoft.com/office/drawing/2014/main" id="{9A746940-D0B8-4252-B6A1-BE214CC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910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核心网表、器件目录、器件坐标与 MOS 清单</a:t>
            </a:r>
          </a:p>
        </p:txBody>
      </p:sp>
      <p:sp>
        <p:nvSpPr>
          <p:cNvPr id="13" name="记录范围：第8周的一例核心电路；数量不代表逐器件变换验证">
            <a:extLst xmlns:a="http://schemas.openxmlformats.org/drawingml/2006/main">
              <a:ext uri="{FF2B5EF4-FFF2-40B4-BE49-F238E27FC236}">
                <a16:creationId xmlns:a16="http://schemas.microsoft.com/office/drawing/2014/main" id="{80B7D595-E024-41A3-A04E-B0BE9420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3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记录范围：第8周的一例核心电路；数量不代表逐器件变换验证</a:t>
            </a:r>
          </a:p>
        </p:txBody>
      </p:sp>
    </p:spTree>
    <p:extLst>
      <p:ext uri="{BB962C8B-B14F-4D97-AF65-F5344CB8AC3E}">
        <p14:creationId xmlns:p14="http://schemas.microsoft.com/office/powerpoint/2010/main" val="1327819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功能封装与源电路保护">
            <a:extLst xmlns:a="http://schemas.openxmlformats.org/drawingml/2006/main">
              <a:ext uri="{FF2B5EF4-FFF2-40B4-BE49-F238E27FC236}">
                <a16:creationId xmlns:a16="http://schemas.microsoft.com/office/drawing/2014/main" id="{DD3D3CF3-23C9-4E54-9D43-4C7FDF5E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功能封装与源电路保护</a:t>
            </a:r>
          </a:p>
        </p:txBody>
      </p:sp>
      <p:sp>
        <p:nvSpPr>
          <p:cNvPr id="2" name="第8、10份周报；最新完整流程仍在复验">
            <a:extLst xmlns:a="http://schemas.openxmlformats.org/drawingml/2006/main">
              <a:ext uri="{FF2B5EF4-FFF2-40B4-BE49-F238E27FC236}">
                <a16:creationId xmlns:a16="http://schemas.microsoft.com/office/drawing/2014/main" id="{93285F35-F159-4D90-A944-E23ECDF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第8、10份周报；最新完整流程仍在复验</a:t>
            </a:r>
          </a:p>
        </p:txBody>
      </p:sp>
      <p:sp>
        <p:nvSpPr>
          <p:cNvPr id="3" name="15 / 24">
            <a:extLst xmlns:a="http://schemas.openxmlformats.org/drawingml/2006/main">
              <a:ext uri="{FF2B5EF4-FFF2-40B4-BE49-F238E27FC236}">
                <a16:creationId xmlns:a16="http://schemas.microsoft.com/office/drawing/2014/main" id="{E36F54E3-B213-412D-9E69-04A7E77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15 / 24</a:t>
            </a:r>
          </a:p>
        </p:txBody>
      </p:sp>
      <p:sp>
        <p:nvSpPr>
          <p:cNvPr id="4" name="封装结构">
            <a:extLst xmlns:a="http://schemas.openxmlformats.org/drawingml/2006/main">
              <a:ext uri="{FF2B5EF4-FFF2-40B4-BE49-F238E27FC236}">
                <a16:creationId xmlns:a16="http://schemas.microsoft.com/office/drawing/2014/main" id="{0A1D70CB-4012-498B-AA4A-53B91697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封装结构</a:t>
            </a:r>
          </a:p>
        </p:txBody>
      </p:sp>
      <p:sp>
        <p:nvSpPr>
          <p:cNvPr id="5" name="生成与发布">
            <a:extLst xmlns:a="http://schemas.openxmlformats.org/drawingml/2006/main">
              <a:ext uri="{FF2B5EF4-FFF2-40B4-BE49-F238E27FC236}">
                <a16:creationId xmlns:a16="http://schemas.microsoft.com/office/drawing/2014/main" id="{2807B44D-BB8C-471A-9063-383EDF9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生成与发布</a:t>
            </a:r>
          </a:p>
        </p:txBody>
      </p:sp>
      <p:sp>
        <p:nvSpPr>
          <p:cNvPr id="6" name="每个变换区域">
            <a:extLst xmlns:a="http://schemas.openxmlformats.org/drawingml/2006/main">
              <a:ext uri="{FF2B5EF4-FFF2-40B4-BE49-F238E27FC236}">
                <a16:creationId xmlns:a16="http://schemas.microsoft.com/office/drawing/2014/main" id="{D71D43F6-4401-4351-A2E6-424FC89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每个变换区域</a:t>
            </a:r>
          </a:p>
        </p:txBody>
      </p:sp>
      <p:sp>
        <p:nvSpPr>
          <p:cNvPr id="7" name="生成独立子 Cell，父电路保留封装实例">
            <a:extLst xmlns:a="http://schemas.openxmlformats.org/drawingml/2006/main">
              <a:ext uri="{FF2B5EF4-FFF2-40B4-BE49-F238E27FC236}">
                <a16:creationId xmlns:a16="http://schemas.microsoft.com/office/drawing/2014/main" id="{65A8047B-E4FA-4016-A89A-45C704F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生成独立子 Cell，父电路保留封装实例</a:t>
            </a:r>
          </a:p>
        </p:txBody>
      </p:sp>
      <p:sp>
        <p:nvSpPr>
          <p:cNvPr id="8" name="同一区域连续修改">
            <a:extLst xmlns:a="http://schemas.openxmlformats.org/drawingml/2006/main">
              <a:ext uri="{FF2B5EF4-FFF2-40B4-BE49-F238E27FC236}">
                <a16:creationId xmlns:a16="http://schemas.microsoft.com/office/drawing/2014/main" id="{85D2597D-ED94-4E3B-8168-5C11444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同一区域连续修改</a:t>
            </a:r>
          </a:p>
        </p:txBody>
      </p:sp>
      <p:sp>
        <p:nvSpPr>
          <p:cNvPr id="9" name="合并到同一封装，减少重叠电路">
            <a:extLst xmlns:a="http://schemas.openxmlformats.org/drawingml/2006/main">
              <a:ext uri="{FF2B5EF4-FFF2-40B4-BE49-F238E27FC236}">
                <a16:creationId xmlns:a16="http://schemas.microsoft.com/office/drawing/2014/main" id="{247B2CDA-9EAF-47B1-A355-99B18C8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合并到同一封装，减少重叠电路</a:t>
            </a:r>
          </a:p>
        </p:txBody>
      </p:sp>
      <p:sp>
        <p:nvSpPr>
          <p:cNvPr id="10" name="直接目的">
            <a:extLst xmlns:a="http://schemas.openxmlformats.org/drawingml/2006/main">
              <a:ext uri="{FF2B5EF4-FFF2-40B4-BE49-F238E27FC236}">
                <a16:creationId xmlns:a16="http://schemas.microsoft.com/office/drawing/2014/main" id="{99E5A1A2-0732-4AE0-8B27-272F81C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直接目的</a:t>
            </a:r>
          </a:p>
        </p:txBody>
      </p:sp>
      <p:sp>
        <p:nvSpPr>
          <p:cNvPr id="11" name="让派生结构更清楚，便于检查">
            <a:extLst xmlns:a="http://schemas.openxmlformats.org/drawingml/2006/main">
              <a:ext uri="{FF2B5EF4-FFF2-40B4-BE49-F238E27FC236}">
                <a16:creationId xmlns:a16="http://schemas.microsoft.com/office/drawing/2014/main" id="{303CFA13-6DF7-45B1-8D3B-FF465E40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让派生结构更清楚，便于检查</a:t>
            </a:r>
          </a:p>
        </p:txBody>
      </p:sp>
      <p:sp>
        <p:nvSpPr>
          <p:cNvPr id="12" name="先暂存生成">
            <a:extLst xmlns:a="http://schemas.openxmlformats.org/drawingml/2006/main">
              <a:ext uri="{FF2B5EF4-FFF2-40B4-BE49-F238E27FC236}">
                <a16:creationId xmlns:a16="http://schemas.microsoft.com/office/drawing/2014/main" id="{E6DA81A7-B809-43A1-9E70-CF96E19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先暂存生成</a:t>
            </a:r>
          </a:p>
        </p:txBody>
      </p:sp>
      <p:sp>
        <p:nvSpPr>
          <p:cNvPr id="13" name="根电路、功能封装和 VBIAS 子 Cell 一组处理">
            <a:extLst xmlns:a="http://schemas.openxmlformats.org/drawingml/2006/main">
              <a:ext uri="{FF2B5EF4-FFF2-40B4-BE49-F238E27FC236}">
                <a16:creationId xmlns:a16="http://schemas.microsoft.com/office/drawing/2014/main" id="{8B63FD4F-D81F-4BDC-9A71-DD82BB1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根电路、功能封装和 VBIAS 子 Cell 一组处理</a:t>
            </a:r>
          </a:p>
        </p:txBody>
      </p:sp>
      <p:sp>
        <p:nvSpPr>
          <p:cNvPr id="14" name="成功后发布">
            <a:extLst xmlns:a="http://schemas.openxmlformats.org/drawingml/2006/main">
              <a:ext uri="{FF2B5EF4-FFF2-40B4-BE49-F238E27FC236}">
                <a16:creationId xmlns:a16="http://schemas.microsoft.com/office/drawing/2014/main" id="{32CADB3B-045C-4F44-9C30-6AB6B4CC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成功后发布</a:t>
            </a:r>
          </a:p>
        </p:txBody>
      </p:sp>
      <p:sp>
        <p:nvSpPr>
          <p:cNvPr id="15" name="完善整组发布及失败回退流程">
            <a:extLst xmlns:a="http://schemas.openxmlformats.org/drawingml/2006/main">
              <a:ext uri="{FF2B5EF4-FFF2-40B4-BE49-F238E27FC236}">
                <a16:creationId xmlns:a16="http://schemas.microsoft.com/office/drawing/2014/main" id="{F2F35BE4-1804-435D-94D5-26C1D558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完善整组发布及失败回退流程</a:t>
            </a:r>
          </a:p>
        </p:txBody>
      </p:sp>
      <p:sp>
        <p:nvSpPr>
          <p:cNvPr id="16" name="持续核对">
            <a:extLst xmlns:a="http://schemas.openxmlformats.org/drawingml/2006/main">
              <a:ext uri="{FF2B5EF4-FFF2-40B4-BE49-F238E27FC236}">
                <a16:creationId xmlns:a16="http://schemas.microsoft.com/office/drawing/2014/main" id="{D274A84A-DDB6-4B5C-A55E-B37E43FD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持续核对</a:t>
            </a:r>
          </a:p>
        </p:txBody>
      </p:sp>
      <p:sp>
        <p:nvSpPr>
          <p:cNvPr id="17" name="检查源电路未改动，回读器件、连接及参数">
            <a:extLst xmlns:a="http://schemas.openxmlformats.org/drawingml/2006/main">
              <a:ext uri="{FF2B5EF4-FFF2-40B4-BE49-F238E27FC236}">
                <a16:creationId xmlns:a16="http://schemas.microsoft.com/office/drawing/2014/main" id="{9D3C54E3-AFBA-4FB6-903C-CC17AE6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检查源电路未改动，回读器件、连接及参数</a:t>
            </a:r>
          </a:p>
        </p:txBody>
      </p:sp>
    </p:spTree>
    <p:extLst>
      <p:ext uri="{BB962C8B-B14F-4D97-AF65-F5344CB8AC3E}">
        <p14:creationId xmlns:p14="http://schemas.microsoft.com/office/powerpoint/2010/main" val="3772940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用多级回读核对结构变换结果">
            <a:extLst xmlns:a="http://schemas.openxmlformats.org/drawingml/2006/main">
              <a:ext uri="{FF2B5EF4-FFF2-40B4-BE49-F238E27FC236}">
                <a16:creationId xmlns:a16="http://schemas.microsoft.com/office/drawing/2014/main" id="{D346D540-889C-4D36-AE3F-5213A996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用多级回读核对结构变换结果</a:t>
            </a:r>
          </a:p>
        </p:txBody>
      </p:sp>
      <p:sp>
        <p:nvSpPr>
          <p:cNvPr id="2" name="第8、10份周报">
            <a:extLst xmlns:a="http://schemas.openxmlformats.org/drawingml/2006/main">
              <a:ext uri="{FF2B5EF4-FFF2-40B4-BE49-F238E27FC236}">
                <a16:creationId xmlns:a16="http://schemas.microsoft.com/office/drawing/2014/main" id="{5FDF5CB8-99AE-48D6-9FDE-48E157B1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第8、10份周报</a:t>
            </a:r>
          </a:p>
        </p:txBody>
      </p:sp>
      <p:sp>
        <p:nvSpPr>
          <p:cNvPr id="3" name="16 / 24">
            <a:extLst xmlns:a="http://schemas.openxmlformats.org/drawingml/2006/main">
              <a:ext uri="{FF2B5EF4-FFF2-40B4-BE49-F238E27FC236}">
                <a16:creationId xmlns:a16="http://schemas.microsoft.com/office/drawing/2014/main" id="{E8BA6E4E-8FC8-4354-BD0A-02738BB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16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324A1-8A36-41A2-82B3-C832BF423056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953000"/>
                <a:gridCol w="325755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核对层级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源电路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变换前后器件、连接与参数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确认原始设计保持不变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期望结构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按选定规则形成预期器件和连接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建立核对基准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派生父电路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封装实例、接口和父级连接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确认接入关系正确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封装 / VBIAS 子 Cell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内部器件、连接、CDF 与参数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检查实际生成结果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校验通过后才放行后续 Sizing 输入；电气性能还需单独仿真确认">
            <a:extLst xmlns:a="http://schemas.openxmlformats.org/drawingml/2006/main">
              <a:ext uri="{FF2B5EF4-FFF2-40B4-BE49-F238E27FC236}">
                <a16:creationId xmlns:a16="http://schemas.microsoft.com/office/drawing/2014/main" id="{3F451499-7A83-44E0-A31F-E660D3A0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校验通过后才放行后续 Sizing 输入；电气性能还需单独仿真确认</a:t>
            </a:r>
          </a:p>
        </p:txBody>
      </p:sp>
    </p:spTree>
    <p:extLst>
      <p:ext uri="{BB962C8B-B14F-4D97-AF65-F5344CB8AC3E}">
        <p14:creationId xmlns:p14="http://schemas.microsoft.com/office/powerpoint/2010/main" val="18783981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同型 Cascode 已有真实电路验证记录">
            <a:extLst xmlns:a="http://schemas.openxmlformats.org/drawingml/2006/main">
              <a:ext uri="{FF2B5EF4-FFF2-40B4-BE49-F238E27FC236}">
                <a16:creationId xmlns:a16="http://schemas.microsoft.com/office/drawing/2014/main" id="{8A2EC643-3596-4418-AA57-718D105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同型 Cascode 已有真实电路验证记录</a:t>
            </a:r>
          </a:p>
        </p:txBody>
      </p:sp>
      <p:sp>
        <p:nvSpPr>
          <p:cNvPr id="2" name="第8、10份周报及原始照片">
            <a:extLst xmlns:a="http://schemas.openxmlformats.org/drawingml/2006/main">
              <a:ext uri="{FF2B5EF4-FFF2-40B4-BE49-F238E27FC236}">
                <a16:creationId xmlns:a16="http://schemas.microsoft.com/office/drawing/2014/main" id="{B141EFB9-4033-4DFC-8AD9-543AE082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第8、10份周报及原始照片</a:t>
            </a:r>
          </a:p>
        </p:txBody>
      </p:sp>
      <p:sp>
        <p:nvSpPr>
          <p:cNvPr id="3" name="17 / 24">
            <a:extLst xmlns:a="http://schemas.openxmlformats.org/drawingml/2006/main">
              <a:ext uri="{FF2B5EF4-FFF2-40B4-BE49-F238E27FC236}">
                <a16:creationId xmlns:a16="http://schemas.microsoft.com/office/drawing/2014/main" id="{BE54D27A-4F5E-4FB3-813A-5CE2ED28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17 / 24</a:t>
            </a:r>
          </a:p>
        </p:txBody>
      </p:sp>
      <p:sp>
        <p:nvSpPr>
          <p:cNvPr id="4" name="第8周已记录的结果">
            <a:extLst xmlns:a="http://schemas.openxmlformats.org/drawingml/2006/main">
              <a:ext uri="{FF2B5EF4-FFF2-40B4-BE49-F238E27FC236}">
                <a16:creationId xmlns:a16="http://schemas.microsoft.com/office/drawing/2014/main" id="{8D453E78-5C01-4AAB-8F1D-8B495C75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第8周已记录的结果</a:t>
            </a:r>
          </a:p>
        </p:txBody>
      </p:sp>
      <p:sp>
        <p:nvSpPr>
          <p:cNvPr id="5" name="仍需继续完成的验证">
            <a:extLst xmlns:a="http://schemas.openxmlformats.org/drawingml/2006/main">
              <a:ext uri="{FF2B5EF4-FFF2-40B4-BE49-F238E27FC236}">
                <a16:creationId xmlns:a16="http://schemas.microsoft.com/office/drawing/2014/main" id="{10C2936E-2A04-433A-9BF6-359CF63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仍需继续完成的验证</a:t>
            </a:r>
          </a:p>
        </p:txBody>
      </p:sp>
      <p:sp>
        <p:nvSpPr>
          <p:cNvPr id="6" name="生成与显示">
            <a:extLst xmlns:a="http://schemas.openxmlformats.org/drawingml/2006/main">
              <a:ext uri="{FF2B5EF4-FFF2-40B4-BE49-F238E27FC236}">
                <a16:creationId xmlns:a16="http://schemas.microsoft.com/office/drawing/2014/main" id="{E835DF18-5335-4C78-BE2F-354294D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生成与显示</a:t>
            </a:r>
          </a:p>
        </p:txBody>
      </p:sp>
      <p:sp>
        <p:nvSpPr>
          <p:cNvPr id="7" name="生成派生电路，并打开 Virtuoso 原理图">
            <a:extLst xmlns:a="http://schemas.openxmlformats.org/drawingml/2006/main">
              <a:ext uri="{FF2B5EF4-FFF2-40B4-BE49-F238E27FC236}">
                <a16:creationId xmlns:a16="http://schemas.microsoft.com/office/drawing/2014/main" id="{040F257D-C087-4241-8AAF-41983B42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生成派生电路，并打开 Virtuoso 原理图</a:t>
            </a:r>
          </a:p>
        </p:txBody>
      </p:sp>
      <p:sp>
        <p:nvSpPr>
          <p:cNvPr id="8" name="网表回读">
            <a:extLst xmlns:a="http://schemas.openxmlformats.org/drawingml/2006/main">
              <a:ext uri="{FF2B5EF4-FFF2-40B4-BE49-F238E27FC236}">
                <a16:creationId xmlns:a16="http://schemas.microsoft.com/office/drawing/2014/main" id="{10F9A4FA-5A87-45A5-873B-CF695BAA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网表回读</a:t>
            </a:r>
          </a:p>
        </p:txBody>
      </p:sp>
      <p:sp>
        <p:nvSpPr>
          <p:cNvPr id="9" name="串联关系、中间节点、Gate 与 Bulk 符合预期">
            <a:extLst xmlns:a="http://schemas.openxmlformats.org/drawingml/2006/main">
              <a:ext uri="{FF2B5EF4-FFF2-40B4-BE49-F238E27FC236}">
                <a16:creationId xmlns:a16="http://schemas.microsoft.com/office/drawing/2014/main" id="{F2CF8FEF-E8E0-47F9-82B9-7A87B938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串联关系、中间节点、Gate 与 Bulk 符合预期</a:t>
            </a:r>
          </a:p>
        </p:txBody>
      </p:sp>
      <p:sp>
        <p:nvSpPr>
          <p:cNvPr id="10" name="源电路保护">
            <a:extLst xmlns:a="http://schemas.openxmlformats.org/drawingml/2006/main">
              <a:ext uri="{FF2B5EF4-FFF2-40B4-BE49-F238E27FC236}">
                <a16:creationId xmlns:a16="http://schemas.microsoft.com/office/drawing/2014/main" id="{CCC83669-6DA1-493E-A4B3-03141B25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源电路保护</a:t>
            </a:r>
          </a:p>
        </p:txBody>
      </p:sp>
      <p:sp>
        <p:nvSpPr>
          <p:cNvPr id="11" name="确认该次实验未修改原始电路">
            <a:extLst xmlns:a="http://schemas.openxmlformats.org/drawingml/2006/main">
              <a:ext uri="{FF2B5EF4-FFF2-40B4-BE49-F238E27FC236}">
                <a16:creationId xmlns:a16="http://schemas.microsoft.com/office/drawing/2014/main" id="{F5FEB814-CFEC-4A45-9709-24B5BAE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确认该次实验未修改原始电路</a:t>
            </a:r>
          </a:p>
        </p:txBody>
      </p:sp>
      <p:sp>
        <p:nvSpPr>
          <p:cNvPr id="12" name="最新封装实现">
            <a:extLst xmlns:a="http://schemas.openxmlformats.org/drawingml/2006/main">
              <a:ext uri="{FF2B5EF4-FFF2-40B4-BE49-F238E27FC236}">
                <a16:creationId xmlns:a16="http://schemas.microsoft.com/office/drawing/2014/main" id="{08671316-293A-4424-8511-4FDAA27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最新封装实现</a:t>
            </a:r>
          </a:p>
        </p:txBody>
      </p:sp>
      <p:sp>
        <p:nvSpPr>
          <p:cNvPr id="13" name="代码修改后，继续开展服务器复验">
            <a:extLst xmlns:a="http://schemas.openxmlformats.org/drawingml/2006/main">
              <a:ext uri="{FF2B5EF4-FFF2-40B4-BE49-F238E27FC236}">
                <a16:creationId xmlns:a16="http://schemas.microsoft.com/office/drawing/2014/main" id="{A817A37B-FDAD-437E-BF86-01E9E88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代码修改后，继续开展服务器复验</a:t>
            </a:r>
          </a:p>
        </p:txBody>
      </p:sp>
      <p:sp>
        <p:nvSpPr>
          <p:cNvPr id="14" name="其他变换类型">
            <a:extLst xmlns:a="http://schemas.openxmlformats.org/drawingml/2006/main">
              <a:ext uri="{FF2B5EF4-FFF2-40B4-BE49-F238E27FC236}">
                <a16:creationId xmlns:a16="http://schemas.microsoft.com/office/drawing/2014/main" id="{8659C7EE-4966-4AA7-815F-3DB38BA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其他变换类型</a:t>
            </a:r>
          </a:p>
        </p:txBody>
      </p:sp>
      <p:sp>
        <p:nvSpPr>
          <p:cNvPr id="15" name="补齐各类型、参数边界与候选组合场景">
            <a:extLst xmlns:a="http://schemas.openxmlformats.org/drawingml/2006/main">
              <a:ext uri="{FF2B5EF4-FFF2-40B4-BE49-F238E27FC236}">
                <a16:creationId xmlns:a16="http://schemas.microsoft.com/office/drawing/2014/main" id="{78BE0929-0906-4E55-BD2A-0B4F352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补齐各类型、参数边界与候选组合场景</a:t>
            </a:r>
          </a:p>
        </p:txBody>
      </p:sp>
      <p:sp>
        <p:nvSpPr>
          <p:cNvPr id="16" name="自动 VBIAS">
            <a:extLst xmlns:a="http://schemas.openxmlformats.org/drawingml/2006/main">
              <a:ext uri="{FF2B5EF4-FFF2-40B4-BE49-F238E27FC236}">
                <a16:creationId xmlns:a16="http://schemas.microsoft.com/office/drawing/2014/main" id="{0AF924A8-B368-43A4-A55F-F9BB9918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自动 VBIAS</a:t>
            </a:r>
          </a:p>
        </p:txBody>
      </p:sp>
      <p:sp>
        <p:nvSpPr>
          <p:cNvPr id="17" name="生成及仿真结果尚未完成验证">
            <a:extLst xmlns:a="http://schemas.openxmlformats.org/drawingml/2006/main">
              <a:ext uri="{FF2B5EF4-FFF2-40B4-BE49-F238E27FC236}">
                <a16:creationId xmlns:a16="http://schemas.microsoft.com/office/drawing/2014/main" id="{60EB1065-6204-471D-8668-C22D360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生成及仿真结果尚未完成验证</a:t>
            </a:r>
          </a:p>
        </p:txBody>
      </p:sp>
    </p:spTree>
    <p:extLst>
      <p:ext uri="{BB962C8B-B14F-4D97-AF65-F5344CB8AC3E}">
        <p14:creationId xmlns:p14="http://schemas.microsoft.com/office/powerpoint/2010/main" val="7617314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DK 扫描让器件选择依赖真实工艺信息">
            <a:extLst xmlns:a="http://schemas.openxmlformats.org/drawingml/2006/main">
              <a:ext uri="{FF2B5EF4-FFF2-40B4-BE49-F238E27FC236}">
                <a16:creationId xmlns:a16="http://schemas.microsoft.com/office/drawing/2014/main" id="{15526B78-A79E-4D12-A048-2DCF25C7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PDK 扫描让器件选择依赖真实工艺信息</a:t>
            </a:r>
          </a:p>
        </p:txBody>
      </p:sp>
      <p:sp>
        <p:nvSpPr>
          <p:cNvPr id="2" name="第9—10份周报">
            <a:extLst xmlns:a="http://schemas.openxmlformats.org/drawingml/2006/main">
              <a:ext uri="{FF2B5EF4-FFF2-40B4-BE49-F238E27FC236}">
                <a16:creationId xmlns:a16="http://schemas.microsoft.com/office/drawing/2014/main" id="{FFA93E77-63EC-4342-AAF0-13143EB7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</a:t>
            </a:r>
          </a:p>
        </p:txBody>
      </p:sp>
      <p:sp>
        <p:nvSpPr>
          <p:cNvPr id="3" name="18 / 24">
            <a:extLst xmlns:a="http://schemas.openxmlformats.org/drawingml/2006/main">
              <a:ext uri="{FF2B5EF4-FFF2-40B4-BE49-F238E27FC236}">
                <a16:creationId xmlns:a16="http://schemas.microsoft.com/office/drawing/2014/main" id="{DFE4877D-C23A-4077-8640-B1DEBC7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18 / 24</a:t>
            </a:r>
          </a:p>
        </p:txBody>
      </p:sp>
      <p:sp>
        <p:nvSpPr>
          <p:cNvPr id="4" name="读取当前工艺信息，再筛选合法候选">
            <a:extLst xmlns:a="http://schemas.openxmlformats.org/drawingml/2006/main">
              <a:ext uri="{FF2B5EF4-FFF2-40B4-BE49-F238E27FC236}">
                <a16:creationId xmlns:a16="http://schemas.microsoft.com/office/drawing/2014/main" id="{BD924B2E-16DE-4BEE-807B-1E41BED4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读取当前工艺信息，再筛选合法候选</a:t>
            </a:r>
          </a:p>
        </p:txBody>
      </p:sp>
      <p:sp>
        <p:nvSpPr>
          <p:cNvPr id="5" name="读取">
            <a:extLst xmlns:a="http://schemas.openxmlformats.org/drawingml/2006/main">
              <a:ext uri="{FF2B5EF4-FFF2-40B4-BE49-F238E27FC236}">
                <a16:creationId xmlns:a16="http://schemas.microsoft.com/office/drawing/2014/main" id="{01371116-F532-4B03-8889-DEC77C1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读取</a:t>
            </a:r>
          </a:p>
        </p:txBody>
      </p:sp>
      <p:sp>
        <p:nvSpPr>
          <p:cNvPr id="6" name="关联器件库、MOS / 电阻、端子、CDF 参数与范围">
            <a:extLst xmlns:a="http://schemas.openxmlformats.org/drawingml/2006/main">
              <a:ext uri="{FF2B5EF4-FFF2-40B4-BE49-F238E27FC236}">
                <a16:creationId xmlns:a16="http://schemas.microsoft.com/office/drawing/2014/main" id="{5F738897-3B14-41BD-B223-F0D0DA4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关联器件库、MOS / 电阻、端子、CDF 参数与范围</a:t>
            </a:r>
          </a:p>
        </p:txBody>
      </p:sp>
      <p:sp>
        <p:nvSpPr>
          <p:cNvPr id="7" name="筛选">
            <a:extLst xmlns:a="http://schemas.openxmlformats.org/drawingml/2006/main">
              <a:ext uri="{FF2B5EF4-FFF2-40B4-BE49-F238E27FC236}">
                <a16:creationId xmlns:a16="http://schemas.microsoft.com/office/drawing/2014/main" id="{A6E9D777-4089-40A9-BA12-C7554106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筛选</a:t>
            </a:r>
          </a:p>
        </p:txBody>
      </p:sp>
      <p:sp>
        <p:nvSpPr>
          <p:cNvPr id="8" name="核对极性、电压域、Bulk、可靠性和参数限制">
            <a:extLst xmlns:a="http://schemas.openxmlformats.org/drawingml/2006/main">
              <a:ext uri="{FF2B5EF4-FFF2-40B4-BE49-F238E27FC236}">
                <a16:creationId xmlns:a16="http://schemas.microsoft.com/office/drawing/2014/main" id="{3054CB3B-D74E-4522-8A53-5D28159E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2427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核对极性、电压域、Bulk、可靠性和参数限制</a:t>
            </a:r>
          </a:p>
        </p:txBody>
      </p:sp>
      <p:sp>
        <p:nvSpPr>
          <p:cNvPr id="9" name="落地">
            <a:extLst xmlns:a="http://schemas.openxmlformats.org/drawingml/2006/main">
              <a:ext uri="{FF2B5EF4-FFF2-40B4-BE49-F238E27FC236}">
                <a16:creationId xmlns:a16="http://schemas.microsoft.com/office/drawing/2014/main" id="{522D01AE-B7F7-4E84-9CD1-C38FD9A1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落地</a:t>
            </a:r>
          </a:p>
        </p:txBody>
      </p:sp>
      <p:sp>
        <p:nvSpPr>
          <p:cNvPr id="10" name="生成标准化器件目录，进行参数量化与合法性检查">
            <a:extLst xmlns:a="http://schemas.openxmlformats.org/drawingml/2006/main">
              <a:ext uri="{FF2B5EF4-FFF2-40B4-BE49-F238E27FC236}">
                <a16:creationId xmlns:a16="http://schemas.microsoft.com/office/drawing/2014/main" id="{F4B4362C-898F-423A-9AF5-9AFBB94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339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生成标准化器件目录，进行参数量化与合法性检查</a:t>
            </a:r>
          </a:p>
        </p:txBody>
      </p:sp>
      <p:sp>
        <p:nvSpPr>
          <p:cNvPr id="11" name="联调中已处理：工艺关联、CDF 访问、端子表示和 MOS 参数识别等问题">
            <a:extLst xmlns:a="http://schemas.openxmlformats.org/drawingml/2006/main">
              <a:ext uri="{FF2B5EF4-FFF2-40B4-BE49-F238E27FC236}">
                <a16:creationId xmlns:a16="http://schemas.microsoft.com/office/drawing/2014/main" id="{BC422DA3-745B-422A-B712-3C86A888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0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联调中已处理：工艺关联、CDF 访问、端子表示和 MOS 参数识别等问题</a:t>
            </a:r>
          </a:p>
        </p:txBody>
      </p:sp>
    </p:spTree>
    <p:extLst>
      <p:ext uri="{BB962C8B-B14F-4D97-AF65-F5344CB8AC3E}">
        <p14:creationId xmlns:p14="http://schemas.microsoft.com/office/powerpoint/2010/main" val="9252733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自动 VBIAS：方案与前置能力已推进">
            <a:extLst xmlns:a="http://schemas.openxmlformats.org/drawingml/2006/main">
              <a:ext uri="{FF2B5EF4-FFF2-40B4-BE49-F238E27FC236}">
                <a16:creationId xmlns:a16="http://schemas.microsoft.com/office/drawing/2014/main" id="{03392886-2A8A-42BE-A192-27387FF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自动 VBIAS：方案与前置能力已推进</a:t>
            </a:r>
          </a:p>
        </p:txBody>
      </p:sp>
      <p:sp>
        <p:nvSpPr>
          <p:cNvPr id="2" name="第9—10份周报；外部参考电流表述按第10份原始照片核对">
            <a:extLst xmlns:a="http://schemas.openxmlformats.org/drawingml/2006/main">
              <a:ext uri="{FF2B5EF4-FFF2-40B4-BE49-F238E27FC236}">
                <a16:creationId xmlns:a16="http://schemas.microsoft.com/office/drawing/2014/main" id="{A800FBC2-04E8-4495-B322-FF28A613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第9—10份周报；外部参考电流表述按第10份原始照片核对</a:t>
            </a:r>
          </a:p>
        </p:txBody>
      </p:sp>
      <p:sp>
        <p:nvSpPr>
          <p:cNvPr id="3" name="19 / 24">
            <a:extLst xmlns:a="http://schemas.openxmlformats.org/drawingml/2006/main">
              <a:ext uri="{FF2B5EF4-FFF2-40B4-BE49-F238E27FC236}">
                <a16:creationId xmlns:a16="http://schemas.microsoft.com/office/drawing/2014/main" id="{F382BC9D-5D88-4619-BD47-4F9B3FA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19 / 24</a:t>
            </a:r>
          </a:p>
        </p:txBody>
      </p:sp>
      <p:sp>
        <p:nvSpPr>
          <p:cNvPr id="4" name="当前方案">
            <a:extLst xmlns:a="http://schemas.openxmlformats.org/drawingml/2006/main">
              <a:ext uri="{FF2B5EF4-FFF2-40B4-BE49-F238E27FC236}">
                <a16:creationId xmlns:a16="http://schemas.microsoft.com/office/drawing/2014/main" id="{658A865F-065A-46F5-AAC3-20FA584D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当前方案</a:t>
            </a:r>
          </a:p>
        </p:txBody>
      </p:sp>
      <p:sp>
        <p:nvSpPr>
          <p:cNvPr id="5" name="截至第10周的状态">
            <a:extLst xmlns:a="http://schemas.openxmlformats.org/drawingml/2006/main">
              <a:ext uri="{FF2B5EF4-FFF2-40B4-BE49-F238E27FC236}">
                <a16:creationId xmlns:a16="http://schemas.microsoft.com/office/drawing/2014/main" id="{1932481D-5B1D-46D1-B920-0C393BDE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截至第10周的状态</a:t>
            </a:r>
          </a:p>
        </p:txBody>
      </p:sp>
      <p:sp>
        <p:nvSpPr>
          <p:cNvPr id="6" name="独立偏置单元">
            <a:extLst xmlns:a="http://schemas.openxmlformats.org/drawingml/2006/main">
              <a:ext uri="{FF2B5EF4-FFF2-40B4-BE49-F238E27FC236}">
                <a16:creationId xmlns:a16="http://schemas.microsoft.com/office/drawing/2014/main" id="{518968A6-8CB5-43D6-BE49-6CD4588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独立偏置单元</a:t>
            </a:r>
          </a:p>
        </p:txBody>
      </p:sp>
      <p:sp>
        <p:nvSpPr>
          <p:cNvPr id="7" name="NMOS、PMOS 分别采用独立 VBIAS 模板">
            <a:extLst xmlns:a="http://schemas.openxmlformats.org/drawingml/2006/main">
              <a:ext uri="{FF2B5EF4-FFF2-40B4-BE49-F238E27FC236}">
                <a16:creationId xmlns:a16="http://schemas.microsoft.com/office/drawing/2014/main" id="{FEB2FB6D-F22C-42F5-B9B7-BB365EF1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NMOS、PMOS 分别采用独立 VBIAS 模板</a:t>
            </a:r>
          </a:p>
        </p:txBody>
      </p:sp>
      <p:sp>
        <p:nvSpPr>
          <p:cNvPr id="8" name="器件与参数">
            <a:extLst xmlns:a="http://schemas.openxmlformats.org/drawingml/2006/main">
              <a:ext uri="{FF2B5EF4-FFF2-40B4-BE49-F238E27FC236}">
                <a16:creationId xmlns:a16="http://schemas.microsoft.com/office/drawing/2014/main" id="{343C2DA1-83DB-4FC4-B8BA-D6EDF22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器件与参数</a:t>
            </a:r>
          </a:p>
        </p:txBody>
      </p:sp>
      <p:sp>
        <p:nvSpPr>
          <p:cNvPr id="9" name="依据当前 PDK 选择器件，通过直流工作点求解">
            <a:extLst xmlns:a="http://schemas.openxmlformats.org/drawingml/2006/main">
              <a:ext uri="{FF2B5EF4-FFF2-40B4-BE49-F238E27FC236}">
                <a16:creationId xmlns:a16="http://schemas.microsoft.com/office/drawing/2014/main" id="{B5940065-35DE-43F8-825F-341691C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依据当前 PDK 选择器件，通过直流工作点求解</a:t>
            </a:r>
          </a:p>
        </p:txBody>
      </p:sp>
      <p:sp>
        <p:nvSpPr>
          <p:cNvPr id="10" name="参考与复用">
            <a:extLst xmlns:a="http://schemas.openxmlformats.org/drawingml/2006/main">
              <a:ext uri="{FF2B5EF4-FFF2-40B4-BE49-F238E27FC236}">
                <a16:creationId xmlns:a16="http://schemas.microsoft.com/office/drawing/2014/main" id="{1B2D7F60-4031-4B80-91F3-321D1ED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参考与复用</a:t>
            </a:r>
          </a:p>
        </p:txBody>
      </p:sp>
      <p:sp>
        <p:nvSpPr>
          <p:cNvPr id="11" name="不需要外部参考电流，不直接复用原 Bias 支路">
            <a:extLst xmlns:a="http://schemas.openxmlformats.org/drawingml/2006/main">
              <a:ext uri="{FF2B5EF4-FFF2-40B4-BE49-F238E27FC236}">
                <a16:creationId xmlns:a16="http://schemas.microsoft.com/office/drawing/2014/main" id="{F8434F57-B837-4CC7-81FE-4761CBF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不需要外部参考电流，不直接复用原 Bias 支路</a:t>
            </a:r>
          </a:p>
        </p:txBody>
      </p:sp>
      <p:sp>
        <p:nvSpPr>
          <p:cNvPr id="12" name="已推进">
            <a:extLst xmlns:a="http://schemas.openxmlformats.org/drawingml/2006/main">
              <a:ext uri="{FF2B5EF4-FFF2-40B4-BE49-F238E27FC236}">
                <a16:creationId xmlns:a16="http://schemas.microsoft.com/office/drawing/2014/main" id="{14EED558-D403-428D-93E4-FC9F121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已推进</a:t>
            </a:r>
          </a:p>
        </p:txBody>
      </p:sp>
      <p:sp>
        <p:nvSpPr>
          <p:cNvPr id="13" name="模板方案、候选组合搜索和参数合法性检查">
            <a:extLst xmlns:a="http://schemas.openxmlformats.org/drawingml/2006/main">
              <a:ext uri="{FF2B5EF4-FFF2-40B4-BE49-F238E27FC236}">
                <a16:creationId xmlns:a16="http://schemas.microsoft.com/office/drawing/2014/main" id="{1E637977-9AEE-4326-8BC3-6748B22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模板方案、候选组合搜索和参数合法性检查</a:t>
            </a:r>
          </a:p>
        </p:txBody>
      </p:sp>
      <p:sp>
        <p:nvSpPr>
          <p:cNvPr id="14" name="已补充">
            <a:extLst xmlns:a="http://schemas.openxmlformats.org/drawingml/2006/main">
              <a:ext uri="{FF2B5EF4-FFF2-40B4-BE49-F238E27FC236}">
                <a16:creationId xmlns:a16="http://schemas.microsoft.com/office/drawing/2014/main" id="{8C235E99-9AF3-4331-AD12-8DA618D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已补充</a:t>
            </a:r>
          </a:p>
        </p:txBody>
      </p:sp>
      <p:sp>
        <p:nvSpPr>
          <p:cNvPr id="15" name="工作点接口异常分类、结果匹配和失败处理">
            <a:extLst xmlns:a="http://schemas.openxmlformats.org/drawingml/2006/main">
              <a:ext uri="{FF2B5EF4-FFF2-40B4-BE49-F238E27FC236}">
                <a16:creationId xmlns:a16="http://schemas.microsoft.com/office/drawing/2014/main" id="{0D4711A6-4D1F-41BE-9674-D7557D86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工作点接口异常分类、结果匹配和失败处理</a:t>
            </a:r>
          </a:p>
        </p:txBody>
      </p:sp>
      <p:sp>
        <p:nvSpPr>
          <p:cNvPr id="16" name="未完成">
            <a:extLst xmlns:a="http://schemas.openxmlformats.org/drawingml/2006/main">
              <a:ext uri="{FF2B5EF4-FFF2-40B4-BE49-F238E27FC236}">
                <a16:creationId xmlns:a16="http://schemas.microsoft.com/office/drawing/2014/main" id="{5705EE11-F480-436B-99B6-E878224A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未完成</a:t>
            </a:r>
          </a:p>
        </p:txBody>
      </p:sp>
      <p:sp>
        <p:nvSpPr>
          <p:cNvPr id="17" name="实际电路上的 VBIAS 生成与仿真验证">
            <a:extLst xmlns:a="http://schemas.openxmlformats.org/drawingml/2006/main">
              <a:ext uri="{FF2B5EF4-FFF2-40B4-BE49-F238E27FC236}">
                <a16:creationId xmlns:a16="http://schemas.microsoft.com/office/drawing/2014/main" id="{7DD5033F-45A9-4094-9F2A-2DBE52F4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实际电路上的 VBIAS 生成与仿真验证</a:t>
            </a:r>
          </a:p>
        </p:txBody>
      </p:sp>
    </p:spTree>
    <p:extLst>
      <p:ext uri="{BB962C8B-B14F-4D97-AF65-F5344CB8AC3E}">
        <p14:creationId xmlns:p14="http://schemas.microsoft.com/office/powerpoint/2010/main" val="11554505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真实环境联调集中解决数据与接口差异">
            <a:extLst xmlns:a="http://schemas.openxmlformats.org/drawingml/2006/main">
              <a:ext uri="{FF2B5EF4-FFF2-40B4-BE49-F238E27FC236}">
                <a16:creationId xmlns:a16="http://schemas.microsoft.com/office/drawing/2014/main" id="{B7BF5FA0-CC75-4C47-ACCC-92701B86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真实环境联调集中解决数据与接口差异</a:t>
            </a:r>
          </a:p>
        </p:txBody>
      </p:sp>
      <p:sp>
        <p:nvSpPr>
          <p:cNvPr id="2" name="第9—10份周报">
            <a:extLst xmlns:a="http://schemas.openxmlformats.org/drawingml/2006/main">
              <a:ext uri="{FF2B5EF4-FFF2-40B4-BE49-F238E27FC236}">
                <a16:creationId xmlns:a16="http://schemas.microsoft.com/office/drawing/2014/main" id="{9A635B78-D918-4750-AFF5-4B145B04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</a:t>
            </a:r>
          </a:p>
        </p:txBody>
      </p:sp>
      <p:sp>
        <p:nvSpPr>
          <p:cNvPr id="3" name="20 / 24">
            <a:extLst xmlns:a="http://schemas.openxmlformats.org/drawingml/2006/main">
              <a:ext uri="{FF2B5EF4-FFF2-40B4-BE49-F238E27FC236}">
                <a16:creationId xmlns:a16="http://schemas.microsoft.com/office/drawing/2014/main" id="{CE419431-9043-48B8-9C89-A563EEEA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20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D3B23-D48B-4AFB-93E2-4B02C9E7A718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572000"/>
                <a:gridCol w="3114675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联调问题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采取的处理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环境与命令兼容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排查 Python、Cadence 加载及构建运行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运行日志与实际执行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CDF / 端子表示差异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修正数据访问、符号与字符串处理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真实端子与 CDF 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参数回读不一致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修复原 MOS、Stack 各级属性保留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生成前后参数回读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异常与结果恢复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处理旧输出恢复、Corner、溢出等边界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输出完整性与结果匹配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0393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当前成果与剩余工作">
            <a:extLst xmlns:a="http://schemas.openxmlformats.org/drawingml/2006/main">
              <a:ext uri="{FF2B5EF4-FFF2-40B4-BE49-F238E27FC236}">
                <a16:creationId xmlns:a16="http://schemas.microsoft.com/office/drawing/2014/main" id="{5B28388E-B3E8-4D0D-8554-163B461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当前成果与剩余工作</a:t>
            </a:r>
          </a:p>
        </p:txBody>
      </p:sp>
      <p:sp>
        <p:nvSpPr>
          <p:cNvPr id="2" name="第8—10份周报">
            <a:extLst xmlns:a="http://schemas.openxmlformats.org/drawingml/2006/main">
              <a:ext uri="{FF2B5EF4-FFF2-40B4-BE49-F238E27FC236}">
                <a16:creationId xmlns:a16="http://schemas.microsoft.com/office/drawing/2014/main" id="{ED390F92-5EA2-4411-BBCA-D66B03BB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第8—10份周报</a:t>
            </a:r>
          </a:p>
        </p:txBody>
      </p:sp>
      <p:sp>
        <p:nvSpPr>
          <p:cNvPr id="3" name="21 / 24">
            <a:extLst xmlns:a="http://schemas.openxmlformats.org/drawingml/2006/main">
              <a:ext uri="{FF2B5EF4-FFF2-40B4-BE49-F238E27FC236}">
                <a16:creationId xmlns:a16="http://schemas.microsoft.com/office/drawing/2014/main" id="{D82E41CB-5E35-49D0-9241-E835E3FA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21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8379-31FE-4D86-9112-A26AA01E7E38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62500"/>
                <a:gridCol w="363855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已取得的进展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需求与核心代码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四类规则、核心逻辑、封装与多级校验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持续收口规则与边界用例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真实电路接入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读取真实核心；同型 Cascode 有验证记录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复验最新实现及更多变换场景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PDK / 自动 VBIAS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扫描、候选筛选、模板与求解相关能力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完成实际生成与仿真验证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调优主流程接入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已整理接口及输出文件相关事项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确认接口，推进后续集成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截至 2026.10.10：已完成开发、已有验证记录、待完成事项分别说明">
            <a:extLst xmlns:a="http://schemas.openxmlformats.org/drawingml/2006/main">
              <a:ext uri="{FF2B5EF4-FFF2-40B4-BE49-F238E27FC236}">
                <a16:creationId xmlns:a16="http://schemas.microsoft.com/office/drawing/2014/main" id="{8CE24555-02FE-4324-9E0A-D1B9029E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截至 2026.10.10：已完成开发、已有验证记录、待完成事项分别说明</a:t>
            </a:r>
          </a:p>
        </p:txBody>
      </p:sp>
    </p:spTree>
    <p:extLst>
      <p:ext uri="{BB962C8B-B14F-4D97-AF65-F5344CB8AC3E}">
        <p14:creationId xmlns:p14="http://schemas.microsoft.com/office/powerpoint/2010/main" val="10615289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工作方法的变化">
            <a:extLst xmlns:a="http://schemas.openxmlformats.org/drawingml/2006/main">
              <a:ext uri="{FF2B5EF4-FFF2-40B4-BE49-F238E27FC236}">
                <a16:creationId xmlns:a16="http://schemas.microsoft.com/office/drawing/2014/main" id="{14E06F0A-2353-4891-8960-69DD4E43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工作方法的变化</a:t>
            </a:r>
          </a:p>
        </p:txBody>
      </p:sp>
      <p:sp>
        <p:nvSpPr>
          <p:cNvPr id="2" name="第3—10份周报·小结及导师沟通记录">
            <a:extLst xmlns:a="http://schemas.openxmlformats.org/drawingml/2006/main">
              <a:ext uri="{FF2B5EF4-FFF2-40B4-BE49-F238E27FC236}">
                <a16:creationId xmlns:a16="http://schemas.microsoft.com/office/drawing/2014/main" id="{CB3D6686-3F11-4F5F-9328-9FADFC77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第3—10份周报·小结及导师沟通记录</a:t>
            </a:r>
          </a:p>
        </p:txBody>
      </p:sp>
      <p:sp>
        <p:nvSpPr>
          <p:cNvPr id="3" name="22 / 24">
            <a:extLst xmlns:a="http://schemas.openxmlformats.org/drawingml/2006/main">
              <a:ext uri="{FF2B5EF4-FFF2-40B4-BE49-F238E27FC236}">
                <a16:creationId xmlns:a16="http://schemas.microsoft.com/office/drawing/2014/main" id="{A99585AF-FF8D-407F-9CF4-34A8457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22 / 24</a:t>
            </a:r>
          </a:p>
        </p:txBody>
      </p:sp>
      <p:sp>
        <p:nvSpPr>
          <p:cNvPr id="4" name="形成的习惯">
            <a:extLst xmlns:a="http://schemas.openxmlformats.org/drawingml/2006/main">
              <a:ext uri="{FF2B5EF4-FFF2-40B4-BE49-F238E27FC236}">
                <a16:creationId xmlns:a16="http://schemas.microsoft.com/office/drawing/2014/main" id="{756F194B-9781-4960-84E0-B8F89BB9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形成的习惯</a:t>
            </a:r>
          </a:p>
        </p:txBody>
      </p:sp>
      <p:sp>
        <p:nvSpPr>
          <p:cNvPr id="5" name="仍要持续加强">
            <a:extLst xmlns:a="http://schemas.openxmlformats.org/drawingml/2006/main">
              <a:ext uri="{FF2B5EF4-FFF2-40B4-BE49-F238E27FC236}">
                <a16:creationId xmlns:a16="http://schemas.microsoft.com/office/drawing/2014/main" id="{8BB46228-612B-4AD8-BA14-CD41DEC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仍要持续加强</a:t>
            </a:r>
          </a:p>
        </p:txBody>
      </p:sp>
      <p:sp>
        <p:nvSpPr>
          <p:cNvPr id="6" name="先弄清问题">
            <a:extLst xmlns:a="http://schemas.openxmlformats.org/drawingml/2006/main">
              <a:ext uri="{FF2B5EF4-FFF2-40B4-BE49-F238E27FC236}">
                <a16:creationId xmlns:a16="http://schemas.microsoft.com/office/drawing/2014/main" id="{ED483631-DB3C-46CF-B294-ACDF873A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先弄清问题</a:t>
            </a:r>
          </a:p>
        </p:txBody>
      </p:sp>
      <p:sp>
        <p:nvSpPr>
          <p:cNvPr id="7" name="把业务现象、调用链和生成文件对应起来">
            <a:extLst xmlns:a="http://schemas.openxmlformats.org/drawingml/2006/main">
              <a:ext uri="{FF2B5EF4-FFF2-40B4-BE49-F238E27FC236}">
                <a16:creationId xmlns:a16="http://schemas.microsoft.com/office/drawing/2014/main" id="{B4405492-AB42-42E7-9904-17443F4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把业务现象、调用链和生成文件对应起来</a:t>
            </a:r>
          </a:p>
        </p:txBody>
      </p:sp>
      <p:sp>
        <p:nvSpPr>
          <p:cNvPr id="8" name="主动沟通">
            <a:extLst xmlns:a="http://schemas.openxmlformats.org/drawingml/2006/main">
              <a:ext uri="{FF2B5EF4-FFF2-40B4-BE49-F238E27FC236}">
                <a16:creationId xmlns:a16="http://schemas.microsoft.com/office/drawing/2014/main" id="{75625318-7AE0-4A7D-905B-AE75316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主动沟通</a:t>
            </a:r>
          </a:p>
        </p:txBody>
      </p:sp>
      <p:sp>
        <p:nvSpPr>
          <p:cNvPr id="9" name="遇到不确定点及时向导师及模块同事反馈">
            <a:extLst xmlns:a="http://schemas.openxmlformats.org/drawingml/2006/main">
              <a:ext uri="{FF2B5EF4-FFF2-40B4-BE49-F238E27FC236}">
                <a16:creationId xmlns:a16="http://schemas.microsoft.com/office/drawing/2014/main" id="{AB3924F1-087A-4578-BB57-53E9C333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遇到不确定点及时向导师及模块同事反馈</a:t>
            </a:r>
          </a:p>
        </p:txBody>
      </p:sp>
      <p:sp>
        <p:nvSpPr>
          <p:cNvPr id="10" name="使用 AI 辅助">
            <a:extLst xmlns:a="http://schemas.openxmlformats.org/drawingml/2006/main">
              <a:ext uri="{FF2B5EF4-FFF2-40B4-BE49-F238E27FC236}">
                <a16:creationId xmlns:a16="http://schemas.microsoft.com/office/drawing/2014/main" id="{C213F7DF-B177-4030-AECE-285FF23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使用 AI 辅助</a:t>
            </a:r>
          </a:p>
        </p:txBody>
      </p:sp>
      <p:sp>
        <p:nvSpPr>
          <p:cNvPr id="11" name="阅读代码、整理方案、生成初稿和分析日志">
            <a:extLst xmlns:a="http://schemas.openxmlformats.org/drawingml/2006/main">
              <a:ext uri="{FF2B5EF4-FFF2-40B4-BE49-F238E27FC236}">
                <a16:creationId xmlns:a16="http://schemas.microsoft.com/office/drawing/2014/main" id="{0B6EF70B-6FB0-45D9-87D3-D30E94F7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阅读代码、整理方案、生成初稿和分析日志</a:t>
            </a:r>
          </a:p>
        </p:txBody>
      </p:sp>
      <p:sp>
        <p:nvSpPr>
          <p:cNvPr id="12" name="完整性">
            <a:extLst xmlns:a="http://schemas.openxmlformats.org/drawingml/2006/main">
              <a:ext uri="{FF2B5EF4-FFF2-40B4-BE49-F238E27FC236}">
                <a16:creationId xmlns:a16="http://schemas.microsoft.com/office/drawing/2014/main" id="{FC1F1033-2B5C-4284-BD3D-ECBB59DA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完整性</a:t>
            </a:r>
          </a:p>
        </p:txBody>
      </p:sp>
      <p:sp>
        <p:nvSpPr>
          <p:cNvPr id="13" name="修改前充分评估上下游影响">
            <a:extLst xmlns:a="http://schemas.openxmlformats.org/drawingml/2006/main">
              <a:ext uri="{FF2B5EF4-FFF2-40B4-BE49-F238E27FC236}">
                <a16:creationId xmlns:a16="http://schemas.microsoft.com/office/drawing/2014/main" id="{F33B683C-CC70-4B50-A909-60A21262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修改前充分评估上下游影响</a:t>
            </a:r>
          </a:p>
        </p:txBody>
      </p:sp>
      <p:sp>
        <p:nvSpPr>
          <p:cNvPr id="14" name="验证意识">
            <a:extLst xmlns:a="http://schemas.openxmlformats.org/drawingml/2006/main">
              <a:ext uri="{FF2B5EF4-FFF2-40B4-BE49-F238E27FC236}">
                <a16:creationId xmlns:a16="http://schemas.microsoft.com/office/drawing/2014/main" id="{1D29B9FF-4114-4872-8C5C-D4A98B0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验证意识</a:t>
            </a:r>
          </a:p>
        </p:txBody>
      </p:sp>
      <p:sp>
        <p:nvSpPr>
          <p:cNvPr id="15" name="人工理解和复核工具建议，结合真实结果确认">
            <a:extLst xmlns:a="http://schemas.openxmlformats.org/drawingml/2006/main">
              <a:ext uri="{FF2B5EF4-FFF2-40B4-BE49-F238E27FC236}">
                <a16:creationId xmlns:a16="http://schemas.microsoft.com/office/drawing/2014/main" id="{0DD8F3A5-080D-46BB-B93E-5D8B086C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人工理解和复核工具建议，结合真实结果确认</a:t>
            </a:r>
          </a:p>
        </p:txBody>
      </p:sp>
      <p:sp>
        <p:nvSpPr>
          <p:cNvPr id="16" name="能力积累">
            <a:extLst xmlns:a="http://schemas.openxmlformats.org/drawingml/2006/main">
              <a:ext uri="{FF2B5EF4-FFF2-40B4-BE49-F238E27FC236}">
                <a16:creationId xmlns:a16="http://schemas.microsoft.com/office/drawing/2014/main" id="{D54AF79E-75DE-4739-AF8E-9AF90A5F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能力积累</a:t>
            </a:r>
          </a:p>
        </p:txBody>
      </p:sp>
      <p:sp>
        <p:nvSpPr>
          <p:cNvPr id="17" name="加强 C++ 实战、模拟电路知识与经验记录">
            <a:extLst xmlns:a="http://schemas.openxmlformats.org/drawingml/2006/main">
              <a:ext uri="{FF2B5EF4-FFF2-40B4-BE49-F238E27FC236}">
                <a16:creationId xmlns:a16="http://schemas.microsoft.com/office/drawing/2014/main" id="{1D987D77-5BBA-46A0-BBF6-CED62961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加强 C++ 实战、模拟电路知识与经验记录</a:t>
            </a:r>
          </a:p>
        </p:txBody>
      </p:sp>
    </p:spTree>
    <p:extLst>
      <p:ext uri="{BB962C8B-B14F-4D97-AF65-F5344CB8AC3E}">
        <p14:creationId xmlns:p14="http://schemas.microsoft.com/office/powerpoint/2010/main" val="4791831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下一阶段按验收结果推进">
            <a:extLst xmlns:a="http://schemas.openxmlformats.org/drawingml/2006/main">
              <a:ext uri="{FF2B5EF4-FFF2-40B4-BE49-F238E27FC236}">
                <a16:creationId xmlns:a16="http://schemas.microsoft.com/office/drawing/2014/main" id="{417FE074-6A68-4BAE-AED3-71CFB14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下一阶段按验收结果推进</a:t>
            </a:r>
          </a:p>
        </p:txBody>
      </p:sp>
      <p:sp>
        <p:nvSpPr>
          <p:cNvPr id="2" name="第10份周报·下周计划；优先级及验收依据为本次归纳">
            <a:extLst xmlns:a="http://schemas.openxmlformats.org/drawingml/2006/main">
              <a:ext uri="{FF2B5EF4-FFF2-40B4-BE49-F238E27FC236}">
                <a16:creationId xmlns:a16="http://schemas.microsoft.com/office/drawing/2014/main" id="{653D9CCA-B7A5-4F21-8EC1-A0C2C0D2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第10份周报·下周计划；优先级及验收依据为本次归纳</a:t>
            </a:r>
          </a:p>
        </p:txBody>
      </p:sp>
      <p:sp>
        <p:nvSpPr>
          <p:cNvPr id="3" name="23 / 24">
            <a:extLst xmlns:a="http://schemas.openxmlformats.org/drawingml/2006/main">
              <a:ext uri="{FF2B5EF4-FFF2-40B4-BE49-F238E27FC236}">
                <a16:creationId xmlns:a16="http://schemas.microsoft.com/office/drawing/2014/main" id="{F526AF76-C984-4838-998B-DB69CDE8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23 / 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71413-0CB4-456F-83A6-D8D1F735AA06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686300"/>
                <a:gridCol w="476250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计划工作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完成时应提供的依据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 VBIAS 真实电路生成与仿真验证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连接、参数回读及工作点 / 仿真结果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补齐结构变换与异常场景验证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源电路未改动、边界用例和失败回退记录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整理操作文档并推进调优流程接入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操作说明、接口输入输出与已知限制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补齐软件认证与专业知识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科目一准备、C++ 实战及模拟电路学习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以上为后续计划；按依赖关系推进，不预设未经验证的完成日期">
            <a:extLst xmlns:a="http://schemas.openxmlformats.org/drawingml/2006/main">
              <a:ext uri="{FF2B5EF4-FFF2-40B4-BE49-F238E27FC236}">
                <a16:creationId xmlns:a16="http://schemas.microsoft.com/office/drawing/2014/main" id="{5EF775AB-F72C-48E7-878F-B4CF073E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以上为后续计划；按依赖关系推进，不预设未经验证的完成日期</a:t>
            </a:r>
          </a:p>
        </p:txBody>
      </p:sp>
    </p:spTree>
    <p:extLst>
      <p:ext uri="{BB962C8B-B14F-4D97-AF65-F5344CB8AC3E}">
        <p14:creationId xmlns:p14="http://schemas.microsoft.com/office/powerpoint/2010/main" val="16722420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3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持续提高独立解决问题的能力">
            <a:extLst xmlns:a="http://schemas.openxmlformats.org/drawingml/2006/main">
              <a:ext uri="{FF2B5EF4-FFF2-40B4-BE49-F238E27FC236}">
                <a16:creationId xmlns:a16="http://schemas.microsoft.com/office/drawing/2014/main" id="{2495AE26-41BA-4244-9BCF-350C45F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持续提高独立解决问题的能力</a:t>
            </a:r>
          </a:p>
        </p:txBody>
      </p:sp>
      <p:sp>
        <p:nvSpPr>
          <p:cNvPr id="2" name="把需求和影响范围理解完整">
            <a:extLst xmlns:a="http://schemas.openxmlformats.org/drawingml/2006/main">
              <a:ext uri="{FF2B5EF4-FFF2-40B4-BE49-F238E27FC236}">
                <a16:creationId xmlns:a16="http://schemas.microsoft.com/office/drawing/2014/main" id="{FDA2A940-0863-48C1-A519-1334B7DC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rPr>
              <a:t>把需求和影响范围理解完整</a:t>
            </a:r>
          </a:p>
        </p:txBody>
      </p:sp>
      <p:sp>
        <p:nvSpPr>
          <p:cNvPr id="3" name="把真实环境验证做扎实">
            <a:extLst xmlns:a="http://schemas.openxmlformats.org/drawingml/2006/main">
              <a:ext uri="{FF2B5EF4-FFF2-40B4-BE49-F238E27FC236}">
                <a16:creationId xmlns:a16="http://schemas.microsoft.com/office/drawing/2014/main" id="{4DC8C74E-D185-4E50-85DE-E0CD23AF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rPr>
              <a:t>把真实环境验证做扎实</a:t>
            </a:r>
          </a:p>
        </p:txBody>
      </p:sp>
      <p:sp>
        <p:nvSpPr>
          <p:cNvPr id="4" name="把经验沉淀为可复用的方法">
            <a:extLst xmlns:a="http://schemas.openxmlformats.org/drawingml/2006/main">
              <a:ext uri="{FF2B5EF4-FFF2-40B4-BE49-F238E27FC236}">
                <a16:creationId xmlns:a16="http://schemas.microsoft.com/office/drawing/2014/main" id="{06E53FA5-CAAB-4DA4-930D-A4EFE12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C6DDE7"/>
                </a:solidFill>
                <a:latin typeface="Arial Unicode MS"/>
                <a:ea typeface="Arial Unicode MS"/>
                <a:cs typeface="Arial Unicode MS"/>
              </a:rPr>
              <a:t>把经验沉淀为可复用的方法</a:t>
            </a:r>
          </a:p>
        </p:txBody>
      </p:sp>
      <p:sp>
        <p:nvSpPr>
          <p:cNvPr id="5" name="请各位主管、导师指正">
            <a:extLst xmlns:a="http://schemas.openxmlformats.org/drawingml/2006/main">
              <a:ext uri="{FF2B5EF4-FFF2-40B4-BE49-F238E27FC236}">
                <a16:creationId xmlns:a16="http://schemas.microsoft.com/office/drawing/2014/main" id="{E54ABCAD-6511-408B-A57B-7043F7F6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请各位主管、导师指正</a:t>
            </a:r>
          </a:p>
        </p:txBody>
      </p:sp>
    </p:spTree>
    <p:extLst>
      <p:ext uri="{BB962C8B-B14F-4D97-AF65-F5344CB8AC3E}">
        <p14:creationId xmlns:p14="http://schemas.microsoft.com/office/powerpoint/2010/main" val="10013461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查｜DTS 问题单记录">
            <a:extLst xmlns:a="http://schemas.openxmlformats.org/drawingml/2006/main">
              <a:ext uri="{FF2B5EF4-FFF2-40B4-BE49-F238E27FC236}">
                <a16:creationId xmlns:a16="http://schemas.microsoft.com/office/drawing/2014/main" id="{1758C920-A680-4B9B-A3B2-67D6670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备查｜DTS 问题单记录</a:t>
            </a:r>
          </a:p>
        </p:txBody>
      </p:sp>
      <p:sp>
        <p:nvSpPr>
          <p:cNvPr id="2" name="第2—6份周报；编号去重共5个">
            <a:extLst xmlns:a="http://schemas.openxmlformats.org/drawingml/2006/main">
              <a:ext uri="{FF2B5EF4-FFF2-40B4-BE49-F238E27FC236}">
                <a16:creationId xmlns:a16="http://schemas.microsoft.com/office/drawing/2014/main" id="{CBDB2FB2-0D58-43FC-ACD8-324B167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第2—6份周报；编号去重共5个</a:t>
            </a:r>
          </a:p>
        </p:txBody>
      </p:sp>
      <p:sp>
        <p:nvSpPr>
          <p:cNvPr id="3" name="备查 1 / 8">
            <a:extLst xmlns:a="http://schemas.openxmlformats.org/drawingml/2006/main">
              <a:ext uri="{FF2B5EF4-FFF2-40B4-BE49-F238E27FC236}">
                <a16:creationId xmlns:a16="http://schemas.microsoft.com/office/drawing/2014/main" id="{D6E2D2E7-2566-47FA-89E8-ED594A9A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1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622D-052C-4DFE-9986-AC4E2053DC58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762500"/>
                <a:gridCol w="2781300"/>
              </a:tblGrid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周报记载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DTS2026080536041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第2周定位、复现、黄区修改；第4周计划跟进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未给出最终闭环记录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DTS2026060270314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改名后 Mapping 失败；缺少 JSON；构建验证解决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第3周明确记录验证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DTS2026082011975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Target StdCell 首次输入联想问题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第4周记录修复</a:t>
                      </a:r>
                    </a:p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后续计划验证与合入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DTS2026071514090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FloorPlan 加载中切换 / 更新路径弹窗失败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第4周记录修复</a:t>
                      </a:r>
                    </a:p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后续计划验证与合入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DTS2026082422635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 reference lib Mapping；后续涉及 Generate Pin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第5—6周持续处理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5672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查｜十份周报的主要里程碑">
            <a:extLst xmlns:a="http://schemas.openxmlformats.org/drawingml/2006/main">
              <a:ext uri="{FF2B5EF4-FFF2-40B4-BE49-F238E27FC236}">
                <a16:creationId xmlns:a16="http://schemas.microsoft.com/office/drawing/2014/main" id="{EF1D03B6-FC5F-46F4-91A4-ED2E5DB7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备查｜十份周报的主要里程碑</a:t>
            </a:r>
          </a:p>
        </p:txBody>
      </p:sp>
      <p:sp>
        <p:nvSpPr>
          <p:cNvPr id="2" name="第1—10份周报；沿用周报原始周期">
            <a:extLst xmlns:a="http://schemas.openxmlformats.org/drawingml/2006/main">
              <a:ext uri="{FF2B5EF4-FFF2-40B4-BE49-F238E27FC236}">
                <a16:creationId xmlns:a16="http://schemas.microsoft.com/office/drawing/2014/main" id="{8D511DAA-CC6F-4BFE-AC87-2D8E88BC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第1—10份周报；沿用周报原始周期</a:t>
            </a:r>
          </a:p>
        </p:txBody>
      </p:sp>
      <p:sp>
        <p:nvSpPr>
          <p:cNvPr id="3" name="备查 2 / 8">
            <a:extLst xmlns:a="http://schemas.openxmlformats.org/drawingml/2006/main">
              <a:ext uri="{FF2B5EF4-FFF2-40B4-BE49-F238E27FC236}">
                <a16:creationId xmlns:a16="http://schemas.microsoft.com/office/drawing/2014/main" id="{1A3C1331-8124-4A85-A909-ECC0E09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2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0A87-CE40-40D0-9166-B764ED845B48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周次 / 周期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  07.27—07.31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入职学习、权限环境、Virtuoso基础实验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  08.03—08.07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Mapping / Sizing Lab，跑通构建运行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  08.10—08.14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改名后Mapping失败定位与验证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  08.17—08.21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StdCell、FloorPlan问题处理，熟悉jeme链路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  08.24—08.28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多库Mapping处理，结构变换需求调研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06  08.31—09.04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需求规则澄清，科目二通过，返工复盘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07  09.07—09.11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结构调整方案串讲，代码开发推进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08  09.14—09.18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四类核心逻辑，真实电路读取与同型验证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09  09.20—09.24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自动VBIAS方案、PDK目录与接口异常处理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98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  09.28—10.10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真实环境联调、参数回读及生成流程完善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3098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查｜结构规则与验证关注点">
            <a:extLst xmlns:a="http://schemas.openxmlformats.org/drawingml/2006/main">
              <a:ext uri="{FF2B5EF4-FFF2-40B4-BE49-F238E27FC236}">
                <a16:creationId xmlns:a16="http://schemas.microsoft.com/office/drawing/2014/main" id="{C526368D-0078-4A95-A5AC-A283A9A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备查｜结构规则与验证关注点</a:t>
            </a:r>
          </a:p>
        </p:txBody>
      </p:sp>
      <p:sp>
        <p:nvSpPr>
          <p:cNvPr id="2" name="第9—10份周报">
            <a:extLst xmlns:a="http://schemas.openxmlformats.org/drawingml/2006/main">
              <a:ext uri="{FF2B5EF4-FFF2-40B4-BE49-F238E27FC236}">
                <a16:creationId xmlns:a16="http://schemas.microsoft.com/office/drawing/2014/main" id="{C977B446-0D96-4C83-87E6-BACC409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</a:t>
            </a:r>
          </a:p>
        </p:txBody>
      </p:sp>
      <p:sp>
        <p:nvSpPr>
          <p:cNvPr id="3" name="备查 3 / 8">
            <a:extLst xmlns:a="http://schemas.openxmlformats.org/drawingml/2006/main">
              <a:ext uri="{FF2B5EF4-FFF2-40B4-BE49-F238E27FC236}">
                <a16:creationId xmlns:a16="http://schemas.microsoft.com/office/drawing/2014/main" id="{CF37C726-191D-4D33-A7F5-47F46126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3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814D2-DAED-49DD-B440-11B4375036FE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048250"/>
                <a:gridCol w="3543300"/>
              </a:tblGrid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规则补充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验证关注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Cascode 共性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保持极性；NMOS 加在 Drain 侧，PMOS 加在 Source 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 Gate 功能连接和 Bulk 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同型 / 异型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相同型号 / 同极性不同型号；合法候选依赖当前 PDK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器件 master、参数范围与连接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串联电阻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保留原 MOS，在 Source 侧串联；阻值优先用户输入，再取 Case 预设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电阻识别、合法阻值、端子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MOS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各级共用原 Gate，继承原参数及 Bulk 连接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多级参数回读与属性保留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5794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查｜如何判断验证到了哪一层">
            <a:extLst xmlns:a="http://schemas.openxmlformats.org/drawingml/2006/main">
              <a:ext uri="{FF2B5EF4-FFF2-40B4-BE49-F238E27FC236}">
                <a16:creationId xmlns:a16="http://schemas.microsoft.com/office/drawing/2014/main" id="{3779EE07-5634-475E-947B-A397430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备查｜如何判断验证到了哪一层</a:t>
            </a:r>
          </a:p>
        </p:txBody>
      </p:sp>
      <p:sp>
        <p:nvSpPr>
          <p:cNvPr id="2" name="第8—10份周报；验证层级为归纳">
            <a:extLst xmlns:a="http://schemas.openxmlformats.org/drawingml/2006/main">
              <a:ext uri="{FF2B5EF4-FFF2-40B4-BE49-F238E27FC236}">
                <a16:creationId xmlns:a16="http://schemas.microsoft.com/office/drawing/2014/main" id="{9F8E2463-E0EA-4661-B0A1-3E7708C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第8—10份周报；验证层级为归纳</a:t>
            </a:r>
          </a:p>
        </p:txBody>
      </p:sp>
      <p:sp>
        <p:nvSpPr>
          <p:cNvPr id="3" name="备查 4 / 8">
            <a:extLst xmlns:a="http://schemas.openxmlformats.org/drawingml/2006/main">
              <a:ext uri="{FF2B5EF4-FFF2-40B4-BE49-F238E27FC236}">
                <a16:creationId xmlns:a16="http://schemas.microsoft.com/office/drawing/2014/main" id="{5443F3EF-C82C-46B9-A738-5567B13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4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00AE8-BAF6-4540-BF1C-EB6899534D3B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810125"/>
                <a:gridCol w="3448050"/>
              </a:tblGrid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验证层级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不能替代的检查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本地逻辑与接口检查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规则、输入、异常分支是否按预期处理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 Cadence / PDK 执行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真实电路读取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能否获得实际器件、端子与参数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生成后的结构正确性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原理图与网表回读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实际器件、连接及参数是否一致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工作点与电气性能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工作点与仿真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生成电路在指定条件下的行为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其他条件及完整主流程覆盖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6357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主流程集成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结构变换结果能否被后续调优使用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尚未执行的回归场景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4685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备查｜自动 VBIAS 可能被追问的问题">
            <a:extLst xmlns:a="http://schemas.openxmlformats.org/drawingml/2006/main">
              <a:ext uri="{FF2B5EF4-FFF2-40B4-BE49-F238E27FC236}">
                <a16:creationId xmlns:a16="http://schemas.microsoft.com/office/drawing/2014/main" id="{9252D441-B885-4C90-9D54-2F649AB4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备查｜自动 VBIAS 可能被追问的问题</a:t>
            </a:r>
          </a:p>
        </p:txBody>
      </p:sp>
      <p:sp>
        <p:nvSpPr>
          <p:cNvPr id="2" name="第9—10份周报">
            <a:extLst xmlns:a="http://schemas.openxmlformats.org/drawingml/2006/main">
              <a:ext uri="{FF2B5EF4-FFF2-40B4-BE49-F238E27FC236}">
                <a16:creationId xmlns:a16="http://schemas.microsoft.com/office/drawing/2014/main" id="{FFD6EE51-8875-4752-90FC-1CC8C1E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第9—10份周报</a:t>
            </a:r>
          </a:p>
        </p:txBody>
      </p:sp>
      <p:sp>
        <p:nvSpPr>
          <p:cNvPr id="3" name="备查 5 / 8">
            <a:extLst xmlns:a="http://schemas.openxmlformats.org/drawingml/2006/main">
              <a:ext uri="{FF2B5EF4-FFF2-40B4-BE49-F238E27FC236}">
                <a16:creationId xmlns:a16="http://schemas.microsoft.com/office/drawing/2014/main" id="{DAFB4D7D-80FF-4AF6-B08E-BDEC12B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5 / 8</a:t>
            </a:r>
          </a:p>
        </p:txBody>
      </p:sp>
      <p:sp>
        <p:nvSpPr>
          <p:cNvPr id="4" name="为什么独立生成？">
            <a:extLst xmlns:a="http://schemas.openxmlformats.org/drawingml/2006/main">
              <a:ext uri="{FF2B5EF4-FFF2-40B4-BE49-F238E27FC236}">
                <a16:creationId xmlns:a16="http://schemas.microsoft.com/office/drawing/2014/main" id="{176DC281-08E8-43CE-9F88-D68F448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为什么独立生成？</a:t>
            </a:r>
          </a:p>
        </p:txBody>
      </p:sp>
      <p:sp>
        <p:nvSpPr>
          <p:cNvPr id="5" name="现在最需要验证什么？">
            <a:extLst xmlns:a="http://schemas.openxmlformats.org/drawingml/2006/main">
              <a:ext uri="{FF2B5EF4-FFF2-40B4-BE49-F238E27FC236}">
                <a16:creationId xmlns:a16="http://schemas.microsoft.com/office/drawing/2014/main" id="{4CDFB209-3D31-4189-A6C9-EB4E346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现在最需要验证什么？</a:t>
            </a:r>
          </a:p>
        </p:txBody>
      </p:sp>
      <p:sp>
        <p:nvSpPr>
          <p:cNvPr id="6" name="方案边界">
            <a:extLst xmlns:a="http://schemas.openxmlformats.org/drawingml/2006/main">
              <a:ext uri="{FF2B5EF4-FFF2-40B4-BE49-F238E27FC236}">
                <a16:creationId xmlns:a16="http://schemas.microsoft.com/office/drawing/2014/main" id="{701352AC-CA32-46AF-95FE-CAC39C0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方案边界</a:t>
            </a:r>
          </a:p>
        </p:txBody>
      </p:sp>
      <p:sp>
        <p:nvSpPr>
          <p:cNvPr id="7" name="每个 Cascode 配套独立 VBIAS CellView">
            <a:extLst xmlns:a="http://schemas.openxmlformats.org/drawingml/2006/main">
              <a:ext uri="{FF2B5EF4-FFF2-40B4-BE49-F238E27FC236}">
                <a16:creationId xmlns:a16="http://schemas.microsoft.com/office/drawing/2014/main" id="{CC97C32B-D3D3-4536-9CD0-EE2098C1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每个 Cascode 配套独立 VBIAS CellView</a:t>
            </a:r>
          </a:p>
        </p:txBody>
      </p:sp>
      <p:sp>
        <p:nvSpPr>
          <p:cNvPr id="8" name="避免依赖">
            <a:extLst xmlns:a="http://schemas.openxmlformats.org/drawingml/2006/main">
              <a:ext uri="{FF2B5EF4-FFF2-40B4-BE49-F238E27FC236}">
                <a16:creationId xmlns:a16="http://schemas.microsoft.com/office/drawing/2014/main" id="{B5DFF2F1-78E0-42B8-A0A3-2E48C55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避免依赖</a:t>
            </a:r>
          </a:p>
        </p:txBody>
      </p:sp>
      <p:sp>
        <p:nvSpPr>
          <p:cNvPr id="9" name="不直接复用原电路 Bias 支路">
            <a:extLst xmlns:a="http://schemas.openxmlformats.org/drawingml/2006/main">
              <a:ext uri="{FF2B5EF4-FFF2-40B4-BE49-F238E27FC236}">
                <a16:creationId xmlns:a16="http://schemas.microsoft.com/office/drawing/2014/main" id="{E2FC9368-375D-4AFA-89CE-A559B4F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不直接复用原电路 Bias 支路</a:t>
            </a:r>
          </a:p>
        </p:txBody>
      </p:sp>
      <p:sp>
        <p:nvSpPr>
          <p:cNvPr id="10" name="器件来源">
            <a:extLst xmlns:a="http://schemas.openxmlformats.org/drawingml/2006/main">
              <a:ext uri="{FF2B5EF4-FFF2-40B4-BE49-F238E27FC236}">
                <a16:creationId xmlns:a16="http://schemas.microsoft.com/office/drawing/2014/main" id="{3E0FF9AD-8CDE-48A3-A5E1-283F5759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器件来源</a:t>
            </a:r>
          </a:p>
        </p:txBody>
      </p:sp>
      <p:sp>
        <p:nvSpPr>
          <p:cNvPr id="11" name="依据当前 PDK 筛选真实器件">
            <a:extLst xmlns:a="http://schemas.openxmlformats.org/drawingml/2006/main">
              <a:ext uri="{FF2B5EF4-FFF2-40B4-BE49-F238E27FC236}">
                <a16:creationId xmlns:a16="http://schemas.microsoft.com/office/drawing/2014/main" id="{B3CFC601-1F80-4768-9417-C9371865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依据当前 PDK 筛选真实器件</a:t>
            </a:r>
          </a:p>
        </p:txBody>
      </p:sp>
      <p:sp>
        <p:nvSpPr>
          <p:cNvPr id="12" name="实际生成">
            <a:extLst xmlns:a="http://schemas.openxmlformats.org/drawingml/2006/main">
              <a:ext uri="{FF2B5EF4-FFF2-40B4-BE49-F238E27FC236}">
                <a16:creationId xmlns:a16="http://schemas.microsoft.com/office/drawing/2014/main" id="{E475FC15-4003-4491-A78F-FD32FA2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实际生成</a:t>
            </a:r>
          </a:p>
        </p:txBody>
      </p:sp>
      <p:sp>
        <p:nvSpPr>
          <p:cNvPr id="13" name="封装内部器件、端子与连接是否正确">
            <a:extLst xmlns:a="http://schemas.openxmlformats.org/drawingml/2006/main">
              <a:ext uri="{FF2B5EF4-FFF2-40B4-BE49-F238E27FC236}">
                <a16:creationId xmlns:a16="http://schemas.microsoft.com/office/drawing/2014/main" id="{E74923B0-46C4-4674-BA31-92BC53A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封装内部器件、端子与连接是否正确</a:t>
            </a:r>
          </a:p>
        </p:txBody>
      </p:sp>
      <p:sp>
        <p:nvSpPr>
          <p:cNvPr id="14" name="参数回读">
            <a:extLst xmlns:a="http://schemas.openxmlformats.org/drawingml/2006/main">
              <a:ext uri="{FF2B5EF4-FFF2-40B4-BE49-F238E27FC236}">
                <a16:creationId xmlns:a16="http://schemas.microsoft.com/office/drawing/2014/main" id="{0392BBFB-AE3F-4657-BCC1-9AC28037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参数回读</a:t>
            </a:r>
          </a:p>
        </p:txBody>
      </p:sp>
      <p:sp>
        <p:nvSpPr>
          <p:cNvPr id="15" name="设置值、默认值与回调后结果是否一致">
            <a:extLst xmlns:a="http://schemas.openxmlformats.org/drawingml/2006/main">
              <a:ext uri="{FF2B5EF4-FFF2-40B4-BE49-F238E27FC236}">
                <a16:creationId xmlns:a16="http://schemas.microsoft.com/office/drawing/2014/main" id="{98718238-31C6-4880-AB59-F98D5416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设置值、默认值与回调后结果是否一致</a:t>
            </a:r>
          </a:p>
        </p:txBody>
      </p:sp>
      <p:sp>
        <p:nvSpPr>
          <p:cNvPr id="16" name="工作点结果">
            <a:extLst xmlns:a="http://schemas.openxmlformats.org/drawingml/2006/main">
              <a:ext uri="{FF2B5EF4-FFF2-40B4-BE49-F238E27FC236}">
                <a16:creationId xmlns:a16="http://schemas.microsoft.com/office/drawing/2014/main" id="{E2F2A224-F68A-412A-8018-0DB4324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工作点结果</a:t>
            </a:r>
          </a:p>
        </p:txBody>
      </p:sp>
      <p:sp>
        <p:nvSpPr>
          <p:cNvPr id="17" name="结果是否属于本次电路与仿真条件">
            <a:extLst xmlns:a="http://schemas.openxmlformats.org/drawingml/2006/main">
              <a:ext uri="{FF2B5EF4-FFF2-40B4-BE49-F238E27FC236}">
                <a16:creationId xmlns:a16="http://schemas.microsoft.com/office/drawing/2014/main" id="{FF33A601-5BF0-4DE3-8445-60CEF7B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结果是否属于本次电路与仿真条件</a:t>
            </a:r>
          </a:p>
        </p:txBody>
      </p:sp>
    </p:spTree>
    <p:extLst>
      <p:ext uri="{BB962C8B-B14F-4D97-AF65-F5344CB8AC3E}">
        <p14:creationId xmlns:p14="http://schemas.microsoft.com/office/powerpoint/2010/main" val="14005865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备查｜个人贡献与协作边界">
            <a:extLst xmlns:a="http://schemas.openxmlformats.org/drawingml/2006/main">
              <a:ext uri="{FF2B5EF4-FFF2-40B4-BE49-F238E27FC236}">
                <a16:creationId xmlns:a16="http://schemas.microsoft.com/office/drawing/2014/main" id="{9DF1B337-A9AC-4B44-BF48-4F4F3F7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备查｜个人贡献与协作边界</a:t>
            </a:r>
          </a:p>
        </p:txBody>
      </p:sp>
      <p:sp>
        <p:nvSpPr>
          <p:cNvPr id="2" name="第3—10份周报；不延伸为整项目独立负责">
            <a:extLst xmlns:a="http://schemas.openxmlformats.org/drawingml/2006/main">
              <a:ext uri="{FF2B5EF4-FFF2-40B4-BE49-F238E27FC236}">
                <a16:creationId xmlns:a16="http://schemas.microsoft.com/office/drawing/2014/main" id="{11BD1989-D03B-4741-98BA-A4504FB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第3—10份周报；不延伸为整项目独立负责</a:t>
            </a:r>
          </a:p>
        </p:txBody>
      </p:sp>
      <p:sp>
        <p:nvSpPr>
          <p:cNvPr id="3" name="备查 6 / 8">
            <a:extLst xmlns:a="http://schemas.openxmlformats.org/drawingml/2006/main">
              <a:ext uri="{FF2B5EF4-FFF2-40B4-BE49-F238E27FC236}">
                <a16:creationId xmlns:a16="http://schemas.microsoft.com/office/drawing/2014/main" id="{4E5BE0C6-7BD8-426F-8FE4-027ECACF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6 / 8</a:t>
            </a:r>
          </a:p>
        </p:txBody>
      </p:sp>
      <p:sp>
        <p:nvSpPr>
          <p:cNvPr id="4" name="我实际推进的工作">
            <a:extLst xmlns:a="http://schemas.openxmlformats.org/drawingml/2006/main">
              <a:ext uri="{FF2B5EF4-FFF2-40B4-BE49-F238E27FC236}">
                <a16:creationId xmlns:a16="http://schemas.microsoft.com/office/drawing/2014/main" id="{0AED4665-E30D-49E4-8EF4-03ED6C20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我实际推进的工作</a:t>
            </a:r>
          </a:p>
        </p:txBody>
      </p:sp>
      <p:sp>
        <p:nvSpPr>
          <p:cNvPr id="5" name="协作方式">
            <a:extLst xmlns:a="http://schemas.openxmlformats.org/drawingml/2006/main">
              <a:ext uri="{FF2B5EF4-FFF2-40B4-BE49-F238E27FC236}">
                <a16:creationId xmlns:a16="http://schemas.microsoft.com/office/drawing/2014/main" id="{5CB53D84-E0EF-4E1F-8FB3-155E4D3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90675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协作方式</a:t>
            </a:r>
          </a:p>
        </p:txBody>
      </p:sp>
      <p:sp>
        <p:nvSpPr>
          <p:cNvPr id="6" name="问题处理">
            <a:extLst xmlns:a="http://schemas.openxmlformats.org/drawingml/2006/main">
              <a:ext uri="{FF2B5EF4-FFF2-40B4-BE49-F238E27FC236}">
                <a16:creationId xmlns:a16="http://schemas.microsoft.com/office/drawing/2014/main" id="{09929026-F811-477F-9D20-3B2BC098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问题处理</a:t>
            </a:r>
          </a:p>
        </p:txBody>
      </p:sp>
      <p:sp>
        <p:nvSpPr>
          <p:cNvPr id="7" name="定位、复现、代码修改与验证推进">
            <a:extLst xmlns:a="http://schemas.openxmlformats.org/drawingml/2006/main">
              <a:ext uri="{FF2B5EF4-FFF2-40B4-BE49-F238E27FC236}">
                <a16:creationId xmlns:a16="http://schemas.microsoft.com/office/drawing/2014/main" id="{DF18377B-3173-4E1B-B6B7-907030F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定位、复现、代码修改与验证推进</a:t>
            </a:r>
          </a:p>
        </p:txBody>
      </p:sp>
      <p:sp>
        <p:nvSpPr>
          <p:cNvPr id="8" name="需求开发">
            <a:extLst xmlns:a="http://schemas.openxmlformats.org/drawingml/2006/main">
              <a:ext uri="{FF2B5EF4-FFF2-40B4-BE49-F238E27FC236}">
                <a16:creationId xmlns:a16="http://schemas.microsoft.com/office/drawing/2014/main" id="{74B0C341-2082-4E1D-9696-3697D016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需求开发</a:t>
            </a:r>
          </a:p>
        </p:txBody>
      </p:sp>
      <p:sp>
        <p:nvSpPr>
          <p:cNvPr id="9" name="规则梳理、方案整理和核心逻辑实现">
            <a:extLst xmlns:a="http://schemas.openxmlformats.org/drawingml/2006/main">
              <a:ext uri="{FF2B5EF4-FFF2-40B4-BE49-F238E27FC236}">
                <a16:creationId xmlns:a16="http://schemas.microsoft.com/office/drawing/2014/main" id="{C80CC168-AA92-4659-BC5F-9B010B2E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规则梳理、方案整理和核心逻辑实现</a:t>
            </a:r>
          </a:p>
        </p:txBody>
      </p:sp>
      <p:sp>
        <p:nvSpPr>
          <p:cNvPr id="10" name="真实环境">
            <a:extLst xmlns:a="http://schemas.openxmlformats.org/drawingml/2006/main">
              <a:ext uri="{FF2B5EF4-FFF2-40B4-BE49-F238E27FC236}">
                <a16:creationId xmlns:a16="http://schemas.microsoft.com/office/drawing/2014/main" id="{DF01142E-4F37-4D42-A5FB-937AB3D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92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真实环境</a:t>
            </a:r>
          </a:p>
        </p:txBody>
      </p:sp>
      <p:sp>
        <p:nvSpPr>
          <p:cNvPr id="11" name="工具接入、日志分析、参数与网表核对">
            <a:extLst xmlns:a="http://schemas.openxmlformats.org/drawingml/2006/main">
              <a:ext uri="{FF2B5EF4-FFF2-40B4-BE49-F238E27FC236}">
                <a16:creationId xmlns:a16="http://schemas.microsoft.com/office/drawing/2014/main" id="{1D37AA8F-7DD1-4E92-87F0-BE2FB37E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24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工具接入、日志分析、参数与网表核对</a:t>
            </a:r>
          </a:p>
        </p:txBody>
      </p:sp>
      <p:sp>
        <p:nvSpPr>
          <p:cNvPr id="12" name="导师与同事">
            <a:extLst xmlns:a="http://schemas.openxmlformats.org/drawingml/2006/main">
              <a:ext uri="{FF2B5EF4-FFF2-40B4-BE49-F238E27FC236}">
                <a16:creationId xmlns:a16="http://schemas.microsoft.com/office/drawing/2014/main" id="{FFA211EC-6A1D-41A0-B51F-CD55A04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导师与同事</a:t>
            </a:r>
          </a:p>
        </p:txBody>
      </p:sp>
      <p:sp>
        <p:nvSpPr>
          <p:cNvPr id="13" name="需求串讲、接口确认、困难及时反馈">
            <a:extLst xmlns:a="http://schemas.openxmlformats.org/drawingml/2006/main">
              <a:ext uri="{FF2B5EF4-FFF2-40B4-BE49-F238E27FC236}">
                <a16:creationId xmlns:a16="http://schemas.microsoft.com/office/drawing/2014/main" id="{B7D6A335-6F15-431F-A196-CC479B7B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需求串讲、接口确认、困难及时反馈</a:t>
            </a:r>
          </a:p>
        </p:txBody>
      </p:sp>
      <p:sp>
        <p:nvSpPr>
          <p:cNvPr id="14" name="原模块开发者">
            <a:extLst xmlns:a="http://schemas.openxmlformats.org/drawingml/2006/main">
              <a:ext uri="{FF2B5EF4-FFF2-40B4-BE49-F238E27FC236}">
                <a16:creationId xmlns:a16="http://schemas.microsoft.com/office/drawing/2014/main" id="{C2F0782C-7DE8-4124-B6E4-4CC7B948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原模块开发者</a:t>
            </a:r>
          </a:p>
        </p:txBody>
      </p:sp>
      <p:sp>
        <p:nvSpPr>
          <p:cNvPr id="15" name="确认设计考虑，减少理解偏差">
            <a:extLst xmlns:a="http://schemas.openxmlformats.org/drawingml/2006/main">
              <a:ext uri="{FF2B5EF4-FFF2-40B4-BE49-F238E27FC236}">
                <a16:creationId xmlns:a16="http://schemas.microsoft.com/office/drawing/2014/main" id="{93E81DD7-531F-4927-9634-7720E15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确认设计考虑，减少理解偏差</a:t>
            </a:r>
          </a:p>
        </p:txBody>
      </p:sp>
      <p:sp>
        <p:nvSpPr>
          <p:cNvPr id="16" name="AI 工具">
            <a:extLst xmlns:a="http://schemas.openxmlformats.org/drawingml/2006/main">
              <a:ext uri="{FF2B5EF4-FFF2-40B4-BE49-F238E27FC236}">
                <a16:creationId xmlns:a16="http://schemas.microsoft.com/office/drawing/2014/main" id="{95255F6E-2DA3-4A79-A6E4-4FDE80C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AI 工具</a:t>
            </a:r>
          </a:p>
        </p:txBody>
      </p:sp>
      <p:sp>
        <p:nvSpPr>
          <p:cNvPr id="17" name="辅助阅读和初稿；本人理解、适配和核验">
            <a:extLst xmlns:a="http://schemas.openxmlformats.org/drawingml/2006/main">
              <a:ext uri="{FF2B5EF4-FFF2-40B4-BE49-F238E27FC236}">
                <a16:creationId xmlns:a16="http://schemas.microsoft.com/office/drawing/2014/main" id="{0E8BA091-E9A3-45DB-AC0E-98C04803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辅助阅读和初稿；本人理解、适配和核验</a:t>
            </a:r>
          </a:p>
        </p:txBody>
      </p:sp>
    </p:spTree>
    <p:extLst>
      <p:ext uri="{BB962C8B-B14F-4D97-AF65-F5344CB8AC3E}">
        <p14:creationId xmlns:p14="http://schemas.microsoft.com/office/powerpoint/2010/main" val="21104233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查｜培训与认证状态">
            <a:extLst xmlns:a="http://schemas.openxmlformats.org/drawingml/2006/main">
              <a:ext uri="{FF2B5EF4-FFF2-40B4-BE49-F238E27FC236}">
                <a16:creationId xmlns:a16="http://schemas.microsoft.com/office/drawing/2014/main" id="{39E53A5B-47DE-4C3B-BEC8-22B9611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备查｜培训与认证状态</a:t>
            </a:r>
          </a:p>
        </p:txBody>
      </p:sp>
      <p:sp>
        <p:nvSpPr>
          <p:cNvPr id="2" name="第1、2、6、7、10份周报">
            <a:extLst xmlns:a="http://schemas.openxmlformats.org/drawingml/2006/main">
              <a:ext uri="{FF2B5EF4-FFF2-40B4-BE49-F238E27FC236}">
                <a16:creationId xmlns:a16="http://schemas.microsoft.com/office/drawing/2014/main" id="{AF8699AD-99A3-4FC8-A643-D5A7B3DF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第1、2、6、7、10份周报</a:t>
            </a:r>
          </a:p>
        </p:txBody>
      </p:sp>
      <p:sp>
        <p:nvSpPr>
          <p:cNvPr id="3" name="备查 7 / 8">
            <a:extLst xmlns:a="http://schemas.openxmlformats.org/drawingml/2006/main">
              <a:ext uri="{FF2B5EF4-FFF2-40B4-BE49-F238E27FC236}">
                <a16:creationId xmlns:a16="http://schemas.microsoft.com/office/drawing/2014/main" id="{D6241CCE-0622-42A3-8BFD-4E9B0C98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7 / 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CA2BE-2339-403C-8765-98C3B191099B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4181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000500"/>
                <a:gridCol w="4019550"/>
              </a:tblGrid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材料中的状态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T w="9525">
                      <a:solidFill>
                        <a:srgbClr val="DCE5EB"/>
                      </a:solidFill>
                      <a:prstDash val="solid"/>
                    </a:lnT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132C43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入职必修学习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完成11项考试、24项课程及讲座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第1周记录，分类分别统计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MAAU Lab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第2周实验；第7周必备项再次记录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三营培训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第7周必备项记录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软件科目二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第6周有明确通过记录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软件科目一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截至第10周仍列入计划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35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半导体质量 C 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5EB"/>
                      </a:solidFill>
                      <a:prstDash val="solid"/>
                    </a:lnL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第7周记录为未开展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后续周报未更新该项状态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5EB"/>
                      </a:solidFill>
                      <a:prstDash val="solid"/>
                    </a:lnR>
                    <a:lnB w="9525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9730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备查｜下一阶段的验收依据">
            <a:extLst xmlns:a="http://schemas.openxmlformats.org/drawingml/2006/main">
              <a:ext uri="{FF2B5EF4-FFF2-40B4-BE49-F238E27FC236}">
                <a16:creationId xmlns:a16="http://schemas.microsoft.com/office/drawing/2014/main" id="{892FD2A0-8E51-4B93-9C2C-45A72B6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C43"/>
                </a:solidFill>
                <a:latin typeface="Arial Unicode MS"/>
                <a:ea typeface="Arial Unicode MS"/>
                <a:cs typeface="Arial Unicode MS"/>
              </a:rPr>
              <a:t>备查｜下一阶段的验收依据</a:t>
            </a:r>
          </a:p>
        </p:txBody>
      </p:sp>
      <p:sp>
        <p:nvSpPr>
          <p:cNvPr id="2" name="第8—10份周报；验收依据为后续建议">
            <a:extLst xmlns:a="http://schemas.openxmlformats.org/drawingml/2006/main">
              <a:ext uri="{FF2B5EF4-FFF2-40B4-BE49-F238E27FC236}">
                <a16:creationId xmlns:a16="http://schemas.microsoft.com/office/drawing/2014/main" id="{FB3C1EB6-E58E-4F2B-BD21-A1BAB7F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第8—10份周报；验收依据为后续建议</a:t>
            </a:r>
          </a:p>
        </p:txBody>
      </p:sp>
      <p:sp>
        <p:nvSpPr>
          <p:cNvPr id="3" name="备查 8 / 8">
            <a:extLst xmlns:a="http://schemas.openxmlformats.org/drawingml/2006/main">
              <a:ext uri="{FF2B5EF4-FFF2-40B4-BE49-F238E27FC236}">
                <a16:creationId xmlns:a16="http://schemas.microsoft.com/office/drawing/2014/main" id="{D620BB07-1E8C-4D53-ABF8-642D6EE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备查 8 / 8</a:t>
            </a:r>
          </a:p>
        </p:txBody>
      </p:sp>
      <p:sp>
        <p:nvSpPr>
          <p:cNvPr id="4" name="让每一项完成结论都有对应结果">
            <a:extLst xmlns:a="http://schemas.openxmlformats.org/drawingml/2006/main">
              <a:ext uri="{FF2B5EF4-FFF2-40B4-BE49-F238E27FC236}">
                <a16:creationId xmlns:a16="http://schemas.microsoft.com/office/drawing/2014/main" id="{81D9DE0F-9E25-422B-A3BA-9E1F8DA1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56B9B"/>
                </a:solidFill>
                <a:latin typeface="Arial Unicode MS"/>
                <a:ea typeface="Arial Unicode MS"/>
                <a:cs typeface="Arial Unicode MS"/>
              </a:rPr>
              <a:t>让每一项完成结论都有对应结果</a:t>
            </a:r>
          </a:p>
        </p:txBody>
      </p:sp>
      <p:sp>
        <p:nvSpPr>
          <p:cNvPr id="5" name="结构与参数">
            <a:extLst xmlns:a="http://schemas.openxmlformats.org/drawingml/2006/main">
              <a:ext uri="{FF2B5EF4-FFF2-40B4-BE49-F238E27FC236}">
                <a16:creationId xmlns:a16="http://schemas.microsoft.com/office/drawing/2014/main" id="{8D6A7214-3693-41FC-ADF9-152F809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结构与参数</a:t>
            </a:r>
          </a:p>
        </p:txBody>
      </p:sp>
      <p:sp>
        <p:nvSpPr>
          <p:cNvPr id="6" name="源电路未改动；父子 Cell 器件、连接及参数一致">
            <a:extLst xmlns:a="http://schemas.openxmlformats.org/drawingml/2006/main">
              <a:ext uri="{FF2B5EF4-FFF2-40B4-BE49-F238E27FC236}">
                <a16:creationId xmlns:a16="http://schemas.microsoft.com/office/drawing/2014/main" id="{EA866796-1D2C-4F10-B5C9-B0C446A5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源电路未改动；父子 Cell 器件、连接及参数一致</a:t>
            </a:r>
          </a:p>
        </p:txBody>
      </p:sp>
      <p:sp>
        <p:nvSpPr>
          <p:cNvPr id="7" name="失败与恢复">
            <a:extLst xmlns:a="http://schemas.openxmlformats.org/drawingml/2006/main">
              <a:ext uri="{FF2B5EF4-FFF2-40B4-BE49-F238E27FC236}">
                <a16:creationId xmlns:a16="http://schemas.microsoft.com/office/drawing/2014/main" id="{4A16864D-3ED9-4079-9656-5576438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失败与恢复</a:t>
            </a:r>
          </a:p>
        </p:txBody>
      </p:sp>
      <p:sp>
        <p:nvSpPr>
          <p:cNvPr id="8" name="异常分类明确；失败回退后已有结果保持可用">
            <a:extLst xmlns:a="http://schemas.openxmlformats.org/drawingml/2006/main">
              <a:ext uri="{FF2B5EF4-FFF2-40B4-BE49-F238E27FC236}">
                <a16:creationId xmlns:a16="http://schemas.microsoft.com/office/drawing/2014/main" id="{B18584F3-2FD0-447A-B629-E7421B1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2427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异常分类明确；失败回退后已有结果保持可用</a:t>
            </a:r>
          </a:p>
        </p:txBody>
      </p:sp>
      <p:sp>
        <p:nvSpPr>
          <p:cNvPr id="9" name="仿真与接口">
            <a:extLst xmlns:a="http://schemas.openxmlformats.org/drawingml/2006/main">
              <a:ext uri="{FF2B5EF4-FFF2-40B4-BE49-F238E27FC236}">
                <a16:creationId xmlns:a16="http://schemas.microsoft.com/office/drawing/2014/main" id="{BEB9C5B9-75C2-4F78-9844-6EE8B76A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83"/>
                </a:solidFill>
                <a:latin typeface="Arial Unicode MS"/>
                <a:ea typeface="Arial Unicode MS"/>
                <a:cs typeface="Arial Unicode MS"/>
              </a:rPr>
              <a:t>仿真与接口</a:t>
            </a:r>
          </a:p>
        </p:txBody>
      </p:sp>
      <p:sp>
        <p:nvSpPr>
          <p:cNvPr id="10" name="工作点结果可追溯；输入输出能够接入调优流程">
            <a:extLst xmlns:a="http://schemas.openxmlformats.org/drawingml/2006/main">
              <a:ext uri="{FF2B5EF4-FFF2-40B4-BE49-F238E27FC236}">
                <a16:creationId xmlns:a16="http://schemas.microsoft.com/office/drawing/2014/main" id="{7E9C7650-8D69-4DF7-B359-DFDD3D5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33925"/>
            <a:ext cx="8267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8324A"/>
                </a:solidFill>
                <a:latin typeface="Arial Unicode MS"/>
                <a:ea typeface="Arial Unicode MS"/>
                <a:cs typeface="Arial Unicode MS"/>
              </a:rPr>
              <a:t>工作点结果可追溯；输入输出能够接入调优流程</a:t>
            </a:r>
          </a:p>
        </p:txBody>
      </p:sp>
      <p:sp>
        <p:nvSpPr>
          <p:cNvPr id="11" name="需结合真实环境补齐证据，再更新“已完成”的范围">
            <a:extLst xmlns:a="http://schemas.openxmlformats.org/drawingml/2006/main">
              <a:ext uri="{FF2B5EF4-FFF2-40B4-BE49-F238E27FC236}">
                <a16:creationId xmlns:a16="http://schemas.microsoft.com/office/drawing/2014/main" id="{D9019248-3CCA-4EE7-BAC4-84AEBE69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0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D6D79"/>
                </a:solidFill>
                <a:latin typeface="Arial Unicode MS"/>
                <a:ea typeface="Arial Unicode MS"/>
                <a:cs typeface="Arial Unicode MS"/>
              </a:rPr>
              <a:t>需结合真实环境补齐证据，再更新“已完成”的范围</a:t>
            </a:r>
          </a:p>
        </p:txBody>
      </p:sp>
    </p:spTree>
    <p:extLst>
      <p:ext uri="{BB962C8B-B14F-4D97-AF65-F5344CB8AC3E}">
        <p14:creationId xmlns:p14="http://schemas.microsoft.com/office/powerpoint/2010/main" val="935636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2026-10-13T08:23:49.2430000Z</dcterms:created>
  <dcterms:modified xsi:type="dcterms:W3CDTF">2026-10-13T08:23:49.2430000Z</dcterms:modified>
</coreProperties>
</file>