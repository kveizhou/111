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e-1"/>
          <p:cNvSpPr/>
          <p:nvPr>
            <p:extLst>
              <p:ext uri="{F5677B7D-0D2A-4D9B-9A5C-6D8D7D0E5A5D}">
                <pptd:line encoding="base64url">eyJ2aWV3Qm94IjpbMzE2LDkwXSwicG9pbnRzIjoiMCw5MCAxMzAsOTAgMTMwLDI1IDMxNiwyNSIsImN1cnZlIjoic2hhcnAifQ</pptd:line>
              </p:ext>
            </p:extLst>
          </p:nvPr>
        </p:nvSpPr>
        <p:spPr>
          <a:xfrm>
            <a:off x="7366000" y="1219200"/>
            <a:ext cx="4013200" cy="1143000"/>
          </a:xfrm>
          <a:custGeom>
            <a:avLst/>
            <a:gdLst/>
            <a:ahLst/>
            <a:cxnLst/>
            <a:rect l="l" t="t" r="r" b="b"/>
            <a:pathLst>
              <a:path w="316" h="90">
                <a:moveTo>
                  <a:pt x="0" y="90"/>
                </a:moveTo>
                <a:lnTo>
                  <a:pt x="130" y="90"/>
                </a:lnTo>
                <a:lnTo>
                  <a:pt x="130" y="25"/>
                </a:lnTo>
                <a:lnTo>
                  <a:pt x="316" y="25"/>
                </a:lnTo>
              </a:path>
            </a:pathLst>
          </a:custGeom>
          <a:noFill/>
          <a:ln w="15240">
            <a:solidFill>
              <a:srgbClr val="FFFFFF">
                <a:alpha val="12157"/>
              </a:srgbClr>
            </a:solidFill>
          </a:ln>
        </p:spPr>
      </p:sp>
      <p:sp>
        <p:nvSpPr>
          <p:cNvPr id="3" name="trace-2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3175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trace-3"/>
          <p:cNvSpPr/>
          <p:nvPr>
            <p:extLst>
              <p:ext uri="{F5677B7D-0D2A-4D9B-9A5C-6D8D7D0E5A5D}">
                <pptd:line encoding="base64url">eyJ2aWV3Qm94IjpbMzU2LDYwXSwicG9pbnRzIjoiMCw1MCAxNzAsNTAgMTcwLDEwIDM1NiwxMCIsImN1cnZlIjoic2hhcnAifQ</pptd:line>
              </p:ext>
            </p:extLst>
          </p:nvPr>
        </p:nvSpPr>
        <p:spPr>
          <a:xfrm>
            <a:off x="6858000" y="4826000"/>
            <a:ext cx="4521200" cy="762000"/>
          </a:xfrm>
          <a:custGeom>
            <a:avLst/>
            <a:gdLst/>
            <a:ahLst/>
            <a:cxnLst/>
            <a:rect l="l" t="t" r="r" b="b"/>
            <a:pathLst>
              <a:path w="356" h="60">
                <a:moveTo>
                  <a:pt x="0" y="50"/>
                </a:moveTo>
                <a:lnTo>
                  <a:pt x="170" y="50"/>
                </a:lnTo>
                <a:lnTo>
                  <a:pt x="170" y="10"/>
                </a:lnTo>
                <a:lnTo>
                  <a:pt x="356" y="10"/>
                </a:lnTo>
              </a:path>
            </a:pathLst>
          </a:custGeom>
          <a:noFill/>
          <a:ln w="15240">
            <a:solidFill>
              <a:srgbClr val="FFFFFF">
                <a:alpha val="7059"/>
              </a:srgbClr>
            </a:solidFill>
          </a:ln>
        </p:spPr>
      </p:sp>
      <p:sp>
        <p:nvSpPr>
          <p:cNvPr id="5" name="pad-1a"/>
          <p:cNvSpPr/>
          <p:nvPr/>
        </p:nvSpPr>
        <p:spPr>
          <a:xfrm>
            <a:off x="7321550" y="2317750"/>
            <a:ext cx="88900" cy="88900"/>
          </a:xfrm>
          <a:prstGeom prst="ellipse">
            <a:avLst/>
          </a:prstGeom>
          <a:solidFill>
            <a:srgbClr val="CC8354">
              <a:alpha val="40000"/>
            </a:srgbClr>
          </a:solidFill>
          <a:ln>
            <a:noFill/>
          </a:ln>
        </p:spPr>
      </p:sp>
      <p:sp>
        <p:nvSpPr>
          <p:cNvPr id="6" name="pad-1b"/>
          <p:cNvSpPr/>
          <p:nvPr/>
        </p:nvSpPr>
        <p:spPr>
          <a:xfrm>
            <a:off x="11334750" y="14922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" name="pad-2a"/>
          <p:cNvSpPr/>
          <p:nvPr/>
        </p:nvSpPr>
        <p:spPr>
          <a:xfrm>
            <a:off x="7829550" y="3321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8" name="pad-2b"/>
          <p:cNvSpPr/>
          <p:nvPr/>
        </p:nvSpPr>
        <p:spPr>
          <a:xfrm>
            <a:off x="11334750" y="3829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9" name="pad-3a"/>
          <p:cNvSpPr/>
          <p:nvPr/>
        </p:nvSpPr>
        <p:spPr>
          <a:xfrm>
            <a:off x="6813550" y="5416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10" name="pad-3b"/>
          <p:cNvSpPr/>
          <p:nvPr/>
        </p:nvSpPr>
        <p:spPr>
          <a:xfrm>
            <a:off x="11334750" y="4908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1" name="kicker"/>
          <p:cNvSpPr txBox="1"/>
          <p:nvPr/>
        </p:nvSpPr>
        <p:spPr>
          <a:xfrm>
            <a:off x="812800" y="1117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 spc="300" kern="0">
                <a:solidFill>
                  <a:srgbClr val="CC8354"/>
                </a:solidFill>
                <a:latin typeface="MiSans"/>
                <a:ea typeface="MiSans"/>
              </a:rPr>
              <a:t>物理设计工具部 · 新员工试用期</a:t>
            </a:r>
            <a:endParaRPr lang="en-US" sz="1150" noProof="1"/>
          </a:p>
        </p:txBody>
      </p:sp>
      <p:sp>
        <p:nvSpPr>
          <p:cNvPr id="12" name="title"/>
          <p:cNvSpPr txBox="1"/>
          <p:nvPr/>
        </p:nvSpPr>
        <p:spPr>
          <a:xfrm>
            <a:off x="787400" y="1524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 b="1">
                <a:solidFill>
                  <a:srgbClr val="F2EFE6"/>
                </a:solidFill>
                <a:latin typeface="MiSans"/>
                <a:ea typeface="MiSans"/>
              </a:rPr>
              <a:t>新员工中期答辩</a:t>
            </a:r>
            <a:endParaRPr lang="en-US" sz="4200" noProof="1"/>
          </a:p>
        </p:txBody>
      </p:sp>
      <p:sp>
        <p:nvSpPr>
          <p:cNvPr id="13" name="theme-line"/>
          <p:cNvSpPr txBox="1"/>
          <p:nvPr/>
        </p:nvSpPr>
        <p:spPr>
          <a:xfrm>
            <a:off x="812800" y="24638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B9C2D4"/>
                </a:solidFill>
                <a:latin typeface="MiSans"/>
                <a:ea typeface="MiSans"/>
              </a:rPr>
              <a:t>从融入团队，到独立承接 LDO 结构变换需求</a:t>
            </a:r>
            <a:endParaRPr lang="en-US" sz="1500" noProof="1"/>
          </a:p>
        </p:txBody>
      </p:sp>
      <p:sp>
        <p:nvSpPr>
          <p:cNvPr id="14" name="rule"/>
          <p:cNvSpPr/>
          <p:nvPr/>
        </p:nvSpPr>
        <p:spPr>
          <a:xfrm>
            <a:off x="812800" y="30226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15" name="info"/>
          <p:cNvSpPr txBox="1"/>
          <p:nvPr/>
        </p:nvSpPr>
        <p:spPr>
          <a:xfrm>
            <a:off x="812800" y="3784600"/>
            <a:ext cx="5969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汇报人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周可玮 · 00981589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导　师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路家林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直接主管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张子昌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汇报周期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2026.07.27 – 2026.10.10（第 1–10 周）</a:t>
            </a:r>
            <a:endParaRPr lang="en-US" sz="1250" noProof="1"/>
          </a:p>
        </p:txBody>
      </p:sp>
      <p:sp>
        <p:nvSpPr>
          <p:cNvPr id="16" name="date"/>
          <p:cNvSpPr txBox="1"/>
          <p:nvPr/>
        </p:nvSpPr>
        <p:spPr>
          <a:xfrm>
            <a:off x="10109200" y="6096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E97AC"/>
                </a:solidFill>
                <a:latin typeface="MiSans"/>
                <a:ea typeface="MiSans"/>
              </a:rPr>
              <a:t>2026.10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CONTENTS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目录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3462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toc-num-1"/>
          <p:cNvSpPr txBox="1"/>
          <p:nvPr/>
        </p:nvSpPr>
        <p:spPr>
          <a:xfrm>
            <a:off x="812800" y="17018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2400" noProof="1"/>
          </a:p>
        </p:txBody>
      </p:sp>
      <p:sp>
        <p:nvSpPr>
          <p:cNvPr id="6" name="toc-title-1"/>
          <p:cNvSpPr txBox="1"/>
          <p:nvPr/>
        </p:nvSpPr>
        <p:spPr>
          <a:xfrm>
            <a:off x="1676400" y="1727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自我介绍</a:t>
            </a:r>
            <a:endParaRPr lang="en-US" sz="1700" noProof="1"/>
          </a:p>
        </p:txBody>
      </p:sp>
      <p:sp>
        <p:nvSpPr>
          <p:cNvPr id="7" name="toc-desc-1"/>
          <p:cNvSpPr txBox="1"/>
          <p:nvPr/>
        </p:nvSpPr>
        <p:spPr>
          <a:xfrm>
            <a:off x="1676400" y="21082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部门与团队 · 教育经历 · 工作经历</a:t>
            </a:r>
            <a:endParaRPr lang="en-US" sz="1150" noProof="1"/>
          </a:p>
        </p:txBody>
      </p:sp>
      <p:sp>
        <p:nvSpPr>
          <p:cNvPr id="8" name="toc-line-1"/>
          <p:cNvSpPr/>
          <p:nvPr/>
        </p:nvSpPr>
        <p:spPr>
          <a:xfrm>
            <a:off x="1676400" y="25146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toc-num-2"/>
          <p:cNvSpPr txBox="1"/>
          <p:nvPr/>
        </p:nvSpPr>
        <p:spPr>
          <a:xfrm>
            <a:off x="812800" y="27940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2400" noProof="1"/>
          </a:p>
        </p:txBody>
      </p:sp>
      <p:sp>
        <p:nvSpPr>
          <p:cNvPr id="10" name="toc-title-2"/>
          <p:cNvSpPr txBox="1"/>
          <p:nvPr/>
        </p:nvSpPr>
        <p:spPr>
          <a:xfrm>
            <a:off x="1676400" y="2819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试用期学习与工作内容</a:t>
            </a:r>
            <a:endParaRPr lang="en-US" sz="1700" noProof="1"/>
          </a:p>
        </p:txBody>
      </p:sp>
      <p:sp>
        <p:nvSpPr>
          <p:cNvPr id="11" name="toc-desc-2"/>
          <p:cNvSpPr txBox="1"/>
          <p:nvPr/>
        </p:nvSpPr>
        <p:spPr>
          <a:xfrm>
            <a:off x="1676400" y="32004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十周总览 · 学习认证 · 模块定位 · 工作输出</a:t>
            </a:r>
            <a:endParaRPr lang="en-US" sz="1150" noProof="1"/>
          </a:p>
        </p:txBody>
      </p:sp>
      <p:sp>
        <p:nvSpPr>
          <p:cNvPr id="12" name="toc-line-2"/>
          <p:cNvSpPr/>
          <p:nvPr/>
        </p:nvSpPr>
        <p:spPr>
          <a:xfrm>
            <a:off x="1676400" y="36068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toc-num-3"/>
          <p:cNvSpPr txBox="1"/>
          <p:nvPr/>
        </p:nvSpPr>
        <p:spPr>
          <a:xfrm>
            <a:off x="812800" y="38862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2400" noProof="1"/>
          </a:p>
        </p:txBody>
      </p:sp>
      <p:sp>
        <p:nvSpPr>
          <p:cNvPr id="14" name="toc-title-3"/>
          <p:cNvSpPr txBox="1"/>
          <p:nvPr/>
        </p:nvSpPr>
        <p:spPr>
          <a:xfrm>
            <a:off x="1676400" y="3911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主要工作成果</a:t>
            </a:r>
            <a:endParaRPr lang="en-US" sz="1700" noProof="1"/>
          </a:p>
        </p:txBody>
      </p:sp>
      <p:sp>
        <p:nvSpPr>
          <p:cNvPr id="15" name="toc-desc-3"/>
          <p:cNvSpPr txBox="1"/>
          <p:nvPr/>
        </p:nvSpPr>
        <p:spPr>
          <a:xfrm>
            <a:off x="1676400" y="42926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成果一 LDO 结构变换需求 · 成果二 DTS 问题单闭环</a:t>
            </a:r>
            <a:endParaRPr lang="en-US" sz="1150" noProof="1"/>
          </a:p>
        </p:txBody>
      </p:sp>
      <p:sp>
        <p:nvSpPr>
          <p:cNvPr id="16" name="toc-line-3"/>
          <p:cNvSpPr/>
          <p:nvPr/>
        </p:nvSpPr>
        <p:spPr>
          <a:xfrm>
            <a:off x="1676400" y="46990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7" name="toc-num-4"/>
          <p:cNvSpPr txBox="1"/>
          <p:nvPr/>
        </p:nvSpPr>
        <p:spPr>
          <a:xfrm>
            <a:off x="812800" y="49784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2400" noProof="1"/>
          </a:p>
        </p:txBody>
      </p:sp>
      <p:sp>
        <p:nvSpPr>
          <p:cNvPr id="18" name="toc-title-4"/>
          <p:cNvSpPr txBox="1"/>
          <p:nvPr/>
        </p:nvSpPr>
        <p:spPr>
          <a:xfrm>
            <a:off x="1676400" y="5003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工作思考与下一步计划</a:t>
            </a:r>
            <a:endParaRPr lang="en-US" sz="1700" noProof="1"/>
          </a:p>
        </p:txBody>
      </p:sp>
      <p:sp>
        <p:nvSpPr>
          <p:cNvPr id="19" name="toc-desc-4"/>
          <p:cNvSpPr txBox="1"/>
          <p:nvPr/>
        </p:nvSpPr>
        <p:spPr>
          <a:xfrm>
            <a:off x="1676400" y="53848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收获与不足 · 困难与协作 · 下一步计划</a:t>
            </a:r>
            <a:endParaRPr lang="en-US" sz="1150" noProof="1"/>
          </a:p>
        </p:txBody>
      </p:sp>
      <p:sp>
        <p:nvSpPr>
          <p:cNvPr id="20" name="toc-line-4"/>
          <p:cNvSpPr/>
          <p:nvPr/>
        </p:nvSpPr>
        <p:spPr>
          <a:xfrm>
            <a:off x="1676400" y="57912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1" name="info-top-rule"/>
          <p:cNvSpPr/>
          <p:nvPr/>
        </p:nvSpPr>
        <p:spPr>
          <a:xfrm>
            <a:off x="8255000" y="1676400"/>
            <a:ext cx="3124200" cy="2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2" name="info-header"/>
          <p:cNvSpPr txBox="1"/>
          <p:nvPr/>
        </p:nvSpPr>
        <p:spPr>
          <a:xfrm>
            <a:off x="8255000" y="1854200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汇报信息</a:t>
            </a:r>
            <a:endParaRPr lang="en-US" sz="1200" noProof="1"/>
          </a:p>
        </p:txBody>
      </p:sp>
      <p:sp>
        <p:nvSpPr>
          <p:cNvPr id="23" name="info-body"/>
          <p:cNvSpPr txBox="1"/>
          <p:nvPr/>
        </p:nvSpPr>
        <p:spPr>
          <a:xfrm>
            <a:off x="8255000" y="226060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汇报人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周可玮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导　师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路家林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直接主管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张子昌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部　门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物理设计工具部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汇报周期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2026.07.27 – 10.10</a:t>
            </a:r>
            <a:endParaRPr lang="en-US" sz="1150" noProof="1"/>
          </a:p>
        </p:txBody>
      </p:sp>
      <p:sp>
        <p:nvSpPr>
          <p:cNvPr id="24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02 / 18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01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01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自我介绍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部门与团队　·　教育经历　·　工作经历</a:t>
            </a:r>
            <a:endParaRPr lang="en-US" sz="12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01 · 自我介绍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自我介绍：物理设计工具部 · MAAU 前端开发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left-bar"/>
          <p:cNvSpPr/>
          <p:nvPr/>
        </p:nvSpPr>
        <p:spPr>
          <a:xfrm>
            <a:off x="8128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left-h2"/>
          <p:cNvSpPr txBox="1"/>
          <p:nvPr/>
        </p:nvSpPr>
        <p:spPr>
          <a:xfrm>
            <a:off x="990600" y="1600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基本信息</a:t>
            </a:r>
            <a:endParaRPr lang="en-US" sz="1400" noProof="1"/>
          </a:p>
        </p:txBody>
      </p:sp>
      <p:sp>
        <p:nvSpPr>
          <p:cNvPr id="7" name="info-name"/>
          <p:cNvSpPr txBox="1"/>
          <p:nvPr/>
        </p:nvSpPr>
        <p:spPr>
          <a:xfrm>
            <a:off x="812800" y="2032000"/>
            <a:ext cx="538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B2A4A"/>
                </a:solidFill>
                <a:latin typeface="MiSans"/>
                <a:ea typeface="MiSans"/>
              </a:rPr>
              <a:t>周可玮</a:t>
            </a: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　工号 00981589</a:t>
            </a:r>
            <a:endParaRPr lang="en-US" sz="1600" noProof="1"/>
          </a:p>
        </p:txBody>
      </p:sp>
      <p:sp>
        <p:nvSpPr>
          <p:cNvPr id="8" name="info-body"/>
          <p:cNvSpPr txBox="1"/>
          <p:nvPr/>
        </p:nvSpPr>
        <p:spPr>
          <a:xfrm>
            <a:off x="812800" y="2641600"/>
            <a:ext cx="53848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部　　门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欧几里德开发部 · 物理设计工具部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岗位方向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MAAU 前端功能开发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导　　师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路家林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直接主管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张子昌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入职时间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2026.07.27</a:t>
            </a:r>
            <a:endParaRPr lang="en-US" sz="1200" noProof="1"/>
          </a:p>
        </p:txBody>
      </p:sp>
      <p:sp>
        <p:nvSpPr>
          <p:cNvPr id="9" name="info-line"/>
          <p:cNvSpPr/>
          <p:nvPr/>
        </p:nvSpPr>
        <p:spPr>
          <a:xfrm>
            <a:off x="812800" y="4826000"/>
            <a:ext cx="53848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0" name="team-note"/>
          <p:cNvSpPr txBox="1"/>
          <p:nvPr/>
        </p:nvSpPr>
        <p:spPr>
          <a:xfrm>
            <a:off x="812800" y="5029200"/>
            <a:ext cx="53848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所在团队负责 MAAU 模拟电路自动设计工具的开发与维护，前端提供 Mapping（电路结构映射）与 Sizing（器件尺寸优化）核心能力。</a:t>
            </a:r>
            <a:endParaRPr lang="en-US" sz="1100" noProof="1"/>
          </a:p>
        </p:txBody>
      </p:sp>
      <p:sp>
        <p:nvSpPr>
          <p:cNvPr id="11" name="edu-bar"/>
          <p:cNvSpPr/>
          <p:nvPr/>
        </p:nvSpPr>
        <p:spPr>
          <a:xfrm>
            <a:off x="68580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2" name="edu-h2"/>
          <p:cNvSpPr txBox="1"/>
          <p:nvPr/>
        </p:nvSpPr>
        <p:spPr>
          <a:xfrm>
            <a:off x="7035800" y="1600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教育经历</a:t>
            </a:r>
            <a:endParaRPr lang="en-US" sz="1400" noProof="1"/>
          </a:p>
        </p:txBody>
      </p:sp>
      <p:sp>
        <p:nvSpPr>
          <p:cNvPr id="13" name="edu-body"/>
          <p:cNvSpPr txBox="1"/>
          <p:nvPr/>
        </p:nvSpPr>
        <p:spPr>
          <a:xfrm>
            <a:off x="6858000" y="2006600"/>
            <a:ext cx="4521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（待补充：毕业院校 / 专业 / 学历 / 在校研究方向）</a:t>
            </a:r>
            <a:endParaRPr lang="en-US" sz="1150" noProof="1"/>
          </a:p>
        </p:txBody>
      </p:sp>
      <p:sp>
        <p:nvSpPr>
          <p:cNvPr id="14" name="edu-line"/>
          <p:cNvSpPr/>
          <p:nvPr/>
        </p:nvSpPr>
        <p:spPr>
          <a:xfrm>
            <a:off x="6858000" y="30480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5" name="work-bar"/>
          <p:cNvSpPr/>
          <p:nvPr/>
        </p:nvSpPr>
        <p:spPr>
          <a:xfrm>
            <a:off x="6858000" y="3314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6" name="work-h2"/>
          <p:cNvSpPr txBox="1"/>
          <p:nvPr/>
        </p:nvSpPr>
        <p:spPr>
          <a:xfrm>
            <a:off x="7035800" y="3276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此前工作 / 实习经历</a:t>
            </a:r>
            <a:endParaRPr lang="en-US" sz="1400" noProof="1"/>
          </a:p>
        </p:txBody>
      </p:sp>
      <p:sp>
        <p:nvSpPr>
          <p:cNvPr id="17" name="work-body"/>
          <p:cNvSpPr txBox="1"/>
          <p:nvPr/>
        </p:nvSpPr>
        <p:spPr>
          <a:xfrm>
            <a:off x="6858000" y="3683000"/>
            <a:ext cx="4521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（待补充：入职前的工作或实习经历）</a:t>
            </a:r>
            <a:endParaRPr lang="en-US" sz="1150" noProof="1"/>
          </a:p>
        </p:txBody>
      </p:sp>
      <p:sp>
        <p:nvSpPr>
          <p:cNvPr id="18" name="work-line"/>
          <p:cNvSpPr/>
          <p:nvPr/>
        </p:nvSpPr>
        <p:spPr>
          <a:xfrm>
            <a:off x="6858000" y="47244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04 / 18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02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02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试用期学习与工作内容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十周总览　·　学习与认证　·　模块定位　·　工作输出</a:t>
            </a:r>
            <a:endParaRPr lang="en-US" sz="12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十周总览：从环境融入到独立承接需求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tl-axis"/>
          <p:cNvSpPr/>
          <p:nvPr/>
        </p:nvSpPr>
        <p:spPr>
          <a:xfrm>
            <a:off x="1016000" y="2476500"/>
            <a:ext cx="10160000" cy="20320"/>
          </a:xfrm>
          <a:prstGeom prst="rect">
            <a:avLst/>
          </a:prstGeom>
          <a:solidFill>
            <a:srgbClr val="D5CFC0"/>
          </a:solidFill>
          <a:ln>
            <a:noFill/>
          </a:ln>
        </p:spPr>
      </p:sp>
      <p:sp>
        <p:nvSpPr>
          <p:cNvPr id="6" name="tl-seg-1"/>
          <p:cNvSpPr/>
          <p:nvPr/>
        </p:nvSpPr>
        <p:spPr>
          <a:xfrm>
            <a:off x="1016000" y="2456180"/>
            <a:ext cx="1930400" cy="60960"/>
          </a:xfrm>
          <a:prstGeom prst="rect">
            <a:avLst/>
          </a:prstGeom>
          <a:solidFill>
            <a:srgbClr val="B9B2A2"/>
          </a:solidFill>
          <a:ln>
            <a:noFill/>
          </a:ln>
        </p:spPr>
      </p:sp>
      <p:sp>
        <p:nvSpPr>
          <p:cNvPr id="7" name="tl-seg-2"/>
          <p:cNvSpPr/>
          <p:nvPr/>
        </p:nvSpPr>
        <p:spPr>
          <a:xfrm>
            <a:off x="3149600" y="2456180"/>
            <a:ext cx="3759200" cy="6096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8" name="tl-seg-3"/>
          <p:cNvSpPr/>
          <p:nvPr/>
        </p:nvSpPr>
        <p:spPr>
          <a:xfrm>
            <a:off x="7112000" y="2456180"/>
            <a:ext cx="4064000" cy="6096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9" name="tl-dot-1"/>
          <p:cNvSpPr/>
          <p:nvPr/>
        </p:nvSpPr>
        <p:spPr>
          <a:xfrm>
            <a:off x="9652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B9B2A2"/>
            </a:solidFill>
          </a:ln>
        </p:spPr>
      </p:sp>
      <p:sp>
        <p:nvSpPr>
          <p:cNvPr id="10" name="tl-dot-2"/>
          <p:cNvSpPr/>
          <p:nvPr/>
        </p:nvSpPr>
        <p:spPr>
          <a:xfrm>
            <a:off x="30988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1B2A4A"/>
            </a:solidFill>
          </a:ln>
        </p:spPr>
      </p:sp>
      <p:sp>
        <p:nvSpPr>
          <p:cNvPr id="11" name="tl-dot-3"/>
          <p:cNvSpPr/>
          <p:nvPr/>
        </p:nvSpPr>
        <p:spPr>
          <a:xfrm>
            <a:off x="70612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B4632C"/>
            </a:solidFill>
          </a:ln>
        </p:spPr>
      </p:sp>
      <p:sp>
        <p:nvSpPr>
          <p:cNvPr id="12" name="tl-dot-4"/>
          <p:cNvSpPr/>
          <p:nvPr/>
        </p:nvSpPr>
        <p:spPr>
          <a:xfrm>
            <a:off x="11125200" y="2435860"/>
            <a:ext cx="101600" cy="10160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3" name="ph1-week"/>
          <p:cNvSpPr txBox="1"/>
          <p:nvPr/>
        </p:nvSpPr>
        <p:spPr>
          <a:xfrm>
            <a:off x="1016000" y="17780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B9B2A2"/>
                </a:solidFill>
                <a:latin typeface="MiSans"/>
                <a:ea typeface="MiSans"/>
              </a:rPr>
              <a:t>W1 – W2</a:t>
            </a:r>
            <a:endParaRPr lang="en-US" sz="1050" noProof="1"/>
          </a:p>
        </p:txBody>
      </p:sp>
      <p:sp>
        <p:nvSpPr>
          <p:cNvPr id="14" name="ph1-name"/>
          <p:cNvSpPr txBox="1"/>
          <p:nvPr/>
        </p:nvSpPr>
        <p:spPr>
          <a:xfrm>
            <a:off x="1016000" y="20066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环境融入与基础搭建</a:t>
            </a:r>
            <a:endParaRPr lang="en-US" sz="1500" noProof="1"/>
          </a:p>
        </p:txBody>
      </p:sp>
      <p:sp>
        <p:nvSpPr>
          <p:cNvPr id="15" name="ph1-desc"/>
          <p:cNvSpPr txBox="1"/>
          <p:nvPr/>
        </p:nvSpPr>
        <p:spPr>
          <a:xfrm>
            <a:off x="1016000" y="2743200"/>
            <a:ext cx="1905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完成 24 门课程讲座与 11 门入职考试；搭建黄红区开发环境；Virtuoso 入门，完成 MAAU Mapping / Sizing 虚拟 Lab 实验</a:t>
            </a:r>
            <a:endParaRPr lang="en-US" sz="1050" noProof="1"/>
          </a:p>
        </p:txBody>
      </p:sp>
      <p:sp>
        <p:nvSpPr>
          <p:cNvPr id="16" name="ph2-week"/>
          <p:cNvSpPr txBox="1"/>
          <p:nvPr/>
        </p:nvSpPr>
        <p:spPr>
          <a:xfrm>
            <a:off x="3149600" y="1778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1B2A4A"/>
                </a:solidFill>
                <a:latin typeface="MiSans"/>
                <a:ea typeface="MiSans"/>
              </a:rPr>
              <a:t>W3 – W6</a:t>
            </a:r>
            <a:endParaRPr lang="en-US" sz="1050" noProof="1"/>
          </a:p>
        </p:txBody>
      </p:sp>
      <p:sp>
        <p:nvSpPr>
          <p:cNvPr id="17" name="ph2-name"/>
          <p:cNvSpPr txBox="1"/>
          <p:nvPr/>
        </p:nvSpPr>
        <p:spPr>
          <a:xfrm>
            <a:off x="3149600" y="2006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DTS 问题单实战</a:t>
            </a:r>
            <a:endParaRPr lang="en-US" sz="1500" noProof="1"/>
          </a:p>
        </p:txBody>
      </p:sp>
      <p:sp>
        <p:nvSpPr>
          <p:cNvPr id="18" name="ph2-desc"/>
          <p:cNvSpPr txBox="1"/>
          <p:nvPr/>
        </p:nvSpPr>
        <p:spPr>
          <a:xfrm>
            <a:off x="3149600" y="27432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闭环 5 个 DTS 问题单（定位 → 修复 → 验证 → 走单）；第 6 周通过软件科目二；跑通代码提交、编译构建与验证全流程</a:t>
            </a:r>
            <a:endParaRPr lang="en-US" sz="1050" noProof="1"/>
          </a:p>
        </p:txBody>
      </p:sp>
      <p:sp>
        <p:nvSpPr>
          <p:cNvPr id="19" name="ph3-week"/>
          <p:cNvSpPr txBox="1"/>
          <p:nvPr/>
        </p:nvSpPr>
        <p:spPr>
          <a:xfrm>
            <a:off x="7112000" y="1778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B4632C"/>
                </a:solidFill>
                <a:latin typeface="MiSans"/>
                <a:ea typeface="MiSans"/>
              </a:rPr>
              <a:t>W7 – W10</a:t>
            </a:r>
            <a:endParaRPr lang="en-US" sz="1050" noProof="1"/>
          </a:p>
        </p:txBody>
      </p:sp>
      <p:sp>
        <p:nvSpPr>
          <p:cNvPr id="20" name="ph3-name"/>
          <p:cNvSpPr txBox="1"/>
          <p:nvPr/>
        </p:nvSpPr>
        <p:spPr>
          <a:xfrm>
            <a:off x="7112000" y="2006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独立承接需求开发</a:t>
            </a:r>
            <a:endParaRPr lang="en-US" sz="1500" noProof="1"/>
          </a:p>
        </p:txBody>
      </p:sp>
      <p:sp>
        <p:nvSpPr>
          <p:cNvPr id="21" name="ph3-desc"/>
          <p:cNvSpPr txBox="1"/>
          <p:nvPr/>
        </p:nvSpPr>
        <p:spPr>
          <a:xfrm>
            <a:off x="7112000" y="2743200"/>
            <a:ext cx="4013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独立承接 LDO 结构变换需求：完成方案设计与串讲、核心代码开发，并在真实 Capless LDO 电路上跑通同型 Cascode 链路</a:t>
            </a:r>
            <a:endParaRPr lang="en-US" sz="1050" noProof="1"/>
          </a:p>
        </p:txBody>
      </p:sp>
      <p:sp>
        <p:nvSpPr>
          <p:cNvPr id="22" name="stat-lin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3" name="stat1-num"/>
          <p:cNvSpPr txBox="1"/>
          <p:nvPr/>
        </p:nvSpPr>
        <p:spPr>
          <a:xfrm>
            <a:off x="8128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24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门</a:t>
            </a:r>
            <a:endParaRPr lang="en-US" sz="1600" noProof="1"/>
          </a:p>
        </p:txBody>
      </p:sp>
      <p:sp>
        <p:nvSpPr>
          <p:cNvPr id="24" name="stat1-label"/>
          <p:cNvSpPr txBox="1"/>
          <p:nvPr/>
        </p:nvSpPr>
        <p:spPr>
          <a:xfrm>
            <a:off x="8128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入职课程及讲座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（第 1 周完成）</a:t>
            </a:r>
            <a:endParaRPr lang="en-US" sz="1050" noProof="1"/>
          </a:p>
        </p:txBody>
      </p:sp>
      <p:sp>
        <p:nvSpPr>
          <p:cNvPr id="25" name="stat2-num"/>
          <p:cNvSpPr txBox="1"/>
          <p:nvPr/>
        </p:nvSpPr>
        <p:spPr>
          <a:xfrm>
            <a:off x="29464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11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门</a:t>
            </a:r>
            <a:endParaRPr lang="en-US" sz="1600" noProof="1"/>
          </a:p>
        </p:txBody>
      </p:sp>
      <p:sp>
        <p:nvSpPr>
          <p:cNvPr id="26" name="stat2-label"/>
          <p:cNvSpPr txBox="1"/>
          <p:nvPr/>
        </p:nvSpPr>
        <p:spPr>
          <a:xfrm>
            <a:off x="29464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入职课程考试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（第 1 周完成）</a:t>
            </a:r>
            <a:endParaRPr lang="en-US" sz="1050" noProof="1"/>
          </a:p>
        </p:txBody>
      </p:sp>
      <p:sp>
        <p:nvSpPr>
          <p:cNvPr id="27" name="stat3-num"/>
          <p:cNvSpPr txBox="1"/>
          <p:nvPr/>
        </p:nvSpPr>
        <p:spPr>
          <a:xfrm>
            <a:off x="50800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5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个</a:t>
            </a:r>
            <a:endParaRPr lang="en-US" sz="1600" noProof="1"/>
          </a:p>
        </p:txBody>
      </p:sp>
      <p:sp>
        <p:nvSpPr>
          <p:cNvPr id="28" name="stat3-label"/>
          <p:cNvSpPr txBox="1"/>
          <p:nvPr/>
        </p:nvSpPr>
        <p:spPr>
          <a:xfrm>
            <a:off x="50800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DTS 问题单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修复并闭环</a:t>
            </a:r>
            <a:endParaRPr lang="en-US" sz="1050" noProof="1"/>
          </a:p>
        </p:txBody>
      </p:sp>
      <p:sp>
        <p:nvSpPr>
          <p:cNvPr id="29" name="stat4-num"/>
          <p:cNvSpPr txBox="1"/>
          <p:nvPr/>
        </p:nvSpPr>
        <p:spPr>
          <a:xfrm>
            <a:off x="72136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类</a:t>
            </a:r>
            <a:endParaRPr lang="en-US" sz="1600" noProof="1"/>
          </a:p>
        </p:txBody>
      </p:sp>
      <p:sp>
        <p:nvSpPr>
          <p:cNvPr id="30" name="stat4-label"/>
          <p:cNvSpPr txBox="1"/>
          <p:nvPr/>
        </p:nvSpPr>
        <p:spPr>
          <a:xfrm>
            <a:off x="72136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LDO 结构变换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方案设计</a:t>
            </a:r>
            <a:endParaRPr lang="en-US" sz="1050" noProof="1"/>
          </a:p>
        </p:txBody>
      </p:sp>
      <p:sp>
        <p:nvSpPr>
          <p:cNvPr id="31" name="stat5-num"/>
          <p:cNvSpPr txBox="1"/>
          <p:nvPr/>
        </p:nvSpPr>
        <p:spPr>
          <a:xfrm>
            <a:off x="93472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59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个</a:t>
            </a:r>
            <a:endParaRPr lang="en-US" sz="1600" noProof="1"/>
          </a:p>
        </p:txBody>
      </p:sp>
      <p:sp>
        <p:nvSpPr>
          <p:cNvPr id="32" name="stat5-label"/>
          <p:cNvSpPr txBox="1"/>
          <p:nvPr/>
        </p:nvSpPr>
        <p:spPr>
          <a:xfrm>
            <a:off x="93472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真实电路可处理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MOS 识别</a:t>
            </a:r>
            <a:endParaRPr lang="en-US" sz="1050" noProof="1"/>
          </a:p>
        </p:txBody>
      </p:sp>
      <p:sp>
        <p:nvSpPr>
          <p:cNvPr id="33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34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06 / 18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学习认证：科目二已通过，其余按计划推进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cert-table"/>
          <p:cNvGraphicFramePr>
            <a:graphicFrameLocks noGrp="1"/>
          </p:cNvGraphicFramePr>
          <p:nvPr/>
        </p:nvGraphicFramePr>
        <p:xfrm>
          <a:off x="812800" y="1625600"/>
          <a:ext cx="5689600" cy="3657600"/>
        </p:xfrm>
        <a:graphic>
          <a:graphicData uri="http://schemas.openxmlformats.org/drawingml/2006/table">
            <a:tbl>
              <a:tblPr/>
              <a:tblGrid>
                <a:gridCol w="1081024"/>
                <a:gridCol w="2105152"/>
                <a:gridCol w="1536192"/>
                <a:gridCol w="967232"/>
              </a:tblGrid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进展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入职培训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24 门课程及讲座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1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入职培训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11 门课程考试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1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可信认证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6 周通过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可信认证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软件科目一（上机）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刷题 28 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B4632C"/>
                          </a:solidFill>
                          <a:latin typeface="Times New Roman"/>
                          <a:ea typeface="Times New Roman"/>
                        </a:rPr>
                        <a:t>备考中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必培集训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研发三营培训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6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必培集训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半导体质量 C 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待统一安排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C8490"/>
                          </a:solidFill>
                          <a:latin typeface="Times New Roman"/>
                          <a:ea typeface="Times New Roman"/>
                        </a:rPr>
                        <a:t>待开展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虚拟 LAB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Maau LAB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2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6" name="right-bar"/>
          <p:cNvSpPr/>
          <p:nvPr/>
        </p:nvSpPr>
        <p:spPr>
          <a:xfrm>
            <a:off x="7061200" y="1663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right-h2"/>
          <p:cNvSpPr txBox="1"/>
          <p:nvPr/>
        </p:nvSpPr>
        <p:spPr>
          <a:xfrm>
            <a:off x="72390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业务与技术学习</a:t>
            </a:r>
            <a:endParaRPr lang="en-US" sz="1400" noProof="1"/>
          </a:p>
        </p:txBody>
      </p:sp>
      <p:sp>
        <p:nvSpPr>
          <p:cNvPr id="8" name="right-body"/>
          <p:cNvSpPr txBox="1"/>
          <p:nvPr/>
        </p:nvSpPr>
        <p:spPr>
          <a:xfrm>
            <a:off x="6858000" y="2032000"/>
            <a:ext cx="45212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模拟电路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运算放大器、带隙基准、Cascode 结构、VBIAS 偏置、Stack 分压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工具链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Virtuoso 使用与 SKILL 加载流程、cdsinit 配置与仿真执行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代码仓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MAAU 前端 Mapping / Sizing 调用链路与执行流程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C++ 实战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编程规范学习，OJ 刷题 7 道并总结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开发环境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黄红区 CLion / VSCode、Claude Code 辅助开发配置</a:t>
            </a:r>
            <a:endParaRPr lang="en-US" sz="1150" noProof="1"/>
          </a:p>
        </p:txBody>
      </p:sp>
      <p:sp>
        <p:nvSpPr>
          <p:cNvPr id="9" name="right-note-line"/>
          <p:cNvSpPr/>
          <p:nvPr/>
        </p:nvSpPr>
        <p:spPr>
          <a:xfrm>
            <a:off x="6858000" y="54356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0" name="right-note"/>
          <p:cNvSpPr txBox="1"/>
          <p:nvPr/>
        </p:nvSpPr>
        <p:spPr>
          <a:xfrm>
            <a:off x="6858000" y="5613400"/>
            <a:ext cx="452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学习路径以工作场景为导向：围绕问题单与 LDO 结构变换需求，反向补齐电路与工具知识</a:t>
            </a:r>
            <a:endParaRPr lang="en-US" sz="1050" noProof="1"/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07 / 18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模块定位：我负责的模块在 MAAU 中的位置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user-box"/>
          <p:cNvSpPr/>
          <p:nvPr/>
        </p:nvSpPr>
        <p:spPr>
          <a:xfrm>
            <a:off x="812800" y="2133600"/>
            <a:ext cx="16256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6" name="user-text"/>
          <p:cNvSpPr txBox="1"/>
          <p:nvPr/>
        </p:nvSpPr>
        <p:spPr>
          <a:xfrm>
            <a:off x="914400" y="2235200"/>
            <a:ext cx="1422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模拟电路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设计工程师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（工具用户）</a:t>
            </a:r>
            <a:endParaRPr lang="en-US" sz="16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eyJ2aWV3Qm94IjpbMjYsMl0sInBvaW50cyI6IjAsMSAyNiwxIn0</pptd:line>
              </p:ext>
            </p:extLst>
          </p:nvPr>
        </p:nvSpPr>
        <p:spPr>
          <a:xfrm>
            <a:off x="2489200" y="2628900"/>
            <a:ext cx="330200" cy="25400"/>
          </a:xfrm>
          <a:custGeom>
            <a:avLst/>
            <a:gdLst/>
            <a:ahLst/>
            <a:cxnLst/>
            <a:rect l="l" t="t" r="r" b="b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8" name="maau-box"/>
          <p:cNvSpPr/>
          <p:nvPr/>
        </p:nvSpPr>
        <p:spPr>
          <a:xfrm>
            <a:off x="2870200" y="1625600"/>
            <a:ext cx="5029200" cy="2082800"/>
          </a:xfrm>
          <a:prstGeom prst="rect">
            <a:avLst/>
          </a:prstGeom>
          <a:solidFill>
            <a:srgbClr val="FBFAF6"/>
          </a:solidFill>
          <a:ln w="19050">
            <a:solidFill>
              <a:srgbClr val="1B2A4A"/>
            </a:solidFill>
          </a:ln>
        </p:spPr>
      </p:sp>
      <p:sp>
        <p:nvSpPr>
          <p:cNvPr id="9" name="maau-label"/>
          <p:cNvSpPr txBox="1"/>
          <p:nvPr/>
        </p:nvSpPr>
        <p:spPr>
          <a:xfrm>
            <a:off x="3048000" y="17526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MAAU 前端（我所在团队开发维护）</a:t>
            </a:r>
            <a:endParaRPr lang="en-US" sz="1100" noProof="1"/>
          </a:p>
        </p:txBody>
      </p:sp>
      <p:sp>
        <p:nvSpPr>
          <p:cNvPr id="10" name="sub1-box"/>
          <p:cNvSpPr/>
          <p:nvPr/>
        </p:nvSpPr>
        <p:spPr>
          <a:xfrm>
            <a:off x="3048000" y="2108200"/>
            <a:ext cx="14732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11" name="sub1-name"/>
          <p:cNvSpPr txBox="1"/>
          <p:nvPr/>
        </p:nvSpPr>
        <p:spPr>
          <a:xfrm>
            <a:off x="30480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Mapping</a:t>
            </a:r>
            <a:endParaRPr lang="en-US" sz="1200" noProof="1"/>
          </a:p>
        </p:txBody>
      </p:sp>
      <p:sp>
        <p:nvSpPr>
          <p:cNvPr id="12" name="sub1-desc"/>
          <p:cNvSpPr txBox="1"/>
          <p:nvPr/>
        </p:nvSpPr>
        <p:spPr>
          <a:xfrm>
            <a:off x="31496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电路结构映射</a:t>
            </a:r>
            <a:endParaRPr lang="en-US" sz="950" noProof="1"/>
          </a:p>
        </p:txBody>
      </p:sp>
      <p:sp>
        <p:nvSpPr>
          <p:cNvPr id="13" name="sub2-box"/>
          <p:cNvSpPr/>
          <p:nvPr/>
        </p:nvSpPr>
        <p:spPr>
          <a:xfrm>
            <a:off x="4648200" y="2108200"/>
            <a:ext cx="14732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14" name="sub2-name"/>
          <p:cNvSpPr txBox="1"/>
          <p:nvPr/>
        </p:nvSpPr>
        <p:spPr>
          <a:xfrm>
            <a:off x="46482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Sizing</a:t>
            </a:r>
            <a:endParaRPr lang="en-US" sz="1200" noProof="1"/>
          </a:p>
        </p:txBody>
      </p:sp>
      <p:sp>
        <p:nvSpPr>
          <p:cNvPr id="15" name="sub2-desc"/>
          <p:cNvSpPr txBox="1"/>
          <p:nvPr/>
        </p:nvSpPr>
        <p:spPr>
          <a:xfrm>
            <a:off x="47498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器件尺寸优化</a:t>
            </a:r>
            <a:endParaRPr lang="en-US" sz="950" noProof="1"/>
          </a:p>
        </p:txBody>
      </p:sp>
      <p:sp>
        <p:nvSpPr>
          <p:cNvPr id="16" name="sub3-box"/>
          <p:cNvSpPr/>
          <p:nvPr/>
        </p:nvSpPr>
        <p:spPr>
          <a:xfrm>
            <a:off x="6248400" y="2108200"/>
            <a:ext cx="1473200" cy="12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32C"/>
            </a:solidFill>
          </a:ln>
        </p:spPr>
      </p:sp>
      <p:sp>
        <p:nvSpPr>
          <p:cNvPr id="17" name="sub3-name"/>
          <p:cNvSpPr txBox="1"/>
          <p:nvPr/>
        </p:nvSpPr>
        <p:spPr>
          <a:xfrm>
            <a:off x="62484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调优 · 结构变换</a:t>
            </a:r>
            <a:endParaRPr lang="en-US" sz="1200" noProof="1"/>
          </a:p>
        </p:txBody>
      </p:sp>
      <p:sp>
        <p:nvSpPr>
          <p:cNvPr id="18" name="sub3-desc"/>
          <p:cNvSpPr txBox="1"/>
          <p:nvPr/>
        </p:nvSpPr>
        <p:spPr>
          <a:xfrm>
            <a:off x="63500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 b="1">
                <a:solidFill>
                  <a:srgbClr val="B4632C"/>
                </a:solidFill>
                <a:latin typeface="MiSans"/>
                <a:ea typeface="MiSans"/>
              </a:rPr>
              <a:t>我负责</a:t>
            </a:r>
            <a:endParaRPr lang="en-US" sz="950" noProof="1"/>
          </a:p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LDO 结构调整与自动 VBIAS</a:t>
            </a:r>
            <a:endParaRPr lang="en-US" sz="950" noProof="1"/>
          </a:p>
        </p:txBody>
      </p:sp>
      <p:sp>
        <p:nvSpPr>
          <p:cNvPr id="19" name="arr2"/>
          <p:cNvSpPr/>
          <p:nvPr>
            <p:extLst>
              <p:ext uri="{F5677B7D-0D2A-4D9B-9A5C-6D8D7D0E5A5D}">
                <pptd:line encoding="base64url">eyJ2aWV3Qm94IjpbMjYsMl0sInBvaW50cyI6IjAsMSAyNiwxIn0</pptd:line>
              </p:ext>
            </p:extLst>
          </p:nvPr>
        </p:nvSpPr>
        <p:spPr>
          <a:xfrm>
            <a:off x="7950200" y="2628900"/>
            <a:ext cx="330200" cy="25400"/>
          </a:xfrm>
          <a:custGeom>
            <a:avLst/>
            <a:gdLst/>
            <a:ahLst/>
            <a:cxnLst/>
            <a:rect l="l" t="t" r="r" b="b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0" name="env-box"/>
          <p:cNvSpPr/>
          <p:nvPr/>
        </p:nvSpPr>
        <p:spPr>
          <a:xfrm>
            <a:off x="8331200" y="1625600"/>
            <a:ext cx="3048000" cy="2082800"/>
          </a:xfrm>
          <a:prstGeom prst="rect">
            <a:avLst/>
          </a:prstGeom>
          <a:solidFill>
            <a:srgbClr val="ECE8DD"/>
          </a:solidFill>
          <a:ln w="12700">
            <a:solidFill>
              <a:srgbClr val="DDD8CC"/>
            </a:solidFill>
          </a:ln>
        </p:spPr>
      </p:sp>
      <p:sp>
        <p:nvSpPr>
          <p:cNvPr id="21" name="env-label"/>
          <p:cNvSpPr txBox="1"/>
          <p:nvPr/>
        </p:nvSpPr>
        <p:spPr>
          <a:xfrm>
            <a:off x="8509000" y="1752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支撑环境</a:t>
            </a:r>
            <a:endParaRPr lang="en-US" sz="1100" noProof="1"/>
          </a:p>
        </p:txBody>
      </p:sp>
      <p:sp>
        <p:nvSpPr>
          <p:cNvPr id="22" name="env-list"/>
          <p:cNvSpPr txBox="1"/>
          <p:nvPr/>
        </p:nvSpPr>
        <p:spPr>
          <a:xfrm>
            <a:off x="8509000" y="2057400"/>
            <a:ext cx="26924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Virtuoso 设计环境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PDK 工艺库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Spectre 工作点仿真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红区服务器与 OA 库</a:t>
            </a:r>
            <a:endParaRPr lang="en-US" sz="1050" noProof="1"/>
          </a:p>
        </p:txBody>
      </p:sp>
      <p:sp>
        <p:nvSpPr>
          <p:cNvPr id="23" name="skill-bar"/>
          <p:cNvSpPr/>
          <p:nvPr/>
        </p:nvSpPr>
        <p:spPr>
          <a:xfrm>
            <a:off x="812800" y="41910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24" name="skill-h2"/>
          <p:cNvSpPr txBox="1"/>
          <p:nvPr/>
        </p:nvSpPr>
        <p:spPr>
          <a:xfrm>
            <a:off x="990600" y="41529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完成工作需要掌握的知识与技能</a:t>
            </a:r>
            <a:endParaRPr lang="en-US" sz="1400" noProof="1"/>
          </a:p>
        </p:txBody>
      </p:sp>
      <p:sp>
        <p:nvSpPr>
          <p:cNvPr id="25" name="skill-left"/>
          <p:cNvSpPr txBox="1"/>
          <p:nvPr/>
        </p:nvSpPr>
        <p:spPr>
          <a:xfrm>
            <a:off x="812800" y="4572000"/>
            <a:ext cx="5384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模拟电路基础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Cascode、VBIAS 偏置、Stack 分压、器件可靠性约束</a:t>
            </a:r>
            <a:endParaRPr lang="en-US" sz="115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业务算法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Mapping / Sizing 调用链路与执行流程、调优业务流程</a:t>
            </a:r>
            <a:endParaRPr lang="en-US" sz="1150" noProof="1"/>
          </a:p>
        </p:txBody>
      </p:sp>
      <p:sp>
        <p:nvSpPr>
          <p:cNvPr id="26" name="skill-right"/>
          <p:cNvSpPr txBox="1"/>
          <p:nvPr/>
        </p:nvSpPr>
        <p:spPr>
          <a:xfrm>
            <a:off x="6604000" y="4572000"/>
            <a:ext cx="4775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编程与工具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C++、SKILL，Virtuoso 操作与 cdsinit 配置</a:t>
            </a:r>
            <a:endParaRPr lang="en-US" sz="115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工程能力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编译构建、调试定位、测试验证与走单流程</a:t>
            </a:r>
            <a:endParaRPr lang="en-US" sz="1150" noProof="1"/>
          </a:p>
        </p:txBody>
      </p:sp>
      <p:sp>
        <p:nvSpPr>
          <p:cNvPr id="27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08 / 18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工作输出：问题单、代码、文档与认证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output-table"/>
          <p:cNvGraphicFramePr>
            <a:graphicFrameLocks noGrp="1"/>
          </p:cNvGraphicFramePr>
          <p:nvPr/>
        </p:nvGraphicFramePr>
        <p:xfrm>
          <a:off x="812800" y="1625600"/>
          <a:ext cx="10566400" cy="3810000"/>
        </p:xfrm>
        <a:graphic>
          <a:graphicData uri="http://schemas.openxmlformats.org/drawingml/2006/table">
            <a:tbl>
              <a:tblPr/>
              <a:tblGrid>
                <a:gridCol w="1479296"/>
                <a:gridCol w="9087104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输出内容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问题单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5 个 DTS 问题单完成定位、修复、验证闭环（DTS2026060270314、DTS2026080536041、DTS2026082011975、DTS2026071514090、DTS2026082422635）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问题单修复代码在黄区修改、验证并合入；LDO 结构变换核心代码——四类结构变换、独立子 Cell 封装、PDK 器件扫描、多级网表回读校验、自动 VBIAS 前置能力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文档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结构变换需求方案与串讲材料；需求、开发交接与验证文档；问题单排查笔记与 MAAU 功能操作经验记录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软件科目二已通过；研发三营培训与 Maau LAB 已完成；软件科目一刷题 28 道，备考中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note-line"/>
          <p:cNvSpPr/>
          <p:nvPr/>
        </p:nvSpPr>
        <p:spPr>
          <a:xfrm>
            <a:off x="812800" y="56896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7" name="note"/>
          <p:cNvSpPr txBox="1"/>
          <p:nvPr/>
        </p:nvSpPr>
        <p:spPr>
          <a:xfrm>
            <a:off x="812800" y="5867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代码与文档均按部门流程在黄区 / 红区环境管理与归档；问题单版本验证与走单在新版本上完成。</a:t>
            </a:r>
            <a:endParaRPr lang="en-US" sz="1050" noProof="1"/>
          </a:p>
        </p:txBody>
      </p:sp>
      <p:sp>
        <p:nvSpPr>
          <p:cNvPr id="8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09 / 18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03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03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主要工作成果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成果一 LDO 结构变换需求　·　成果二 DTS 问题单闭环</a:t>
            </a:r>
            <a:endParaRPr lang="en-US" sz="12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成果一：LDO 结构变换需求的背景、角色与进展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bg-bar"/>
          <p:cNvSpPr/>
          <p:nvPr/>
        </p:nvSpPr>
        <p:spPr>
          <a:xfrm>
            <a:off x="812800" y="1663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bg-label"/>
          <p:cNvSpPr txBox="1"/>
          <p:nvPr/>
        </p:nvSpPr>
        <p:spPr>
          <a:xfrm>
            <a:off x="990600" y="1625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背景</a:t>
            </a:r>
            <a:endParaRPr lang="en-US" sz="1300" noProof="1"/>
          </a:p>
        </p:txBody>
      </p:sp>
      <p:sp>
        <p:nvSpPr>
          <p:cNvPr id="7" name="bg-text"/>
          <p:cNvSpPr txBox="1"/>
          <p:nvPr/>
        </p:nvSpPr>
        <p:spPr>
          <a:xfrm>
            <a:off x="2159000" y="1612900"/>
            <a:ext cx="9220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模拟电路的 Cascode、串联电阻与 Stack 变换耗时且易引入连接错误。当前开发独立结构变换工具，基于真实 PDK 生成派生电路及自给电 VBIAS，并结合仿真求得满足要求的可行参数。</a:t>
            </a:r>
            <a:endParaRPr lang="en-US" sz="1150" noProof="1"/>
          </a:p>
        </p:txBody>
      </p:sp>
      <p:sp>
        <p:nvSpPr>
          <p:cNvPr id="8" name="band-line-1"/>
          <p:cNvSpPr/>
          <p:nvPr/>
        </p:nvSpPr>
        <p:spPr>
          <a:xfrm>
            <a:off x="812800" y="27432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role-bar"/>
          <p:cNvSpPr/>
          <p:nvPr/>
        </p:nvSpPr>
        <p:spPr>
          <a:xfrm>
            <a:off x="812800" y="2984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role-label"/>
          <p:cNvSpPr txBox="1"/>
          <p:nvPr/>
        </p:nvSpPr>
        <p:spPr>
          <a:xfrm>
            <a:off x="990600" y="29464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我的角色</a:t>
            </a:r>
            <a:endParaRPr lang="en-US" sz="1300" noProof="1"/>
          </a:p>
        </p:txBody>
      </p:sp>
      <p:sp>
        <p:nvSpPr>
          <p:cNvPr id="11" name="role-text"/>
          <p:cNvSpPr txBox="1"/>
          <p:nvPr/>
        </p:nvSpPr>
        <p:spPr>
          <a:xfrm>
            <a:off x="2159000" y="2933700"/>
            <a:ext cx="922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独立承接该需求：负责需求调研与待确认项澄清、四类变换与自动 VBIAS 方案设计、方案串讲、核心代码开发，以及真实电路验证推进。</a:t>
            </a:r>
            <a:endParaRPr lang="en-US" sz="1150" noProof="1"/>
          </a:p>
        </p:txBody>
      </p:sp>
      <p:sp>
        <p:nvSpPr>
          <p:cNvPr id="12" name="band-line-2"/>
          <p:cNvSpPr/>
          <p:nvPr/>
        </p:nvSpPr>
        <p:spPr>
          <a:xfrm>
            <a:off x="812800" y="38354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result-bar"/>
          <p:cNvSpPr/>
          <p:nvPr/>
        </p:nvSpPr>
        <p:spPr>
          <a:xfrm>
            <a:off x="812800" y="4076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4" name="result-label"/>
          <p:cNvSpPr txBox="1"/>
          <p:nvPr/>
        </p:nvSpPr>
        <p:spPr>
          <a:xfrm>
            <a:off x="990600" y="4038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工作成果</a:t>
            </a:r>
            <a:endParaRPr lang="en-US" sz="1300" noProof="1"/>
          </a:p>
        </p:txBody>
      </p:sp>
      <p:sp>
        <p:nvSpPr>
          <p:cNvPr id="15" name="r1-num"/>
          <p:cNvSpPr txBox="1"/>
          <p:nvPr/>
        </p:nvSpPr>
        <p:spPr>
          <a:xfrm>
            <a:off x="2159000" y="4064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1100" noProof="1"/>
          </a:p>
        </p:txBody>
      </p:sp>
      <p:sp>
        <p:nvSpPr>
          <p:cNvPr id="16" name="r1-text"/>
          <p:cNvSpPr txBox="1"/>
          <p:nvPr/>
        </p:nvSpPr>
        <p:spPr>
          <a:xfrm>
            <a:off x="2590800" y="40513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明确四类结构变换规则与独立自给电 VBIAS 方案，完成需求澄清与方案串讲</a:t>
            </a:r>
            <a:endParaRPr lang="en-US" sz="1100" noProof="1"/>
          </a:p>
        </p:txBody>
      </p:sp>
      <p:sp>
        <p:nvSpPr>
          <p:cNvPr id="17" name="r2-num"/>
          <p:cNvSpPr txBox="1"/>
          <p:nvPr/>
        </p:nvSpPr>
        <p:spPr>
          <a:xfrm>
            <a:off x="2159000" y="4622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  <p:sp>
        <p:nvSpPr>
          <p:cNvPr id="18" name="r2-text"/>
          <p:cNvSpPr txBox="1"/>
          <p:nvPr/>
        </p:nvSpPr>
        <p:spPr>
          <a:xfrm>
            <a:off x="2590800" y="46101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完成结构变换、子 Cell 封装与多级回读等核心代码；推进真实 PDK 约束绑定和电气验证</a:t>
            </a:r>
            <a:endParaRPr lang="en-US" sz="1100" noProof="1"/>
          </a:p>
        </p:txBody>
      </p:sp>
      <p:sp>
        <p:nvSpPr>
          <p:cNvPr id="19" name="r3-num"/>
          <p:cNvSpPr txBox="1"/>
          <p:nvPr/>
        </p:nvSpPr>
        <p:spPr>
          <a:xfrm>
            <a:off x="2159000" y="51816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  <p:sp>
        <p:nvSpPr>
          <p:cNvPr id="20" name="r3-text"/>
          <p:cNvSpPr txBox="1"/>
          <p:nvPr/>
        </p:nvSpPr>
        <p:spPr>
          <a:xfrm>
            <a:off x="2590800" y="51689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早期在真实 Capless LDO 上识别 59 个可处理 MOS，完成同型 Cascode 生成与回读，确认连接符合预期且源电路未变</a:t>
            </a:r>
            <a:endParaRPr lang="en-US" sz="1100" noProof="1"/>
          </a:p>
        </p:txBody>
      </p:sp>
      <p:sp>
        <p:nvSpPr>
          <p:cNvPr id="21" name="r4-num"/>
          <p:cNvSpPr txBox="1"/>
          <p:nvPr/>
        </p:nvSpPr>
        <p:spPr>
          <a:xfrm>
            <a:off x="2159000" y="5740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  <p:sp>
        <p:nvSpPr>
          <p:cNvPr id="22" name="r4-text"/>
          <p:cNvSpPr txBox="1"/>
          <p:nvPr/>
        </p:nvSpPr>
        <p:spPr>
          <a:xfrm>
            <a:off x="2590800" y="57277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截至 10 月 13 日：已取得基线 DC / OP 与现场上下文接入证据；VBIAS 真实候选及电气验收仍在推进</a:t>
            </a:r>
            <a:endParaRPr lang="en-US" sz="1100" noProof="1"/>
          </a:p>
        </p:txBody>
      </p:sp>
      <p:sp>
        <p:nvSpPr>
          <p:cNvPr id="23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4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11 / 18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LDO 结构变换：四类变换规则与自动 VBIAS 方案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g1-name"/>
          <p:cNvSpPr txBox="1"/>
          <p:nvPr/>
        </p:nvSpPr>
        <p:spPr>
          <a:xfrm>
            <a:off x="8128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同型 Cascode</a:t>
            </a:r>
            <a:endParaRPr lang="en-US" sz="1300" noProof="1"/>
          </a:p>
        </p:txBody>
      </p:sp>
      <p:sp>
        <p:nvSpPr>
          <p:cNvPr id="6" name="g1-b-d"/>
          <p:cNvSpPr/>
          <p:nvPr/>
        </p:nvSpPr>
        <p:spPr>
          <a:xfrm>
            <a:off x="11201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" name="g1-b-mos"/>
          <p:cNvSpPr/>
          <p:nvPr/>
        </p:nvSpPr>
        <p:spPr>
          <a:xfrm>
            <a:off x="9906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8" name="g1-b-mos-label"/>
          <p:cNvSpPr txBox="1"/>
          <p:nvPr/>
        </p:nvSpPr>
        <p:spPr>
          <a:xfrm>
            <a:off x="9906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9" name="g1-b-s"/>
          <p:cNvSpPr/>
          <p:nvPr/>
        </p:nvSpPr>
        <p:spPr>
          <a:xfrm>
            <a:off x="11201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0" name="g1-b-g"/>
          <p:cNvSpPr/>
          <p:nvPr/>
        </p:nvSpPr>
        <p:spPr>
          <a:xfrm>
            <a:off x="8382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1" name="g1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14224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2" name="g1-a-d"/>
          <p:cNvSpPr/>
          <p:nvPr/>
        </p:nvSpPr>
        <p:spPr>
          <a:xfrm>
            <a:off x="2479040" y="1905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3" name="g1-a-m1"/>
          <p:cNvSpPr/>
          <p:nvPr/>
        </p:nvSpPr>
        <p:spPr>
          <a:xfrm>
            <a:off x="2349500" y="20574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14" name="g1-a-m1-label"/>
          <p:cNvSpPr txBox="1"/>
          <p:nvPr/>
        </p:nvSpPr>
        <p:spPr>
          <a:xfrm>
            <a:off x="2349500" y="205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15" name="g1-a-node"/>
          <p:cNvSpPr/>
          <p:nvPr/>
        </p:nvSpPr>
        <p:spPr>
          <a:xfrm>
            <a:off x="2479040" y="23368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6" name="g1-a-dot"/>
          <p:cNvSpPr/>
          <p:nvPr/>
        </p:nvSpPr>
        <p:spPr>
          <a:xfrm>
            <a:off x="2453640" y="2407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7" name="g1-a-m2"/>
          <p:cNvSpPr/>
          <p:nvPr/>
        </p:nvSpPr>
        <p:spPr>
          <a:xfrm>
            <a:off x="2349500" y="25146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18" name="g1-a-m2-label"/>
          <p:cNvSpPr txBox="1"/>
          <p:nvPr/>
        </p:nvSpPr>
        <p:spPr>
          <a:xfrm>
            <a:off x="2349500" y="2514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19" name="g1-a-s"/>
          <p:cNvSpPr/>
          <p:nvPr/>
        </p:nvSpPr>
        <p:spPr>
          <a:xfrm>
            <a:off x="2479040" y="2794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0" name="g1-a-g1"/>
          <p:cNvSpPr/>
          <p:nvPr/>
        </p:nvSpPr>
        <p:spPr>
          <a:xfrm>
            <a:off x="2197100" y="21869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1" name="g1-a-g2"/>
          <p:cNvSpPr/>
          <p:nvPr/>
        </p:nvSpPr>
        <p:spPr>
          <a:xfrm>
            <a:off x="2197100" y="26441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2" name="g1-rule"/>
          <p:cNvSpPr txBox="1"/>
          <p:nvPr/>
        </p:nvSpPr>
        <p:spPr>
          <a:xfrm>
            <a:off x="8128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串联相同 master 的 MOS；NMOS 加在 Drain 侧，PMOS 加在 Source 侧</a:t>
            </a:r>
            <a:endParaRPr lang="en-US" sz="1050" noProof="1"/>
          </a:p>
        </p:txBody>
      </p:sp>
      <p:sp>
        <p:nvSpPr>
          <p:cNvPr id="23" name="g2-name"/>
          <p:cNvSpPr txBox="1"/>
          <p:nvPr/>
        </p:nvSpPr>
        <p:spPr>
          <a:xfrm>
            <a:off x="35052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异型 Cascode</a:t>
            </a:r>
            <a:endParaRPr lang="en-US" sz="1300" noProof="1"/>
          </a:p>
        </p:txBody>
      </p:sp>
      <p:sp>
        <p:nvSpPr>
          <p:cNvPr id="24" name="g2-b-d"/>
          <p:cNvSpPr/>
          <p:nvPr/>
        </p:nvSpPr>
        <p:spPr>
          <a:xfrm>
            <a:off x="38125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5" name="g2-b-mos"/>
          <p:cNvSpPr/>
          <p:nvPr/>
        </p:nvSpPr>
        <p:spPr>
          <a:xfrm>
            <a:off x="36830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26" name="g2-b-mos-label"/>
          <p:cNvSpPr txBox="1"/>
          <p:nvPr/>
        </p:nvSpPr>
        <p:spPr>
          <a:xfrm>
            <a:off x="36830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27" name="g2-b-s"/>
          <p:cNvSpPr/>
          <p:nvPr/>
        </p:nvSpPr>
        <p:spPr>
          <a:xfrm>
            <a:off x="38125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8" name="g2-b-g"/>
          <p:cNvSpPr/>
          <p:nvPr/>
        </p:nvSpPr>
        <p:spPr>
          <a:xfrm>
            <a:off x="35306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9" name="g2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41148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30" name="g2-a-d"/>
          <p:cNvSpPr/>
          <p:nvPr/>
        </p:nvSpPr>
        <p:spPr>
          <a:xfrm>
            <a:off x="5171440" y="1905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1" name="g2-a-m1"/>
          <p:cNvSpPr/>
          <p:nvPr/>
        </p:nvSpPr>
        <p:spPr>
          <a:xfrm>
            <a:off x="5041900" y="20574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32" name="g2-a-m1-label"/>
          <p:cNvSpPr txBox="1"/>
          <p:nvPr/>
        </p:nvSpPr>
        <p:spPr>
          <a:xfrm>
            <a:off x="5041900" y="205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33" name="g2-a-node"/>
          <p:cNvSpPr/>
          <p:nvPr/>
        </p:nvSpPr>
        <p:spPr>
          <a:xfrm>
            <a:off x="5171440" y="23368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4" name="g2-a-dot"/>
          <p:cNvSpPr/>
          <p:nvPr/>
        </p:nvSpPr>
        <p:spPr>
          <a:xfrm>
            <a:off x="5146040" y="2407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5" name="g2-a-m2"/>
          <p:cNvSpPr/>
          <p:nvPr/>
        </p:nvSpPr>
        <p:spPr>
          <a:xfrm>
            <a:off x="5041900" y="2514600"/>
            <a:ext cx="279400" cy="279400"/>
          </a:xfrm>
          <a:prstGeom prst="rect">
            <a:avLst/>
          </a:prstGeom>
          <a:solidFill>
            <a:srgbClr val="ECE8DD"/>
          </a:solidFill>
          <a:ln w="15240">
            <a:solidFill>
              <a:srgbClr val="1B2A4A"/>
            </a:solidFill>
          </a:ln>
        </p:spPr>
      </p:sp>
      <p:sp>
        <p:nvSpPr>
          <p:cNvPr id="36" name="g2-a-m2-label"/>
          <p:cNvSpPr txBox="1"/>
          <p:nvPr/>
        </p:nvSpPr>
        <p:spPr>
          <a:xfrm>
            <a:off x="5041900" y="2514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B4632C"/>
                </a:solidFill>
                <a:latin typeface="MiSans"/>
                <a:ea typeface="MiSans"/>
              </a:rPr>
              <a:t>M2</a:t>
            </a:r>
            <a:endParaRPr lang="en-US" sz="800" noProof="1"/>
          </a:p>
        </p:txBody>
      </p:sp>
      <p:sp>
        <p:nvSpPr>
          <p:cNvPr id="37" name="g2-a-s"/>
          <p:cNvSpPr/>
          <p:nvPr/>
        </p:nvSpPr>
        <p:spPr>
          <a:xfrm>
            <a:off x="5171440" y="2794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8" name="g2-a-g1"/>
          <p:cNvSpPr/>
          <p:nvPr/>
        </p:nvSpPr>
        <p:spPr>
          <a:xfrm>
            <a:off x="4889500" y="21869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9" name="g2-a-g2"/>
          <p:cNvSpPr/>
          <p:nvPr/>
        </p:nvSpPr>
        <p:spPr>
          <a:xfrm>
            <a:off x="4889500" y="26441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0" name="g2-rule"/>
          <p:cNvSpPr txBox="1"/>
          <p:nvPr/>
        </p:nvSpPr>
        <p:spPr>
          <a:xfrm>
            <a:off x="35052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串联同极性、不同 master 的 MOS；原 MOS 的 Gate 连接保持不变</a:t>
            </a:r>
            <a:endParaRPr lang="en-US" sz="1050" noProof="1"/>
          </a:p>
        </p:txBody>
      </p:sp>
      <p:sp>
        <p:nvSpPr>
          <p:cNvPr id="41" name="g3-name"/>
          <p:cNvSpPr txBox="1"/>
          <p:nvPr/>
        </p:nvSpPr>
        <p:spPr>
          <a:xfrm>
            <a:off x="61976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MOS 串联电阻</a:t>
            </a:r>
            <a:endParaRPr lang="en-US" sz="1300" noProof="1"/>
          </a:p>
        </p:txBody>
      </p:sp>
      <p:sp>
        <p:nvSpPr>
          <p:cNvPr id="42" name="g3-b-d"/>
          <p:cNvSpPr/>
          <p:nvPr/>
        </p:nvSpPr>
        <p:spPr>
          <a:xfrm>
            <a:off x="65049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3" name="g3-b-mos"/>
          <p:cNvSpPr/>
          <p:nvPr/>
        </p:nvSpPr>
        <p:spPr>
          <a:xfrm>
            <a:off x="63754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44" name="g3-b-mos-label"/>
          <p:cNvSpPr txBox="1"/>
          <p:nvPr/>
        </p:nvSpPr>
        <p:spPr>
          <a:xfrm>
            <a:off x="63754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45" name="g3-b-s"/>
          <p:cNvSpPr/>
          <p:nvPr/>
        </p:nvSpPr>
        <p:spPr>
          <a:xfrm>
            <a:off x="65049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6" name="g3-b-g"/>
          <p:cNvSpPr/>
          <p:nvPr/>
        </p:nvSpPr>
        <p:spPr>
          <a:xfrm>
            <a:off x="62230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7" name="g3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68072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48" name="g3-a-d"/>
          <p:cNvSpPr/>
          <p:nvPr/>
        </p:nvSpPr>
        <p:spPr>
          <a:xfrm>
            <a:off x="7863840" y="19304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9" name="g3-a-m"/>
          <p:cNvSpPr/>
          <p:nvPr/>
        </p:nvSpPr>
        <p:spPr>
          <a:xfrm>
            <a:off x="7734300" y="20828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50" name="g3-a-m-label"/>
          <p:cNvSpPr txBox="1"/>
          <p:nvPr/>
        </p:nvSpPr>
        <p:spPr>
          <a:xfrm>
            <a:off x="7734300" y="2082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51" name="g3-a-wire"/>
          <p:cNvSpPr/>
          <p:nvPr/>
        </p:nvSpPr>
        <p:spPr>
          <a:xfrm>
            <a:off x="7863840" y="23622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2" name="g3-a-dot"/>
          <p:cNvSpPr/>
          <p:nvPr/>
        </p:nvSpPr>
        <p:spPr>
          <a:xfrm>
            <a:off x="7838440" y="24333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3" name="g3-a-r"/>
          <p:cNvSpPr/>
          <p:nvPr/>
        </p:nvSpPr>
        <p:spPr>
          <a:xfrm>
            <a:off x="7772400" y="2514600"/>
            <a:ext cx="203200" cy="33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4632C"/>
            </a:solidFill>
          </a:ln>
        </p:spPr>
      </p:sp>
      <p:sp>
        <p:nvSpPr>
          <p:cNvPr id="54" name="g3-a-r-label"/>
          <p:cNvSpPr txBox="1"/>
          <p:nvPr/>
        </p:nvSpPr>
        <p:spPr>
          <a:xfrm>
            <a:off x="7772400" y="2514600"/>
            <a:ext cx="20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B4632C"/>
                </a:solidFill>
                <a:latin typeface="MiSans"/>
                <a:ea typeface="MiSans"/>
              </a:rPr>
              <a:t>R</a:t>
            </a:r>
            <a:endParaRPr lang="en-US" sz="900" noProof="1"/>
          </a:p>
        </p:txBody>
      </p:sp>
      <p:sp>
        <p:nvSpPr>
          <p:cNvPr id="55" name="g3-a-s"/>
          <p:cNvSpPr/>
          <p:nvPr/>
        </p:nvSpPr>
        <p:spPr>
          <a:xfrm>
            <a:off x="7863840" y="28448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6" name="g3-a-g"/>
          <p:cNvSpPr/>
          <p:nvPr/>
        </p:nvSpPr>
        <p:spPr>
          <a:xfrm>
            <a:off x="7581900" y="22123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7" name="g3-rule"/>
          <p:cNvSpPr txBox="1"/>
          <p:nvPr/>
        </p:nvSpPr>
        <p:spPr>
          <a:xfrm>
            <a:off x="61976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保留原 MOS，Source 路径串联真实 PDK 电阻，阻值用户可设</a:t>
            </a:r>
            <a:endParaRPr lang="en-US" sz="1050" noProof="1"/>
          </a:p>
        </p:txBody>
      </p:sp>
      <p:sp>
        <p:nvSpPr>
          <p:cNvPr id="58" name="g4-name"/>
          <p:cNvSpPr txBox="1"/>
          <p:nvPr/>
        </p:nvSpPr>
        <p:spPr>
          <a:xfrm>
            <a:off x="88900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多级 MOS Stack</a:t>
            </a:r>
            <a:endParaRPr lang="en-US" sz="1300" noProof="1"/>
          </a:p>
        </p:txBody>
      </p:sp>
      <p:sp>
        <p:nvSpPr>
          <p:cNvPr id="59" name="g4-b-d"/>
          <p:cNvSpPr/>
          <p:nvPr/>
        </p:nvSpPr>
        <p:spPr>
          <a:xfrm>
            <a:off x="91973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0" name="g4-b-mos"/>
          <p:cNvSpPr/>
          <p:nvPr/>
        </p:nvSpPr>
        <p:spPr>
          <a:xfrm>
            <a:off x="90678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61" name="g4-b-mos-label"/>
          <p:cNvSpPr txBox="1"/>
          <p:nvPr/>
        </p:nvSpPr>
        <p:spPr>
          <a:xfrm>
            <a:off x="90678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62" name="g4-b-s"/>
          <p:cNvSpPr/>
          <p:nvPr/>
        </p:nvSpPr>
        <p:spPr>
          <a:xfrm>
            <a:off x="91973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3" name="g4-b-g"/>
          <p:cNvSpPr/>
          <p:nvPr/>
        </p:nvSpPr>
        <p:spPr>
          <a:xfrm>
            <a:off x="89154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4" name="g4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94996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65" name="g4-a-d"/>
          <p:cNvSpPr/>
          <p:nvPr/>
        </p:nvSpPr>
        <p:spPr>
          <a:xfrm>
            <a:off x="10556240" y="1854200"/>
            <a:ext cx="20320" cy="12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6" name="g4-a-m1"/>
          <p:cNvSpPr/>
          <p:nvPr/>
        </p:nvSpPr>
        <p:spPr>
          <a:xfrm>
            <a:off x="10426700" y="1981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67" name="g4-a-m1-label"/>
          <p:cNvSpPr txBox="1"/>
          <p:nvPr/>
        </p:nvSpPr>
        <p:spPr>
          <a:xfrm>
            <a:off x="10426700" y="1981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68" name="g4-a-w1"/>
          <p:cNvSpPr/>
          <p:nvPr/>
        </p:nvSpPr>
        <p:spPr>
          <a:xfrm>
            <a:off x="10556240" y="2260600"/>
            <a:ext cx="20320" cy="10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9" name="g4-a-dot1"/>
          <p:cNvSpPr/>
          <p:nvPr/>
        </p:nvSpPr>
        <p:spPr>
          <a:xfrm>
            <a:off x="10530840" y="2280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0" name="g4-a-m2"/>
          <p:cNvSpPr/>
          <p:nvPr/>
        </p:nvSpPr>
        <p:spPr>
          <a:xfrm>
            <a:off x="10426700" y="2362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71" name="g4-a-m2-label"/>
          <p:cNvSpPr txBox="1"/>
          <p:nvPr/>
        </p:nvSpPr>
        <p:spPr>
          <a:xfrm>
            <a:off x="10426700" y="2362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M2</a:t>
            </a:r>
            <a:endParaRPr lang="en-US" sz="800" noProof="1"/>
          </a:p>
        </p:txBody>
      </p:sp>
      <p:sp>
        <p:nvSpPr>
          <p:cNvPr id="72" name="g4-a-w2"/>
          <p:cNvSpPr/>
          <p:nvPr/>
        </p:nvSpPr>
        <p:spPr>
          <a:xfrm>
            <a:off x="10556240" y="2641600"/>
            <a:ext cx="20320" cy="10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3" name="g4-a-dot2"/>
          <p:cNvSpPr/>
          <p:nvPr/>
        </p:nvSpPr>
        <p:spPr>
          <a:xfrm>
            <a:off x="10530840" y="2661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4" name="g4-a-m3"/>
          <p:cNvSpPr/>
          <p:nvPr/>
        </p:nvSpPr>
        <p:spPr>
          <a:xfrm>
            <a:off x="10426700" y="2743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75" name="g4-a-m3-label"/>
          <p:cNvSpPr txBox="1"/>
          <p:nvPr/>
        </p:nvSpPr>
        <p:spPr>
          <a:xfrm>
            <a:off x="10426700" y="2743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M3</a:t>
            </a:r>
            <a:endParaRPr lang="en-US" sz="800" noProof="1"/>
          </a:p>
        </p:txBody>
      </p:sp>
      <p:sp>
        <p:nvSpPr>
          <p:cNvPr id="76" name="g4-a-s"/>
          <p:cNvSpPr/>
          <p:nvPr/>
        </p:nvSpPr>
        <p:spPr>
          <a:xfrm>
            <a:off x="10556240" y="3022600"/>
            <a:ext cx="20320" cy="12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7" name="g4-a-bus"/>
          <p:cNvSpPr/>
          <p:nvPr/>
        </p:nvSpPr>
        <p:spPr>
          <a:xfrm>
            <a:off x="10226040" y="2120900"/>
            <a:ext cx="20320" cy="7620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8" name="g4-a-g1"/>
          <p:cNvSpPr/>
          <p:nvPr/>
        </p:nvSpPr>
        <p:spPr>
          <a:xfrm>
            <a:off x="10236200" y="2110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9" name="g4-a-g2"/>
          <p:cNvSpPr/>
          <p:nvPr/>
        </p:nvSpPr>
        <p:spPr>
          <a:xfrm>
            <a:off x="10236200" y="2491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0" name="g4-a-g3"/>
          <p:cNvSpPr/>
          <p:nvPr/>
        </p:nvSpPr>
        <p:spPr>
          <a:xfrm>
            <a:off x="10236200" y="2872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1" name="g4-a-xn"/>
          <p:cNvSpPr txBox="1"/>
          <p:nvPr/>
        </p:nvSpPr>
        <p:spPr>
          <a:xfrm>
            <a:off x="10820400" y="24130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C8490"/>
                </a:solidFill>
                <a:latin typeface="MiSans"/>
                <a:ea typeface="MiSans"/>
              </a:rPr>
              <a:t>×N</a:t>
            </a:r>
            <a:endParaRPr lang="en-US" sz="1000" noProof="1"/>
          </a:p>
        </p:txBody>
      </p:sp>
      <p:sp>
        <p:nvSpPr>
          <p:cNvPr id="82" name="g4-rule"/>
          <p:cNvSpPr txBox="1"/>
          <p:nvPr/>
        </p:nvSpPr>
        <p:spPr>
          <a:xfrm>
            <a:off x="88900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同 master 共栅，继承参数与 Bulk；无额外 VBIAS，不自动均压</a:t>
            </a:r>
            <a:endParaRPr lang="en-US" sz="1050" noProof="1"/>
          </a:p>
        </p:txBody>
      </p:sp>
      <p:sp>
        <p:nvSpPr>
          <p:cNvPr id="83" name="band-line"/>
          <p:cNvSpPr/>
          <p:nvPr/>
        </p:nvSpPr>
        <p:spPr>
          <a:xfrm>
            <a:off x="812800" y="42672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84" name="vbias-bar"/>
          <p:cNvSpPr/>
          <p:nvPr/>
        </p:nvSpPr>
        <p:spPr>
          <a:xfrm>
            <a:off x="812800" y="45466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5" name="vbias-h2"/>
          <p:cNvSpPr txBox="1"/>
          <p:nvPr/>
        </p:nvSpPr>
        <p:spPr>
          <a:xfrm>
            <a:off x="990600" y="4508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自动 VBIAS 方案</a:t>
            </a:r>
            <a:endParaRPr lang="en-US" sz="1400" noProof="1"/>
          </a:p>
        </p:txBody>
      </p:sp>
      <p:sp>
        <p:nvSpPr>
          <p:cNvPr id="86" name="vbias-body"/>
          <p:cNvSpPr txBox="1"/>
          <p:nvPr/>
        </p:nvSpPr>
        <p:spPr>
          <a:xfrm>
            <a:off x="812800" y="4876800"/>
            <a:ext cx="5384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每个 Cascode 独立自给电 VBIAS，无需外部 IREF，不复用原 Bias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使用当前 PDK 已核实器件或固定候选集，并核对合法范围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直流求解满足要求的可行参数，不追求最小功耗或面积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通用 Mirror + Replica 模板，NMOS / PMOS 采用互补连接</a:t>
            </a:r>
            <a:endParaRPr lang="en-US" sz="1100" noProof="1"/>
          </a:p>
        </p:txBody>
      </p:sp>
      <p:sp>
        <p:nvSpPr>
          <p:cNvPr id="87" name="rule-bar"/>
          <p:cNvSpPr/>
          <p:nvPr/>
        </p:nvSpPr>
        <p:spPr>
          <a:xfrm>
            <a:off x="6858000" y="45466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8" name="rule-h2"/>
          <p:cNvSpPr txBox="1"/>
          <p:nvPr/>
        </p:nvSpPr>
        <p:spPr>
          <a:xfrm>
            <a:off x="7035800" y="4508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设计约束</a:t>
            </a:r>
            <a:endParaRPr lang="en-US" sz="1400" noProof="1"/>
          </a:p>
        </p:txBody>
      </p:sp>
      <p:sp>
        <p:nvSpPr>
          <p:cNvPr id="89" name="rule-body"/>
          <p:cNvSpPr txBox="1"/>
          <p:nvPr/>
        </p:nvSpPr>
        <p:spPr>
          <a:xfrm>
            <a:off x="6858000" y="4876800"/>
            <a:ext cx="45212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源电路保持不变；极性、端子、Bulk、合法尺寸、CDF 与器件额定值均按真实 PDK 核验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功能结构与 VBIAS 分别封装，同一区域连续修改自动合并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回读一致且规定的 DC / PVT 门禁通过，才允许进入 Sizing</a:t>
            </a:r>
            <a:endParaRPr lang="en-US" sz="1100" noProof="1"/>
          </a:p>
        </p:txBody>
      </p:sp>
      <p:sp>
        <p:nvSpPr>
          <p:cNvPr id="90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91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12 / 18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LDO 结构变换：实现链路与真实电路验证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n1-box"/>
          <p:cNvSpPr/>
          <p:nvPr/>
        </p:nvSpPr>
        <p:spPr>
          <a:xfrm>
            <a:off x="812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6" name="n1-num"/>
          <p:cNvSpPr txBox="1"/>
          <p:nvPr/>
        </p:nvSpPr>
        <p:spPr>
          <a:xfrm>
            <a:off x="965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1050" noProof="1"/>
          </a:p>
        </p:txBody>
      </p:sp>
      <p:sp>
        <p:nvSpPr>
          <p:cNvPr id="7" name="n1-name"/>
          <p:cNvSpPr txBox="1"/>
          <p:nvPr/>
        </p:nvSpPr>
        <p:spPr>
          <a:xfrm>
            <a:off x="965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真实电路读取</a:t>
            </a:r>
            <a:endParaRPr lang="en-US" sz="1200" noProof="1"/>
          </a:p>
        </p:txBody>
      </p:sp>
      <p:sp>
        <p:nvSpPr>
          <p:cNvPr id="8" name="n1-sub"/>
          <p:cNvSpPr txBox="1"/>
          <p:nvPr/>
        </p:nvSpPr>
        <p:spPr>
          <a:xfrm>
            <a:off x="965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Virtuoso 网表 · 器件 · 坐标 · MOS 清单</a:t>
            </a:r>
            <a:endParaRPr lang="en-US" sz="900" noProof="1"/>
          </a:p>
        </p:txBody>
      </p:sp>
      <p:sp>
        <p:nvSpPr>
          <p:cNvPr id="9" name="arr1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2781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0" name="n2-box"/>
          <p:cNvSpPr/>
          <p:nvPr/>
        </p:nvSpPr>
        <p:spPr>
          <a:xfrm>
            <a:off x="2971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11" name="n2-num"/>
          <p:cNvSpPr txBox="1"/>
          <p:nvPr/>
        </p:nvSpPr>
        <p:spPr>
          <a:xfrm>
            <a:off x="3124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1050" noProof="1"/>
          </a:p>
        </p:txBody>
      </p:sp>
      <p:sp>
        <p:nvSpPr>
          <p:cNvPr id="12" name="n2-name"/>
          <p:cNvSpPr txBox="1"/>
          <p:nvPr/>
        </p:nvSpPr>
        <p:spPr>
          <a:xfrm>
            <a:off x="3124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PDK 合法性核对</a:t>
            </a:r>
            <a:endParaRPr lang="en-US" sz="1200" noProof="1"/>
          </a:p>
        </p:txBody>
      </p:sp>
      <p:sp>
        <p:nvSpPr>
          <p:cNvPr id="13" name="n2-sub"/>
          <p:cNvSpPr txBox="1"/>
          <p:nvPr/>
        </p:nvSpPr>
        <p:spPr>
          <a:xfrm>
            <a:off x="3124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已核实器件 / 固定候选集</a:t>
            </a:r>
            <a:endParaRPr lang="en-US" sz="900" noProof="1"/>
          </a:p>
        </p:txBody>
      </p:sp>
      <p:sp>
        <p:nvSpPr>
          <p:cNvPr id="14" name="arr2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4940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5" name="n3-box"/>
          <p:cNvSpPr/>
          <p:nvPr/>
        </p:nvSpPr>
        <p:spPr>
          <a:xfrm>
            <a:off x="5130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16" name="n3-num"/>
          <p:cNvSpPr txBox="1"/>
          <p:nvPr/>
        </p:nvSpPr>
        <p:spPr>
          <a:xfrm>
            <a:off x="5283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1050" noProof="1"/>
          </a:p>
        </p:txBody>
      </p:sp>
      <p:sp>
        <p:nvSpPr>
          <p:cNvPr id="17" name="n3-name"/>
          <p:cNvSpPr txBox="1"/>
          <p:nvPr/>
        </p:nvSpPr>
        <p:spPr>
          <a:xfrm>
            <a:off x="5283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结构与偏置生成</a:t>
            </a:r>
            <a:endParaRPr lang="en-US" sz="1200" noProof="1"/>
          </a:p>
        </p:txBody>
      </p:sp>
      <p:sp>
        <p:nvSpPr>
          <p:cNvPr id="18" name="n3-sub"/>
          <p:cNvSpPr txBox="1"/>
          <p:nvPr/>
        </p:nvSpPr>
        <p:spPr>
          <a:xfrm>
            <a:off x="5283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功能封装 · 独立 VBIAS</a:t>
            </a:r>
            <a:endParaRPr lang="en-US" sz="900" noProof="1"/>
          </a:p>
        </p:txBody>
      </p:sp>
      <p:sp>
        <p:nvSpPr>
          <p:cNvPr id="19" name="arr3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7099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0" name="n4-box"/>
          <p:cNvSpPr/>
          <p:nvPr/>
        </p:nvSpPr>
        <p:spPr>
          <a:xfrm>
            <a:off x="7289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21" name="n4-num"/>
          <p:cNvSpPr txBox="1"/>
          <p:nvPr/>
        </p:nvSpPr>
        <p:spPr>
          <a:xfrm>
            <a:off x="7442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1050" noProof="1"/>
          </a:p>
        </p:txBody>
      </p:sp>
      <p:sp>
        <p:nvSpPr>
          <p:cNvPr id="22" name="n4-name"/>
          <p:cNvSpPr txBox="1"/>
          <p:nvPr/>
        </p:nvSpPr>
        <p:spPr>
          <a:xfrm>
            <a:off x="7442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回读与分级验证</a:t>
            </a:r>
            <a:endParaRPr lang="en-US" sz="1200" noProof="1"/>
          </a:p>
        </p:txBody>
      </p:sp>
      <p:sp>
        <p:nvSpPr>
          <p:cNvPr id="23" name="n4-sub"/>
          <p:cNvSpPr txBox="1"/>
          <p:nvPr/>
        </p:nvSpPr>
        <p:spPr>
          <a:xfrm>
            <a:off x="7442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结构 / DC / 约定 PVT</a:t>
            </a:r>
            <a:endParaRPr lang="en-US" sz="900" noProof="1"/>
          </a:p>
        </p:txBody>
      </p:sp>
      <p:sp>
        <p:nvSpPr>
          <p:cNvPr id="24" name="arr4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9258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5" name="n5-box"/>
          <p:cNvSpPr/>
          <p:nvPr/>
        </p:nvSpPr>
        <p:spPr>
          <a:xfrm>
            <a:off x="9448800" y="1676400"/>
            <a:ext cx="19304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32C"/>
            </a:solidFill>
          </a:ln>
        </p:spPr>
      </p:sp>
      <p:sp>
        <p:nvSpPr>
          <p:cNvPr id="26" name="n5-num"/>
          <p:cNvSpPr txBox="1"/>
          <p:nvPr/>
        </p:nvSpPr>
        <p:spPr>
          <a:xfrm>
            <a:off x="9601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05</a:t>
            </a:r>
            <a:endParaRPr lang="en-US" sz="1050" noProof="1"/>
          </a:p>
        </p:txBody>
      </p:sp>
      <p:sp>
        <p:nvSpPr>
          <p:cNvPr id="27" name="n5-name"/>
          <p:cNvSpPr txBox="1"/>
          <p:nvPr/>
        </p:nvSpPr>
        <p:spPr>
          <a:xfrm>
            <a:off x="9601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按验证范围发布</a:t>
            </a:r>
            <a:endParaRPr lang="en-US" sz="1200" noProof="1"/>
          </a:p>
        </p:txBody>
      </p:sp>
      <p:sp>
        <p:nvSpPr>
          <p:cNvPr id="28" name="n5-sub"/>
          <p:cNvSpPr txBox="1"/>
          <p:nvPr/>
        </p:nvSpPr>
        <p:spPr>
          <a:xfrm>
            <a:off x="9601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结构就绪 / Sizing 就绪</a:t>
            </a:r>
            <a:endParaRPr lang="en-US" sz="900" noProof="1"/>
          </a:p>
        </p:txBody>
      </p:sp>
      <p:sp>
        <p:nvSpPr>
          <p:cNvPr id="29" name="ver-bar"/>
          <p:cNvSpPr/>
          <p:nvPr/>
        </p:nvSpPr>
        <p:spPr>
          <a:xfrm>
            <a:off x="812800" y="31242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0" name="ver-h2"/>
          <p:cNvSpPr txBox="1"/>
          <p:nvPr/>
        </p:nvSpPr>
        <p:spPr>
          <a:xfrm>
            <a:off x="990600" y="3086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真实验证进展 · 截至 10 月 13 日</a:t>
            </a:r>
            <a:endParaRPr lang="en-US" sz="1400" noProof="1"/>
          </a:p>
        </p:txBody>
      </p:sp>
      <p:sp>
        <p:nvSpPr>
          <p:cNvPr id="31" name="ver-body"/>
          <p:cNvSpPr txBox="1"/>
          <p:nvPr/>
        </p:nvSpPr>
        <p:spPr>
          <a:xfrm>
            <a:off x="812800" y="3479800"/>
            <a:ext cx="5537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● 已取得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早期同型 Cascode 生成与回读记录；当前基线单 Corner DC 收敛、目标 OP 读取与现场上下文接入已通过。尚未证明新 VBIAS 电气可用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◐ 进行中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推进真实 PDK 约束绑定与固定候选集核实，重点补齐耐压、Bulk、几何映射及电阻额定规则；随后推进自动 VBIAS 的真实候选验证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7C8490"/>
                </a:solidFill>
                <a:latin typeface="MiSans"/>
                <a:ea typeface="MiSans"/>
              </a:rPr>
              <a:t>○ 待验收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同型 / 异型 Cascode 的真实 OA 候选与回读、可行参数及约定的启动 / 稳定性 / PVT；PVT 使用同一组固定参数</a:t>
            </a:r>
            <a:endParaRPr lang="en-US" sz="1100" noProof="1"/>
          </a:p>
        </p:txBody>
      </p:sp>
      <p:sp>
        <p:nvSpPr>
          <p:cNvPr id="32" name="qual-bar"/>
          <p:cNvSpPr/>
          <p:nvPr/>
        </p:nvSpPr>
        <p:spPr>
          <a:xfrm>
            <a:off x="6858000" y="31242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3" name="qual-h2"/>
          <p:cNvSpPr txBox="1"/>
          <p:nvPr/>
        </p:nvSpPr>
        <p:spPr>
          <a:xfrm>
            <a:off x="7035800" y="3086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工程质量机制</a:t>
            </a:r>
            <a:endParaRPr lang="en-US" sz="1400" noProof="1"/>
          </a:p>
        </p:txBody>
      </p:sp>
      <p:sp>
        <p:nvSpPr>
          <p:cNvPr id="34" name="qual-body"/>
          <p:cNvSpPr txBox="1"/>
          <p:nvPr/>
        </p:nvSpPr>
        <p:spPr>
          <a:xfrm>
            <a:off x="6858000" y="3479800"/>
            <a:ext cx="4521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暂存生成、整组发布、失败回退，运行失败不破坏已有结果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每个参数候选均生成真实 OA 并回读；结构验收、DC / PVT 与完整性能分别记录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不计算整机精确 IQ；仍检查必要节点、供电轨、新增 VBIAS 电流及原电路变化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沿用现场模型环境，核对路径 / section 与基本指纹；不递归封存内部依赖，加载失败仍拒绝</a:t>
            </a:r>
            <a:endParaRPr lang="en-US" sz="1100" noProof="1"/>
          </a:p>
        </p:txBody>
      </p:sp>
      <p:sp>
        <p:nvSpPr>
          <p:cNvPr id="35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36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13 / 18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成果二：五个 DTS 问题单全部闭环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dts-table"/>
          <p:cNvGraphicFramePr>
            <a:graphicFrameLocks noGrp="1"/>
          </p:cNvGraphicFramePr>
          <p:nvPr/>
        </p:nvGraphicFramePr>
        <p:xfrm>
          <a:off x="812800" y="1574800"/>
          <a:ext cx="10566400" cy="3276600"/>
        </p:xfrm>
        <a:graphic>
          <a:graphicData uri="http://schemas.openxmlformats.org/drawingml/2006/table">
            <a:tbl>
              <a:tblPr/>
              <a:tblGrid>
                <a:gridCol w="2007616"/>
                <a:gridCol w="4649216"/>
                <a:gridCol w="3909568"/>
              </a:tblGrid>
              <a:tr h="42595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问题单号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问题现象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处理与结果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DTS2026060270314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不解析电路改名后 Mapping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定位为缺少对应 JSON 文件；黄区修改代码，编译验证后闭环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DTS2026080536041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Mapping By Libs 打开 / 改名 / 不解析场景下 Mapping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根因定位与复现；跟进新修改方案，完成验证闭环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DTS2026082011975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Target StdCell 首次输入字符串无法联想预期结果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完成修复、验证与代码合入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DTS2026071514090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FloorPlan 未 Loading 完成时切换或更新 cds Path 弹窗失败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完成修复、验证与代码合入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DTS2026082422635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三个及以上 reference dut lib 映射不成功；Generate Pin 恢复默认端口不匹配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完成修复，并在新版本上验证走单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6" name="bottom-bar-1"/>
          <p:cNvSpPr/>
          <p:nvPr/>
        </p:nvSpPr>
        <p:spPr>
          <a:xfrm>
            <a:off x="812800" y="5143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bottom-h2-1"/>
          <p:cNvSpPr txBox="1"/>
          <p:nvPr/>
        </p:nvSpPr>
        <p:spPr>
          <a:xfrm>
            <a:off x="990600" y="5105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实战收获</a:t>
            </a:r>
            <a:endParaRPr lang="en-US" sz="1400" noProof="1"/>
          </a:p>
        </p:txBody>
      </p:sp>
      <p:sp>
        <p:nvSpPr>
          <p:cNvPr id="8" name="bottom-body-1"/>
          <p:cNvSpPr txBox="1"/>
          <p:nvPr/>
        </p:nvSpPr>
        <p:spPr>
          <a:xfrm>
            <a:off x="812800" y="5486400"/>
            <a:ext cx="538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跑通代码提交、编译构建、程序运行与验证走单全流程；掌握 Mapping / Sizing 核心调用链与数据流转</a:t>
            </a:r>
            <a:endParaRPr lang="en-US" sz="1100" noProof="1"/>
          </a:p>
        </p:txBody>
      </p:sp>
      <p:sp>
        <p:nvSpPr>
          <p:cNvPr id="9" name="bottom-bar-2"/>
          <p:cNvSpPr/>
          <p:nvPr/>
        </p:nvSpPr>
        <p:spPr>
          <a:xfrm>
            <a:off x="6858000" y="5143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bottom-h2-2"/>
          <p:cNvSpPr txBox="1"/>
          <p:nvPr/>
        </p:nvSpPr>
        <p:spPr>
          <a:xfrm>
            <a:off x="7035800" y="5105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经验沉淀</a:t>
            </a:r>
            <a:endParaRPr lang="en-US" sz="1400" noProof="1"/>
          </a:p>
        </p:txBody>
      </p:sp>
      <p:sp>
        <p:nvSpPr>
          <p:cNvPr id="11" name="bottom-body-2"/>
          <p:cNvSpPr txBox="1"/>
          <p:nvPr/>
        </p:nvSpPr>
        <p:spPr>
          <a:xfrm>
            <a:off x="6858000" y="5486400"/>
            <a:ext cx="4521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整理 MAAU 功能操作与生成文件作用笔记；编译方式、配置未生效等踩坑点留档，同类问题快速复用</a:t>
            </a:r>
            <a:endParaRPr lang="en-US" sz="11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14 / 18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04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04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工作思考与下一步计划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收获与不足　·　困难与协作　·　下一步计划</a:t>
            </a:r>
            <a:endParaRPr lang="en-US" sz="12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04 · 思考与计划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工作思考：成就感来自跑通，教训来自返工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left-bar-1"/>
          <p:cNvSpPr/>
          <p:nvPr/>
        </p:nvSpPr>
        <p:spPr>
          <a:xfrm>
            <a:off x="8128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left-h2-1"/>
          <p:cNvSpPr txBox="1"/>
          <p:nvPr/>
        </p:nvSpPr>
        <p:spPr>
          <a:xfrm>
            <a:off x="990600" y="1600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有成就感、有收获的工作</a:t>
            </a:r>
            <a:endParaRPr lang="en-US" sz="1400" noProof="1"/>
          </a:p>
        </p:txBody>
      </p:sp>
      <p:sp>
        <p:nvSpPr>
          <p:cNvPr id="7" name="left-body-1"/>
          <p:cNvSpPr txBox="1"/>
          <p:nvPr/>
        </p:nvSpPr>
        <p:spPr>
          <a:xfrm>
            <a:off x="812800" y="1981200"/>
            <a:ext cx="5384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独立承接 LDO 结构变换需求，从需求澄清到方案、开发，再到同型 Cascode 在真实电路上第一次跑通，源电路未被修改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入职第二周起持续处理问题单，5 个 DTS 全部闭环，跑通研发全流程</a:t>
            </a:r>
            <a:endParaRPr lang="en-US" sz="1100" noProof="1"/>
          </a:p>
        </p:txBody>
      </p:sp>
      <p:sp>
        <p:nvSpPr>
          <p:cNvPr id="8" name="left-line"/>
          <p:cNvSpPr/>
          <p:nvPr/>
        </p:nvSpPr>
        <p:spPr>
          <a:xfrm>
            <a:off x="812800" y="3403600"/>
            <a:ext cx="53848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left-bar-2"/>
          <p:cNvSpPr/>
          <p:nvPr/>
        </p:nvSpPr>
        <p:spPr>
          <a:xfrm>
            <a:off x="812800" y="36449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left-h2-2"/>
          <p:cNvSpPr txBox="1"/>
          <p:nvPr/>
        </p:nvSpPr>
        <p:spPr>
          <a:xfrm>
            <a:off x="990600" y="3606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完成不理想的工作及原因</a:t>
            </a:r>
            <a:endParaRPr lang="en-US" sz="1400" noProof="1"/>
          </a:p>
        </p:txBody>
      </p:sp>
      <p:sp>
        <p:nvSpPr>
          <p:cNvPr id="11" name="left-body-2"/>
          <p:cNvSpPr txBox="1"/>
          <p:nvPr/>
        </p:nvSpPr>
        <p:spPr>
          <a:xfrm>
            <a:off x="812800" y="3987800"/>
            <a:ext cx="5384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曾只盯着问题描述改表面代码，未完整过调用链与上下游影响，改完引入新问题导致返工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原因：改动前影响面分析不足，测试覆盖意识不够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改进：改代码前先摸清调用链与影响范围；改他人代码先与原作者确认设计思路；建立自检清单，边界、异常、回退场景必测；排查过程留记录</a:t>
            </a:r>
            <a:endParaRPr lang="en-US" sz="1100" noProof="1"/>
          </a:p>
        </p:txBody>
      </p:sp>
      <p:sp>
        <p:nvSpPr>
          <p:cNvPr id="12" name="right-bar-1"/>
          <p:cNvSpPr/>
          <p:nvPr/>
        </p:nvSpPr>
        <p:spPr>
          <a:xfrm>
            <a:off x="68580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3" name="right-h2-1"/>
          <p:cNvSpPr txBox="1"/>
          <p:nvPr/>
        </p:nvSpPr>
        <p:spPr>
          <a:xfrm>
            <a:off x="7035800" y="1600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遇到的困难与解决方案</a:t>
            </a:r>
            <a:endParaRPr lang="en-US" sz="1400" noProof="1"/>
          </a:p>
        </p:txBody>
      </p:sp>
      <p:sp>
        <p:nvSpPr>
          <p:cNvPr id="14" name="right-body-1"/>
          <p:cNvSpPr txBox="1"/>
          <p:nvPr/>
        </p:nvSpPr>
        <p:spPr>
          <a:xfrm>
            <a:off x="6858000" y="1981200"/>
            <a:ext cx="4521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服务器 glibc 版本过低阻塞开发环境 → 独立编译高版本 glibc，搭建隔离运行环境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编译构建问题阻塞问题单验证 → 尝试新的项目编译方式解决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异型 Cascode 缺少 PDK 输入 → 明确待确认项，待 PDK / Case 提供后补验证</a:t>
            </a:r>
            <a:endParaRPr lang="en-US" sz="1100" noProof="1"/>
          </a:p>
        </p:txBody>
      </p:sp>
      <p:sp>
        <p:nvSpPr>
          <p:cNvPr id="15" name="right-line"/>
          <p:cNvSpPr/>
          <p:nvPr/>
        </p:nvSpPr>
        <p:spPr>
          <a:xfrm>
            <a:off x="6858000" y="36830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6" name="right-bar-2"/>
          <p:cNvSpPr/>
          <p:nvPr/>
        </p:nvSpPr>
        <p:spPr>
          <a:xfrm>
            <a:off x="6858000" y="3924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7" name="right-h2-2"/>
          <p:cNvSpPr txBox="1"/>
          <p:nvPr/>
        </p:nvSpPr>
        <p:spPr>
          <a:xfrm>
            <a:off x="7035800" y="3886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团队协作与感受</a:t>
            </a:r>
            <a:endParaRPr lang="en-US" sz="1400" noProof="1"/>
          </a:p>
        </p:txBody>
      </p:sp>
      <p:sp>
        <p:nvSpPr>
          <p:cNvPr id="18" name="right-body-2"/>
          <p:cNvSpPr txBox="1"/>
          <p:nvPr/>
        </p:nvSpPr>
        <p:spPr>
          <a:xfrm>
            <a:off x="6858000" y="4267200"/>
            <a:ext cx="45212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与导师保持日常沟通，遇到困难及时反馈；参与晨会、周例会学习项目背景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与 LDO 开发同事确认接口与流程，不确定的地方多请教，避免闷头返工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善用 AI 工具提效：问题描述越清楚、上下文越足，产出越好；生成结果必须自己验证后再合入</a:t>
            </a:r>
            <a:endParaRPr lang="en-US" sz="1100" noProof="1"/>
          </a:p>
        </p:txBody>
      </p:sp>
      <p:sp>
        <p:nvSpPr>
          <p:cNvPr id="19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16 / 18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04 · 思考与计划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下一步计划：需求收口、主流程接入与转正准备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plan-line"/>
          <p:cNvSpPr/>
          <p:nvPr/>
        </p:nvSpPr>
        <p:spPr>
          <a:xfrm>
            <a:off x="1219200" y="1981200"/>
            <a:ext cx="20320" cy="36576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6" name="plan-dot-1"/>
          <p:cNvSpPr/>
          <p:nvPr/>
        </p:nvSpPr>
        <p:spPr>
          <a:xfrm>
            <a:off x="1158240" y="19812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plan-date-1"/>
          <p:cNvSpPr txBox="1"/>
          <p:nvPr/>
        </p:nvSpPr>
        <p:spPr>
          <a:xfrm>
            <a:off x="1524000" y="1930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2026.10</a:t>
            </a:r>
            <a:endParaRPr lang="en-US" sz="1100" noProof="1"/>
          </a:p>
        </p:txBody>
      </p:sp>
      <p:sp>
        <p:nvSpPr>
          <p:cNvPr id="8" name="plan-title-1"/>
          <p:cNvSpPr txBox="1"/>
          <p:nvPr/>
        </p:nvSpPr>
        <p:spPr>
          <a:xfrm>
            <a:off x="1524000" y="22098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需求收口</a:t>
            </a:r>
            <a:endParaRPr lang="en-US" sz="1400" noProof="1"/>
          </a:p>
        </p:txBody>
      </p:sp>
      <p:sp>
        <p:nvSpPr>
          <p:cNvPr id="9" name="plan-desc-1"/>
          <p:cNvSpPr txBox="1"/>
          <p:nvPr/>
        </p:nvSpPr>
        <p:spPr>
          <a:xfrm>
            <a:off x="1524000" y="25146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完成自动 VBIAS 真实电路验证；补齐端子形式、参数边界与失败回退场景测试；输出操作文档与遗留问题清单</a:t>
            </a:r>
            <a:endParaRPr lang="en-US" sz="1100" noProof="1"/>
          </a:p>
        </p:txBody>
      </p:sp>
      <p:sp>
        <p:nvSpPr>
          <p:cNvPr id="10" name="plan-dot-2"/>
          <p:cNvSpPr/>
          <p:nvPr/>
        </p:nvSpPr>
        <p:spPr>
          <a:xfrm>
            <a:off x="1158240" y="33274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1" name="plan-date-2"/>
          <p:cNvSpPr txBox="1"/>
          <p:nvPr/>
        </p:nvSpPr>
        <p:spPr>
          <a:xfrm>
            <a:off x="1524000" y="3276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2026.11 – 12</a:t>
            </a:r>
            <a:endParaRPr lang="en-US" sz="1100" noProof="1"/>
          </a:p>
        </p:txBody>
      </p:sp>
      <p:sp>
        <p:nvSpPr>
          <p:cNvPr id="12" name="plan-title-2"/>
          <p:cNvSpPr txBox="1"/>
          <p:nvPr/>
        </p:nvSpPr>
        <p:spPr>
          <a:xfrm>
            <a:off x="1524000" y="35560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主流程接入</a:t>
            </a:r>
            <a:endParaRPr lang="en-US" sz="1400" noProof="1"/>
          </a:p>
        </p:txBody>
      </p:sp>
      <p:sp>
        <p:nvSpPr>
          <p:cNvPr id="13" name="plan-desc-2"/>
          <p:cNvSpPr txBox="1"/>
          <p:nvPr/>
        </p:nvSpPr>
        <p:spPr>
          <a:xfrm>
            <a:off x="1524000" y="38608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接入 LDO 调优主流程并确认接口；异型 Cascode 待输入补齐后完成验证；持续处理 DTS 问题单</a:t>
            </a:r>
            <a:endParaRPr lang="en-US" sz="1100" noProof="1"/>
          </a:p>
        </p:txBody>
      </p:sp>
      <p:sp>
        <p:nvSpPr>
          <p:cNvPr id="14" name="plan-dot-3"/>
          <p:cNvSpPr/>
          <p:nvPr/>
        </p:nvSpPr>
        <p:spPr>
          <a:xfrm>
            <a:off x="1158240" y="46736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5" name="plan-date-3"/>
          <p:cNvSpPr txBox="1"/>
          <p:nvPr/>
        </p:nvSpPr>
        <p:spPr>
          <a:xfrm>
            <a:off x="1524000" y="46228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转正前</a:t>
            </a:r>
            <a:endParaRPr lang="en-US" sz="1100" noProof="1"/>
          </a:p>
        </p:txBody>
      </p:sp>
      <p:sp>
        <p:nvSpPr>
          <p:cNvPr id="16" name="plan-title-3"/>
          <p:cNvSpPr txBox="1"/>
          <p:nvPr/>
        </p:nvSpPr>
        <p:spPr>
          <a:xfrm>
            <a:off x="1524000" y="49022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转正准备</a:t>
            </a:r>
            <a:endParaRPr lang="en-US" sz="1400" noProof="1"/>
          </a:p>
        </p:txBody>
      </p:sp>
      <p:sp>
        <p:nvSpPr>
          <p:cNvPr id="17" name="plan-desc-3"/>
          <p:cNvSpPr txBox="1"/>
          <p:nvPr/>
        </p:nvSpPr>
        <p:spPr>
          <a:xfrm>
            <a:off x="1524000" y="5207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通过软件科目一上机考试；完成半导体质量 C 培；具备独立承接调优需求开发与维护的能力</a:t>
            </a:r>
            <a:endParaRPr lang="en-US" sz="1100" noProof="1"/>
          </a:p>
        </p:txBody>
      </p:sp>
      <p:sp>
        <p:nvSpPr>
          <p:cNvPr id="18" name="goal-panel"/>
          <p:cNvSpPr/>
          <p:nvPr/>
        </p:nvSpPr>
        <p:spPr>
          <a:xfrm>
            <a:off x="8128000" y="1981200"/>
            <a:ext cx="3251200" cy="2108200"/>
          </a:xfrm>
          <a:prstGeom prst="rect">
            <a:avLst/>
          </a:prstGeom>
          <a:solidFill>
            <a:srgbClr val="ECE8DD"/>
          </a:solidFill>
          <a:ln>
            <a:noFill/>
          </a:ln>
        </p:spPr>
      </p:sp>
      <p:sp>
        <p:nvSpPr>
          <p:cNvPr id="19" name="goal-kicker"/>
          <p:cNvSpPr txBox="1"/>
          <p:nvPr/>
        </p:nvSpPr>
        <p:spPr>
          <a:xfrm>
            <a:off x="8382000" y="2209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B2A4A"/>
                </a:solidFill>
                <a:latin typeface="MiSans"/>
                <a:ea typeface="MiSans"/>
              </a:rPr>
              <a:t>转正目标</a:t>
            </a:r>
            <a:endParaRPr lang="en-US" sz="1100" noProof="1"/>
          </a:p>
        </p:txBody>
      </p:sp>
      <p:sp>
        <p:nvSpPr>
          <p:cNvPr id="20" name="goal-text"/>
          <p:cNvSpPr txBox="1"/>
          <p:nvPr/>
        </p:nvSpPr>
        <p:spPr>
          <a:xfrm>
            <a:off x="8382000" y="2514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独立完成从需求分析、方案设计到开发验证的全流程，成为团队可依赖的调优功能开发责任人</a:t>
            </a:r>
            <a:endParaRPr lang="en-US" sz="1150" noProof="1"/>
          </a:p>
        </p:txBody>
      </p:sp>
      <p:sp>
        <p:nvSpPr>
          <p:cNvPr id="21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2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17 / 18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e-1"/>
          <p:cNvSpPr/>
          <p:nvPr>
            <p:extLst>
              <p:ext uri="{F5677B7D-0D2A-4D9B-9A5C-6D8D7D0E5A5D}">
                <pptd:line encoding="base64url">eyJ2aWV3Qm94IjpbMzE2LDgwXSwicG9pbnRzIjoiMCw4MCAxMzAsODAgMTMwLDIwIDMxNiwyMCIsImN1cnZlIjoic2hhcnAifQ</pptd:line>
              </p:ext>
            </p:extLst>
          </p:nvPr>
        </p:nvSpPr>
        <p:spPr>
          <a:xfrm>
            <a:off x="7366000" y="1524000"/>
            <a:ext cx="4013200" cy="1016000"/>
          </a:xfrm>
          <a:custGeom>
            <a:avLst/>
            <a:gdLst/>
            <a:ahLst/>
            <a:cxnLst/>
            <a:rect l="l" t="t" r="r" b="b"/>
            <a:pathLst>
              <a:path w="316" h="80">
                <a:moveTo>
                  <a:pt x="0" y="80"/>
                </a:moveTo>
                <a:lnTo>
                  <a:pt x="130" y="80"/>
                </a:lnTo>
                <a:lnTo>
                  <a:pt x="130" y="20"/>
                </a:lnTo>
                <a:lnTo>
                  <a:pt x="316" y="20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3" name="pad-1a"/>
          <p:cNvSpPr/>
          <p:nvPr/>
        </p:nvSpPr>
        <p:spPr>
          <a:xfrm>
            <a:off x="7321550" y="2495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4" name="pad-1b"/>
          <p:cNvSpPr/>
          <p:nvPr/>
        </p:nvSpPr>
        <p:spPr>
          <a:xfrm>
            <a:off x="11334750" y="1733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" name="trace-2"/>
          <p:cNvSpPr/>
          <p:nvPr>
            <p:extLst>
              <p:ext uri="{F5677B7D-0D2A-4D9B-9A5C-6D8D7D0E5A5D}">
                <pptd:line encoding="base64url">eyJ2aWV3Qm94IjpbMzAwLDYwXSwicG9pbnRzIjoiMCwxMCAxNDAsMTAgMTQwLDUwIDMwMCw1MCIsImN1cnZlIjoic2hhcnAifQ</pptd:line>
              </p:ext>
            </p:extLst>
          </p:nvPr>
        </p:nvSpPr>
        <p:spPr>
          <a:xfrm>
            <a:off x="1016000" y="4572000"/>
            <a:ext cx="3810000" cy="762000"/>
          </a:xfrm>
          <a:custGeom>
            <a:avLst/>
            <a:gdLst/>
            <a:ahLst/>
            <a:cxnLst/>
            <a:rect l="l" t="t" r="r" b="b"/>
            <a:pathLst>
              <a:path w="300" h="60">
                <a:moveTo>
                  <a:pt x="0" y="10"/>
                </a:moveTo>
                <a:lnTo>
                  <a:pt x="140" y="10"/>
                </a:lnTo>
                <a:lnTo>
                  <a:pt x="140" y="50"/>
                </a:lnTo>
                <a:lnTo>
                  <a:pt x="300" y="50"/>
                </a:lnTo>
              </a:path>
            </a:pathLst>
          </a:custGeom>
          <a:noFill/>
          <a:ln w="15240">
            <a:solidFill>
              <a:srgbClr val="FFFFFF">
                <a:alpha val="7059"/>
              </a:srgbClr>
            </a:solidFill>
          </a:ln>
        </p:spPr>
      </p:sp>
      <p:sp>
        <p:nvSpPr>
          <p:cNvPr id="6" name="pad-2a"/>
          <p:cNvSpPr/>
          <p:nvPr/>
        </p:nvSpPr>
        <p:spPr>
          <a:xfrm>
            <a:off x="971550" y="4654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7" name="pad-2b"/>
          <p:cNvSpPr/>
          <p:nvPr/>
        </p:nvSpPr>
        <p:spPr>
          <a:xfrm>
            <a:off x="4781550" y="5162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8" name="thanks"/>
          <p:cNvSpPr txBox="1"/>
          <p:nvPr/>
        </p:nvSpPr>
        <p:spPr>
          <a:xfrm>
            <a:off x="812800" y="2641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4000" noProof="1" b="1">
                <a:solidFill>
                  <a:srgbClr val="F2EFE6"/>
                </a:solidFill>
                <a:latin typeface="MiSans"/>
                <a:ea typeface="MiSans"/>
              </a:rPr>
              <a:t>感谢聆听</a:t>
            </a:r>
            <a:endParaRPr lang="en-US" sz="4000" noProof="1"/>
          </a:p>
        </p:txBody>
      </p:sp>
      <p:sp>
        <p:nvSpPr>
          <p:cNvPr id="9" name="rule"/>
          <p:cNvSpPr/>
          <p:nvPr/>
        </p:nvSpPr>
        <p:spPr>
          <a:xfrm>
            <a:off x="5740400" y="35814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10" name="subtitle"/>
          <p:cNvSpPr txBox="1"/>
          <p:nvPr/>
        </p:nvSpPr>
        <p:spPr>
          <a:xfrm>
            <a:off x="812800" y="38100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B9C2D4"/>
                </a:solidFill>
                <a:latin typeface="MiSans"/>
                <a:ea typeface="MiSans"/>
              </a:rPr>
              <a:t>恳请各位老师批评指正</a:t>
            </a:r>
            <a:endParaRPr lang="en-US" sz="1400" noProof="1"/>
          </a:p>
        </p:txBody>
      </p:sp>
      <p:sp>
        <p:nvSpPr>
          <p:cNvPr id="11" name="bottom"/>
          <p:cNvSpPr txBox="1"/>
          <p:nvPr/>
        </p:nvSpPr>
        <p:spPr>
          <a:xfrm>
            <a:off x="812800" y="59944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E97AC"/>
                </a:solidFill>
                <a:latin typeface="MiSans"/>
                <a:ea typeface="MiSans"/>
              </a:rPr>
              <a:t>周可玮 · 物理设计工具部 · 2026.10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18</Slides>
</Properties>
</file>

<file path=docProps/core.xml><?xml version="1.0" encoding="utf-8"?>
<cp:coreProperties xmlns:dc="http://purl.org/dc/elements/1.1/" xmlns:cp="http://schemas.openxmlformats.org/package/2006/metadata/core-properties">
  <dc:title>新员工中期答辩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